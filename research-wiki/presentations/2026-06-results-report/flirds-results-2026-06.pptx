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3172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1A1A"/>
                </a:solidFill>
                <a:latin typeface="Malgun Gothic"/>
              </a:rPr>
              <a:t>Flirds — 연합학습 클라이언트 기여도 측정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461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17508C"/>
                </a:solidFill>
                <a:latin typeface="Malgun Gothic"/>
              </a:rPr>
              <a:t>실험 결과 보고 (이미지 · 언어모델)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77639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555555"/>
                </a:solidFill>
                <a:latin typeface="Malgun Gothic"/>
              </a:rPr>
              <a:t>방법: 검증손실의 1차+2차 테일러 전개로 클라이언트 Shapley 추정 (라운드당 HVP 1회)</a:t>
            </a:r>
          </a:p>
          <a:p>
            <a:pPr algn="l"/>
            <a:r>
              <a:rPr sz="1300" b="0">
                <a:solidFill>
                  <a:srgbClr val="888888"/>
                </a:solidFill>
                <a:latin typeface="Malgun Gothic"/>
              </a:rPr>
              <a:t>client-level FL Shapley via 1st+2nd-order Taylor of validation loss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2212848"/>
            <a:ext cx="3840480" cy="2794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50" b="0">
                <a:solidFill>
                  <a:srgbClr val="888888"/>
                </a:solidFill>
                <a:latin typeface="Malgun Gothic"/>
              </a:rPr>
              <a:t>2026-06-19 · 모든 수치 ⓑ실측(세팅 병기), 미실행분 ⓒ · 표 수치 부호 +생략(음수만 −) · 분할 IID/Non-IID 병기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실험 개요 — 세 트랙, 모두 완료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09" cy="22677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12948"/>
                <a:gridCol w="2795778"/>
                <a:gridCol w="3225897"/>
                <a:gridCol w="537649"/>
                <a:gridCol w="537649"/>
                <a:gridCol w="2473188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트랙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도메인 / 모델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연합 셋업 (분할)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셀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seed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핵심 산출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Image (CNN)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MNIST+LeNet5 / CIFAR-10·FMNIST+CNN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N=10 fidelity · N=100 개입 (IID·Non-IID 다종)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fidelity(듀얼 오라클) · 개입 8arm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LLM robustness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Llama-3.2 1B · 3B (LoRA)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N=5 cross-silo(Non-IID) · N=100 cross-device(α)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25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1–3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4 threat × fidelity·탐지·개입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LLM standard (clean·IID)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Llama-3.2 1B · 3B / OpenFedLLM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N=20 standard · N=5 reference (IID)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2–3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IID·clean fidelity·성능·수렴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11480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Malgun Gothic"/>
              </a:rPr>
              <a:t>핵심 질문 위계 (모든 표·서술 순서에 적용):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Malgun Gothic"/>
              </a:rPr>
              <a:t>  1차 — 기여도를 얼마나 정확히 측정하는가 (오라클 대비 fidelity: Spearman·Kendall·값-거리)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Malgun Gothic"/>
              </a:rPr>
              <a:t>  2차 — 측정한 기여도의 실효성: ① 일반 성능 → ② 수렴 속도 → ③ 오염 클라 탐지 (이 순서)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Malgun Gothic"/>
              </a:rPr>
              <a:t>비교 대상 11종 + 탐지기 4종 / 듀얼 오라클: retrain oracle(부분집합 재학습→검증손실), in-run oracle(학습궤적 exact 2ᴺ 분해).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Malgun Gothic"/>
              </a:rPr>
              <a:t>분할(IID/Non-IID)·명세·지표 범례는 각 결과 페이지의 표 옆/아래에 병기 (별도 명세 페이지 없음).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공통 규약: SGD momentum=0 · 시드별 seed_everything · 모든 셀 config+meta(git/env)+phi+metrics 영속화. 실패 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비교 방법 · 오라클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비교 방법 11종과 오라클 정의 (공용)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6446520" cy="39319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90700"/>
                <a:gridCol w="1074420"/>
                <a:gridCol w="2238375"/>
                <a:gridCol w="1343025"/>
              </a:tblGrid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유형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핵심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라운드당 비용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Flirds (제안)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valuation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검증손실 1차+2차 테일러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HVP 1회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Flirds-1st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valuation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1차항만 (곡률 제외)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grad 1회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heuristic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클라별 손실차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fwd 1회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GTG / FedSV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Shapley(MC)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truncated/permutation MC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수십–수백 평가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exact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2ᴺ Banzhaf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2ᴺ 평가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ShapleyFL / ComFedSV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Shapley(변형)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uniform-util / 부분합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수십–수백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influence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검증그래디언트 정렬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grad 1회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Ripple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2nd-order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고유분해 기반 (이미지만)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eigsh (수십분)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탐지기 4종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detector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FLDetector·STD-DAGMM·FLTrust·FedDQC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모델-free/grad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78040" y="1481328"/>
            <a:ext cx="448056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오라클 (정답 기여도)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7508C"/>
                </a:solidFill>
                <a:latin typeface="Malgun Gothic"/>
              </a:rPr>
              <a:t>in-run oracle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학습 궤적을 라운드별 exact Shapley로 분해 (2ᴺ).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추정량이 재현해야 할 게임. N=5에서 2⁵.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7508C"/>
                </a:solidFill>
                <a:latin typeface="Malgun Gothic"/>
              </a:rPr>
              <a:t>retrain oracle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부분집합 S를 FedAvg 재학습 → 배포모델 검증손실.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'배포 가치' 게임. 이미지 N=10에서 2¹⁰=1024 재학습.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핵심: Flirds는 in-run oracle 게임의 추정량.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retrain oracle와의 일치 여부는 'in-run 게임 = 재학습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게임'인지를 묻는 별개 질문 (이미지 fidelity·한계 참조).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출처: codes/core·oracle·baselines. 모든 valuation은 동일 logs=[(w_r, {client:(Δ,n_c)})] 위에서 계산 (모델·검증셋 비접근). · 내부코드 in-run oracle=(b)·retrain oracle=(a)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IMAGE (CNN) · 1차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in-run oracle 대비 기여도 순위 — 비교 11종 전체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11183109" cy="37444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65569"/>
                <a:gridCol w="951754"/>
                <a:gridCol w="951754"/>
                <a:gridCol w="951754"/>
                <a:gridCol w="951754"/>
                <a:gridCol w="951754"/>
                <a:gridCol w="951754"/>
                <a:gridCol w="951754"/>
                <a:gridCol w="951754"/>
                <a:gridCol w="951754"/>
                <a:gridCol w="951754"/>
              </a:tblGrid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시나리오 (CIFAR / MNIST)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ComFedSV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Ripple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CIFAR·iid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0.21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0.22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0.12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0.18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0.31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CIFAR·label_skew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0.31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0.29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0.26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CIFAR·quantity_skew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-0.20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CIFAR·label_flip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0.95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0.31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0.37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0.95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0.32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CIFAR·feature_noise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0.19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0.20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-0.01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CIFAR 평균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0.45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0.32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0.30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0.31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MNIST·iid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0.04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0.10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0.18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MNIST·label_skew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0.33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-0.01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0.14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-0.02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0.06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MNIST·quantity_skew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-0.07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MNIST·label_flip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0.99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0.99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0.95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0.99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MNIST·feature_noise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0.13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0.21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MNIST 평균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0.60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0.35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0.38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0.44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440680"/>
            <a:ext cx="676656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7508C"/>
                </a:solidFill>
                <a:latin typeface="Malgun Gothic"/>
              </a:rPr>
              <a:t>명세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Malgun Gothic"/>
              </a:rPr>
              <a:t>MNIST+LeNet5 / CIFAR-10+CNN · N=10 full · R=10 · SGD mom=0 lr0.01 · val=2000 · 3 seed · in-run oracle 2¹⁰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7508C"/>
                </a:solidFill>
                <a:latin typeface="Malgun Gothic"/>
              </a:rPr>
              <a:t>분할: iid=IID · label_skew·quantity_skew=Non-IID · label_flip·feature_noise=IID 분할+손상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5440680"/>
            <a:ext cx="420624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7508C"/>
                </a:solidFill>
                <a:latin typeface="Malgun Gothic"/>
              </a:rPr>
              <a:t>지표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Malgun Gothic"/>
              </a:rPr>
              <a:t>Spearman ρ ↑ (오라클 φ 대비 순위). 평균=데이터셋 단순평균.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Malgun Gothic"/>
              </a:rPr>
              <a:t>Flirds·Banzhaf 순위 최상; MC기반 GTG/FedSV/ShapleyFL·ComFedSV·Ripple은 noisy.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Malgun Gothic"/>
              </a:rPr>
              <a:t>2차항 고유 기여는 순위 아닌 값-거리(다음장 하단).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iid·feature_noise는 in-run oracle 신호 약함(클라 동질). 출처: runs/track_c/c1/* 재집계(11종 전체). 내부코드 fidelity=C1.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IMAGE (CNN) · 1차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retrain oracle (2¹⁰) 대비 순위, 그리고 in-run과의 괴리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11183109" cy="37444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65569"/>
                <a:gridCol w="951754"/>
                <a:gridCol w="951754"/>
                <a:gridCol w="951754"/>
                <a:gridCol w="951754"/>
                <a:gridCol w="951754"/>
                <a:gridCol w="951754"/>
                <a:gridCol w="951754"/>
                <a:gridCol w="951754"/>
                <a:gridCol w="951754"/>
                <a:gridCol w="951754"/>
              </a:tblGrid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시나리오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ComFedSV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Ripple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CIFAR·iid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-0.23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-0.13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-0.21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-0.20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-0.18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0.30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0.07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-0.18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-0.20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CIFAR·label_skew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-0.18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-0.07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-0.12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0.28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0.12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0.19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0.14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-0.23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CIFAR·quantity_skew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-0.03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CIFAR·label_flip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0.59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0.32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0.29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0.36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0.01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CIFAR·feature_noise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0.18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0.39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0.28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-0.12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CIFAR 평균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0.26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0.29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0.27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0.37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0.30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0.40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0.30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0.20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0.34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-0.01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MNIST·iid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0.36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0.19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-0.11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-0.10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0.09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MNIST·label_skew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-0.28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-0.06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-0.20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-0.22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-0.14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-0.04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0.28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-0.16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0.28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MNIST·quantity_skew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-0.10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MNIST·label_flip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MNIST·feature_noise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0.33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0.23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-0.07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-0.07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0.12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MNIST 평균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0.44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0.53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0.44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0.38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0.27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0.27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0.60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0.56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0.51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0.44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440680"/>
            <a:ext cx="676656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7508C"/>
                </a:solidFill>
                <a:latin typeface="Malgun Gothic"/>
              </a:rPr>
              <a:t>핵심 — 게임 정의 차이 (label_skew)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Malgun Gothic"/>
              </a:rPr>
              <a:t>Flirds는 in-run oracle은 거의 완벽 재현하나(앞장), retrain oracle와는 label_skew서 갈림: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7508C"/>
                </a:solidFill>
                <a:latin typeface="Malgun Gothic"/>
              </a:rPr>
              <a:t>  CIFAR in-run 0.98 → retrain −0.18 · MNIST 0.71 → retrain −0.29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Malgun Gothic"/>
              </a:rPr>
              <a:t>추정오차 아님 — 모든 in-run 방법 공유(희귀라벨 클라는 라운드 한계기여 낮아도 최종 재학습 모델엔 필수).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5440680"/>
            <a:ext cx="420624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7508C"/>
                </a:solidFill>
                <a:latin typeface="Malgun Gothic"/>
              </a:rPr>
              <a:t>지표 / 2차항 효과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Malgun Gothic"/>
              </a:rPr>
              <a:t>Spearman ρ ↑ (retrain oracle φ 대비). 평균=데이터셋 단순.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Malgun Gothic"/>
              </a:rPr>
              <a:t>2차항: euclid_d(값-거리) label_flip CIFAR 0.031 vs 1차 0.046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Malgun Gothic"/>
              </a:rPr>
              <a:t>(MNIST 0.207 vs 0.370) → 값 오차 1차 대비 ~25–50%↓.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표=Spearman ρ ↑ (rho_a_mean, 3-seed). reference(N=5, LLM standard)는 retrain oracle와 1.000 일치 → 괴리는 이질성 구동. 출처: RESULTS.txt. 내부코드 retrain oracle=(a).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IMAGE (CNN) · 2차-① 성능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개입 — IID vs Non-IID 분할 대조 (clean, 3-seed)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566928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 algn="l"/>
            <a:r>
              <a:rPr sz="1150" b="1">
                <a:solidFill>
                  <a:srgbClr val="17508C"/>
                </a:solidFill>
                <a:latin typeface="Malgun Gothic"/>
              </a:rPr>
              <a:t>CIFAR-10  (test acc ↑)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64208"/>
          <a:ext cx="5669278" cy="1536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79514"/>
                <a:gridCol w="760977"/>
                <a:gridCol w="799026"/>
                <a:gridCol w="760977"/>
                <a:gridCol w="722928"/>
                <a:gridCol w="722928"/>
                <a:gridCol w="722928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분할 \ arm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vanilla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flirds_mult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flirds_select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sfedavg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40" b="1">
                          <a:solidFill>
                            <a:srgbClr val="1A1A1A"/>
                          </a:solidFill>
                          <a:latin typeface="Malgun Gothic"/>
                        </a:rPr>
                        <a:t>iid (IID)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0.648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0.646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0.646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0.647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0.647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0.646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40" b="1">
                          <a:solidFill>
                            <a:srgbClr val="1A1A1A"/>
                          </a:solidFill>
                          <a:latin typeface="Malgun Gothic"/>
                        </a:rPr>
                        <a:t>dir1 (Non-IID)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0.638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0.642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0.634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0.635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0.637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0.631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40" b="1">
                          <a:solidFill>
                            <a:srgbClr val="1A1A1A"/>
                          </a:solidFill>
                          <a:latin typeface="Malgun Gothic"/>
                        </a:rPr>
                        <a:t>shard (Non-IID 강)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0.475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0.498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0.417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0.496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0.474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0.487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46520" y="1371600"/>
            <a:ext cx="571500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 algn="l"/>
            <a:r>
              <a:rPr sz="1150" b="1">
                <a:solidFill>
                  <a:srgbClr val="17508C"/>
                </a:solidFill>
                <a:latin typeface="Malgun Gothic"/>
              </a:rPr>
              <a:t>FMNIST  (test acc ↑)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46520" y="1664208"/>
          <a:ext cx="5714997" cy="1536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89026"/>
                <a:gridCol w="767114"/>
                <a:gridCol w="805469"/>
                <a:gridCol w="767114"/>
                <a:gridCol w="728758"/>
                <a:gridCol w="728758"/>
                <a:gridCol w="728758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분할 \ arm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vanilla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flirds_mult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flirds_select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sfedavg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40" b="1">
                          <a:solidFill>
                            <a:srgbClr val="1A1A1A"/>
                          </a:solidFill>
                          <a:latin typeface="Malgun Gothic"/>
                        </a:rPr>
                        <a:t>iid (IID)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0.856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0.856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0.858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0.858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0.855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0.858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40" b="1">
                          <a:solidFill>
                            <a:srgbClr val="1A1A1A"/>
                          </a:solidFill>
                          <a:latin typeface="Malgun Gothic"/>
                        </a:rPr>
                        <a:t>dir1 (Non-IID)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0.812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0.829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0.846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0.842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0.813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0.838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40" b="1">
                          <a:solidFill>
                            <a:srgbClr val="1A1A1A"/>
                          </a:solidFill>
                          <a:latin typeface="Malgun Gothic"/>
                        </a:rPr>
                        <a:t>shard (Non-IID 강)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0.686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0.717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0.672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0.733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0.683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0.712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611880"/>
            <a:ext cx="576072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명세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· CIFAR-10/FMNIST + CNN · N=100, C=0.1(10/round) · R=120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· epochs=5 lr0.01 · 분할 iid(IID)·dir1(Dir α=1)·shard(2클래스/클라)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· clean(위협 없음) = do-no-harm 검증 · 3 seed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지표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test acc ↑. 분할 난이도: shard(극단 Non-IID) ≪ iid.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611880"/>
            <a:ext cx="525780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A1A1A"/>
                </a:solidFill>
                <a:latin typeface="Malgun Gothic"/>
              </a:rPr>
              <a:t>clean에선 전 가중 arm ≈ vanilla — 분할 종류 무관 do-no-harm.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  (CIFAR shard만 flirds_select가 vanilla보다 ↓ = hard-drop의 비-IID 부작용)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분할 난이도가 절대 정확도를 지배(shard=극단 Non-IID):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  CIFAR iid 0.65→shard 0.48 · FMNIST 0.86→shard 0.69.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→ 가중은 어느 분할에서도 clean 성능을 해치지 않음.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iid/shard는 6 arm(flirds_repl·add 제외), dir1은 8 arm. 위협 하 결과는 다음 장. 출처: runs/track_c/RESULTS.txt. 내부코드 intervention=C2.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IMAGE (CNN) · 2차-① 성능 ③ 탐지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개입 — 위협 하 robustness (CIFAR-10, dir1=Non-IID, 8 arm)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7543797" cy="37856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20961"/>
                <a:gridCol w="1264567"/>
                <a:gridCol w="1308173"/>
                <a:gridCol w="1308173"/>
                <a:gridCol w="1308173"/>
                <a:gridCol w="113375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arm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clean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grad_noise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label_flip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free_rider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위협평균 acc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A1A1A"/>
                          </a:solidFill>
                          <a:latin typeface="Malgun Gothic"/>
                        </a:rPr>
                        <a:t>vanilla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0.638 (–)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0.245 (–)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0.515 (–)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0.587 (–)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0.449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A1A1A"/>
                          </a:solidFill>
                          <a:latin typeface="Malgun Gothic"/>
                        </a:rPr>
                        <a:t>flirds_mult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0.642 (–)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0.433 (0.99)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0.585 (0.93)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0.597 (0.39)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0.538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A1A1A"/>
                          </a:solidFill>
                          <a:latin typeface="Malgun Gothic"/>
                        </a:rPr>
                        <a:t>flirds_repl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0.639 (–)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0.370 (0.99)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0.579 (0.95)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0.593 (0.41)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0.514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A1A1A"/>
                          </a:solidFill>
                          <a:latin typeface="Malgun Gothic"/>
                        </a:rPr>
                        <a:t>flirds_add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0.640 (–)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0.333 (0.98)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0.560 (0.97)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0.593 (0.48)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0.495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A1A1A"/>
                          </a:solidFill>
                          <a:latin typeface="Malgun Gothic"/>
                        </a:rPr>
                        <a:t>flirds_select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0.634 (–)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0.313 (0.99)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0.559 (0.91)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0.589 (0.48)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0.487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A1A1A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0.635 (–)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0.550 (1.00)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0.568 (0.96)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0.560 (0.00)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0.559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0.637 (–)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0.527 (1.00)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0.567 (0.96)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0.611 (1.00)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0.568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A1A1A"/>
                          </a:solidFill>
                          <a:latin typeface="Malgun Gothic"/>
                        </a:rPr>
                        <a:t>sfedavg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0.631 (–)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0.243 (1.00)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0.521 (0.94)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0.587 (0.04)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75320" y="1463040"/>
            <a:ext cx="347472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명세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CIFAR-10 + CNN · N=100, C=0.1 · R=120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분할 dir1 (Dirichlet α=1, Non-IID)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arm 8종: vanilla·flirds(mult/repl/add/select)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       ·shapleyfl·fedif·sfedavg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strength sweep: grad0.05·flip0.6/0.8 별도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지표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값 = test acc ↑ · ( ) = 탐지 AUROC ↑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clean = 위협 無 → (–) · 위협평균 = 오염3종 acc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A1A1A"/>
                </a:solidFill>
                <a:latin typeface="Malgun Gothic"/>
              </a:rPr>
              <a:t>위협 하 전 가중 arm &gt; vanilla.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grad_noise: shapleyfl0.550·fedif0.527 최고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&gt; flirds_mult0.433 (vanilla 0.245).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label_flip: flirds_mult0.585 최고.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free_rider: fedif AUROC0.996, flirds0.385(약).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→ soft(mult) &gt; hard(select). robust+무해,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  정확도 최고는 위협별로 갈림.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free-rider(zero-delta) AUROC가 N=100 CNN서 낮음(0.33–0.48) — LLM(1.0)과 상충, 미해결(한계 참조). FMNIST·strength sweep 동일 경향. 출처: RESULTS.txt.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LLM ROBUSTNESS · CROSS-SILO (N=5, 1B)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탐지 · 기여도 · 런타임 (Non-IID 5도메인)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7863836" cy="39684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55834"/>
                <a:gridCol w="813500"/>
                <a:gridCol w="813500"/>
                <a:gridCol w="813500"/>
                <a:gridCol w="813500"/>
                <a:gridCol w="768306"/>
                <a:gridCol w="858695"/>
                <a:gridCol w="858695"/>
                <a:gridCol w="768306"/>
              </a:tblGrid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7508C"/>
                          </a:solidFill>
                          <a:latin typeface="Malgun Gothic"/>
                        </a:rPr>
                        <a:t>noisy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7508C"/>
                          </a:solidFill>
                          <a:latin typeface="Malgun Gothic"/>
                        </a:rPr>
                        <a:t>fr-rand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7508C"/>
                          </a:solidFill>
                          <a:latin typeface="Malgun Gothic"/>
                        </a:rPr>
                        <a:t>fr-zero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7508C"/>
                          </a:solidFill>
                          <a:latin typeface="Malgun Gothic"/>
                        </a:rPr>
                        <a:t>poison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7508C"/>
                          </a:solidFill>
                          <a:latin typeface="Malgun Gothic"/>
                        </a:rPr>
                        <a:t>평균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7508C"/>
                          </a:solidFill>
                          <a:latin typeface="Malgun Gothic"/>
                        </a:rPr>
                        <a:t>ρ noisy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7508C"/>
                          </a:solidFill>
                          <a:latin typeface="Malgun Gothic"/>
                        </a:rPr>
                        <a:t>ρ poison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7508C"/>
                          </a:solidFill>
                          <a:latin typeface="Malgun Gothic"/>
                        </a:rPr>
                        <a:t>런타임 ↓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in-run oracle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532s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0.917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0.979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0.97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106s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35s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0.97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35s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0.87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538s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0.37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533s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530s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533s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164s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FLDetector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0.875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30s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STD-DAGMM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0.417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0.250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0.604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136s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FLTrust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36s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FedDQC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0.917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0.854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22s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03920" y="1417320"/>
            <a:ext cx="320040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명세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Llama-3.2-1B(+3B) LoRA · N=5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1 도메인/클라 → Non-IID(도메인 분리)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R=10 · val=100 · lr1e-3(poison 2e-3)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fp32 · eager · 3 seed · in-run oracle 2⁵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위협: noisy(품질)/fr(zero,random)/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      poison(백도어 스케일교체)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지표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AUROC ↑ · ρ ↑(vs in-run oracle) · 런타임 ↓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평균 = 4위협 AUROC 단순평균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A1A1A"/>
                </a:solidFill>
                <a:latin typeface="Malgun Gothic"/>
              </a:rPr>
              <a:t>noisy·fr: 전 valuation 1.000, AUROC 1.0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(N=5 near-additive 동률); 우위=비용.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poison ASR≈1.0: 1차 0.000 완전회피 →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  2차 0.917 회복(불안정); FedSV ρ 0.37.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poison Flirds(2차)는 run간 비결정(동일 config·seed서 0.42↔0.92). loss-heur·전 탐지기 1.0. 평균=4위협 단순평균(참고용). 출처: RESULTS.md. 내부코드 cross-silo=silo5.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LLM ROBUSTNESS · CROSS-DEVICE (N=100, 1B)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α-sweep 탐지 AUROC (α = 분할 이질성)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594360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 algn="l"/>
            <a:r>
              <a:rPr sz="1150" b="1">
                <a:solidFill>
                  <a:srgbClr val="17508C"/>
                </a:solidFill>
                <a:latin typeface="Malgun Gothic"/>
              </a:rPr>
              <a:t>noisy 탐지 AUROC ↑  (α-sweep)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82496"/>
          <a:ext cx="5989318" cy="25968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50974"/>
                <a:gridCol w="765552"/>
                <a:gridCol w="765552"/>
                <a:gridCol w="765552"/>
                <a:gridCol w="765552"/>
                <a:gridCol w="765552"/>
                <a:gridCol w="810584"/>
              </a:tblGrid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α=0.0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α=0.01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α=0.1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α=0.5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α=5.0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평균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0.774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0.575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0.605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0.604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0.596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0.631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0.973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0.568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0.693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0.830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0.973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0.807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STD-DAGMM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0.856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0.652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0.659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0.671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0.760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0.720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FLTrust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0.602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0.720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0.854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0.994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0.834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FedDQC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0.960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0.992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FLDetector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0.535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0.482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0.525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0.539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0.532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0.523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ComFedSV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0.442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0.419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0.432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0.371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0.396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0.412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0" y="1389888"/>
            <a:ext cx="502920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 algn="l"/>
            <a:r>
              <a:rPr sz="1150" b="1">
                <a:solidFill>
                  <a:srgbClr val="17508C"/>
                </a:solidFill>
                <a:latin typeface="Malgun Gothic"/>
              </a:rPr>
              <a:t>poison 탐지 AUROC ↑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675120" y="1682496"/>
          <a:ext cx="5029197" cy="27569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946787"/>
                <a:gridCol w="1027470"/>
                <a:gridCol w="1027470"/>
                <a:gridCol w="1027470"/>
              </a:tblGrid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α=0.0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α=0.5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평균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0.670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0.835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FLDetector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0.987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0.983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0.985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STD-DAGMM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0.983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0.992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FedDQC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FLTrust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0.498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0.574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0.542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0.458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526280"/>
            <a:ext cx="630936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명세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· Llama-3.2-1B LoRA · N=100, K=10/round · R=30 · 1–3 seed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· 분할 = per-client Dirichlet(α), α∈{0,0.01,0.1,0.5,5.0}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· α = 분할 이질성: α→0 도메인 분리(극단 Non-IID),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   α→∞ 균일혼합(IID). α=5.0 ≈ near-IID.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4526280"/>
            <a:ext cx="461772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free-rider(random·zero, 전 α): Flirds·1차·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  loss-heur·FLTrust = 1.000.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noisy: FedDQC 영역(스케일 1.0), Flirds ~0.60;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  fidelity는 1차·loss-heur ρ=1.000(전 α).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poison(install): Flirds 1.0(both α), 1차도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  α=0서 1.0 — 1차가 회피되지 않음.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cross-device φ는 한 번이라도 선택된 클라만 기록(~96–98/100). 전체 비교(11종+오라클)는 α=0.5 기준점에서만(다음 장). 출처: RESULTS.md. 내부코드 device100.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LLM ROBUSTNESS · CROSS-DEVICE 기준점 (N=100)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α=0.5 anchor — 전체 11종+탐지기 (스케일 fidelity, 1 seed)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5852159" cy="441655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44417"/>
                <a:gridCol w="1399429"/>
                <a:gridCol w="1908313"/>
              </a:tblGrid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AUROC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ρ vs in-run oracle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in-run oracle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0.604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0.604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0.605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0.605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0.734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0.784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0.708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0.752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0.762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0.582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ComFedSV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0.371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-0.023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0.830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0.721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FLDetector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0.539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STD-DAGMM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0.671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FLTrust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0.854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FedDQC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92240" y="1463040"/>
            <a:ext cx="52120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명세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N=100 cross-device, α=0.5 (중간 이질성)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in-run oracle = per-round exact 분해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1 seed (기준점) · R=30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왜 기준점만: 비싼 method(GTG/FedSV/ShapleyFL/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 ComFedSV)는 α-sweep 전체엔 비용상 미실행 →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 α=0.5 한 점에서만 전체 suite 비교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지표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AUROC ↑ (noisy 탐지) · ρ ↑ (in-run oracle 순위)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스케일 fidelity: Flirds·1차·loss-heur ρ=1.000;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  GTG 0.78·FedSV 0.75·ShapleyFL 0.58·ComFedSV −0.02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→ N=100서 MC/변형 Shapley 순위 열화, Flirds 유지.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noisy AUROC는 데이터품질 탐지라 FedDQC 1.0 영역.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free-rider(α=0.5): Flirds·GTG·FedSV·loss-heur AUROC 1.0,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ρ Flirds 1.0·GTG 0.82·FedSV 0.80. poison: Flirds·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loss-heur·FedDQC 1.0, Flirds1st 0.67(부분회피).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1 seed → 잠정. α-sweep(앞장)은 저비용 method만 전 α; 이 표가 GTG/FedSV/ShapleyFL의 스케일 fidelity를 보는 유일한 지점. 출처: rundirs 재집계.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LLM ROBUSTNESS · 스케일 (3B, N=5)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Llama-3.2-3B — 탐지 · 기여도 · 런타임 (Non-IID 5도메인)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7772396" cy="32918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40068"/>
                <a:gridCol w="804041"/>
                <a:gridCol w="804041"/>
                <a:gridCol w="804041"/>
                <a:gridCol w="804041"/>
                <a:gridCol w="759372"/>
                <a:gridCol w="848710"/>
                <a:gridCol w="848710"/>
                <a:gridCol w="75937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noisy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fr-rand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fr-zero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poison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평균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ρ noisy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ρ poison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런타임 ↓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in-run oracle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1240s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251s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82s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0.60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0.60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82s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384s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FLDetector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250s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STD-DAGMM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0.250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0.500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530s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FLTrust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85s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FedDQC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0.875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49s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0" y="1463040"/>
            <a:ext cx="329184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명세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Llama-3.2-3B LoRA · cross-silo N=5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Non-IID(도메인 분리) · R=10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나머지 1B와 동일 · seed 1개 → 잠정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비싼 method(Banzhaf/GTG/FedSV/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 ShapleyFL)는 3B서 비용상 미실행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지표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AUROC ↑ · ρ ↑(vs in-run oracle) · 런타임 ↓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평균 = 4위협 AUROC 단순평균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A1A1A"/>
                </a:solidFill>
                <a:latin typeface="Malgun Gothic"/>
              </a:rPr>
              <a:t>noisy·fr: Flirds ρ=1.000 유지(1B→3B),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251s vs in-run oracle 1240s (~5× ↓).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poison: Flirds·1차 모두 0.000 — 1B의 2차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  회복이 3B(1seed)선 안 나타남(미확정).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FedIF ρ 0.600(1B 0.90 ↓). loss-heur·탐지기 1.0.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3B는 seed 1개 → 잠정. 7B·N=10 retrain oracle은 설계상 deferred(ⓒ). 출처: RESULTS.md.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LLM STANDARD (CLEAN·IID) · 1차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기여도 fidelity — 듀얼 오라클 · 1B/3B (IID·clean)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566928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 algn="l"/>
            <a:r>
              <a:rPr sz="1150" b="1">
                <a:solidFill>
                  <a:srgbClr val="17508C"/>
                </a:solidFill>
                <a:latin typeface="Malgun Gothic"/>
              </a:rPr>
              <a:t>standard 1B (N=20) — vs in-run oracle  (3 seed)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64208"/>
          <a:ext cx="5669277" cy="263347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93532"/>
                <a:gridCol w="937775"/>
                <a:gridCol w="852523"/>
                <a:gridCol w="895149"/>
                <a:gridCol w="895149"/>
                <a:gridCol w="895149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Spearman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Kendall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cosine_d ↓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euclid_d ↓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max_diff ↓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3.5e-07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4.4e-05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2.1e-05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0.999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0.996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4.4e-05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6.2e-04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2.3e-04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2.4e-06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1.3e-04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5.3e-05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0.975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0.916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7.1e-04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9.8e-04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4.7e-04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0.910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0.786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5.7e-03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2.8e-03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1.7e-03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ComFedSV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0.093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0.060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8.4e-01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2.6e-02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9.8e-03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0.194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0.133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2.1e-01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2.7e+00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9.9e-01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0.157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0.111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1.9e-01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2.6e+00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9.8e-01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46520" y="1371600"/>
            <a:ext cx="571500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 algn="l"/>
            <a:r>
              <a:rPr sz="1150" b="1">
                <a:solidFill>
                  <a:srgbClr val="17508C"/>
                </a:solidFill>
                <a:latin typeface="Malgun Gothic"/>
              </a:rPr>
              <a:t>reference 1B (N=5) — vs retrain oracle  (3 seed)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46520" y="1664208"/>
          <a:ext cx="5714997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03157"/>
                <a:gridCol w="945338"/>
                <a:gridCol w="859398"/>
                <a:gridCol w="902368"/>
                <a:gridCol w="902368"/>
                <a:gridCol w="902368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Spearman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Kendall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cosine_d ↓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euclid_d ↓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max_diff ↓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2.3e-09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4.8e-05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2.4e-05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2.0e-07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3.1e-04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1.6e-04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3.9e-11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4.0e-06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1.9e-06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6.1e-08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2.4e-04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1.2e-04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3.2e-03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2.5e-03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1.8e-03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0.700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0.600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5.5e-03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3.6e-03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2.6e-03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0.700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0.600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1.9e-01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1.2e+00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9.8e-01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ComFedSV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0.500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0.467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1.3e-01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1.9e-02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1.4e-02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0.067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0.067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2.3e-01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1.3e+00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9.8e-01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526280"/>
            <a:ext cx="731520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 algn="l"/>
            <a:r>
              <a:rPr sz="1150" b="1">
                <a:solidFill>
                  <a:srgbClr val="17508C"/>
                </a:solidFill>
                <a:latin typeface="Malgun Gothic"/>
              </a:rPr>
              <a:t>standard 3B (N=20) — vs in-run oracle  (2 seed)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4818888"/>
          <a:ext cx="7315193" cy="8229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89497"/>
                <a:gridCol w="778212"/>
                <a:gridCol w="778212"/>
                <a:gridCol w="778212"/>
                <a:gridCol w="778212"/>
                <a:gridCol w="778212"/>
                <a:gridCol w="778212"/>
                <a:gridCol w="778212"/>
                <a:gridCol w="77821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17508C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17508C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17508C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17508C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17508C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17508C"/>
                          </a:solidFill>
                          <a:latin typeface="Malgun Gothic"/>
                        </a:rPr>
                        <a:t>ComFedSV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17508C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17508C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1">
                          <a:solidFill>
                            <a:srgbClr val="1A1A1A"/>
                          </a:solidFill>
                          <a:latin typeface="Malgun Gothic"/>
                        </a:rPr>
                        <a:t>Spearman ↑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0.992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0.944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-0.133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0.302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0.338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1">
                          <a:solidFill>
                            <a:srgbClr val="1A1A1A"/>
                          </a:solidFill>
                          <a:latin typeface="Malgun Gothic"/>
                        </a:rPr>
                        <a:t>cosine_d ↓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8.0e-08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2.1e-05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1.8e-06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5.6e-04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3.1e-03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1.0e+00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1.9e-01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1.6e-01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001000" y="4480560"/>
            <a:ext cx="370332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19" b="1">
                <a:solidFill>
                  <a:srgbClr val="17508C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19" b="1">
                <a:solidFill>
                  <a:srgbClr val="17508C"/>
                </a:solidFill>
                <a:latin typeface="Malgun Gothic"/>
              </a:rPr>
              <a:t>Flirds: in-run ρ=1.000 · retrain ρ=1.000 —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19" b="1">
                <a:solidFill>
                  <a:srgbClr val="17508C"/>
                </a:solidFill>
                <a:latin typeface="Malgun Gothic"/>
              </a:rPr>
              <a:t>  IID·clean서 두 오라클 일치 → 이미지(S5)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19" b="1">
                <a:solidFill>
                  <a:srgbClr val="17508C"/>
                </a:solidFill>
                <a:latin typeface="Malgun Gothic"/>
              </a:rPr>
              <a:t>  괴리는 이질성 구동임을 확인.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19" b="0">
                <a:solidFill>
                  <a:srgbClr val="1A1A1A"/>
                </a:solidFill>
                <a:latin typeface="Malgun Gothic"/>
              </a:rPr>
              <a:t>1B→3B Flirds ρ=1.000 유지(GTG 0.99·FedSV 0.93).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19" b="0">
                <a:solidFill>
                  <a:srgbClr val="1A1A1A"/>
                </a:solidFill>
                <a:latin typeface="Malgun Gothic"/>
              </a:rPr>
              <a:t>2차항: cosine_d 3.5e-7 vs 1차 4.4e-5(~125×).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19" b="0">
                <a:solidFill>
                  <a:srgbClr val="1A1A1A"/>
                </a:solidFill>
                <a:latin typeface="Malgun Gothic"/>
              </a:rPr>
              <a:t>ShapleyFL·FedIF·ComFedSV는 스케일서 약함.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alpaca-gpt4 20k IID. standard=in-run oracle, reference=retrain oracle(2⁵). 출처: runs/track_d/rundirs/* 재집계. 내부코드 standard=std20·reference=anchor5.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LLM STANDARD (CLEAN·IID) · 2차-① 성능 ② 수렴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개입 arm — MMLU · ROUGE-L · 수렴 (standard 1B N=20)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08760"/>
          <a:ext cx="7498076" cy="29443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79884"/>
                <a:gridCol w="1677201"/>
                <a:gridCol w="1183907"/>
                <a:gridCol w="1578542"/>
                <a:gridCol w="1578542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arm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MMLU (0-shot)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ROUGE-L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final val-loss ↓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rounds→target ↓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base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0.4822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0.2168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vanilla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0.4742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0.2841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1.2653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200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flirds_w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0.4745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0.2848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1.2653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199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flirds_sel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0.4739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0.2838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1.2654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199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shapleyfl_w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0.4742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0.2845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1.2653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199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fedif_w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0.4741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0.2847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1.2652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198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0" y="1481328"/>
            <a:ext cx="347472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명세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Llama-3.2-1B / alpaca-gpt4 20k (IID)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standard N=20, 2/round · R=200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10 steps×batch16 · lr1e-3 · seq512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개입 arm 6종 · 3 seed · clean·IID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3B는 N=20 개입 미실행(N=5 reference만)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지표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MMLU(0-shot) ↑ · ROUGE-L ↑   성능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final val-loss ↓ · rounds→target ↓   수렴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A1A1A"/>
                </a:solidFill>
                <a:latin typeface="Malgun Gothic"/>
              </a:rPr>
              <a:t>base = 학습 전. FL-SFT 후 ROUGE-L +0.067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(0.217→0.284), MMLU −0.008.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전 가중 arm ≈ vanilla (±0.001, ±1라운드).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→ clean·IID서 do-no-harm parity 확인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  (고칠 오염 없을 때 성능·수렴 무해).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rounds-to-target = 검증손실 목표 도달 라운드(전 arm ~199/200). reference(N=5, 1B·3B)도 동일 parity. 출처: 재집계.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종합 · 1차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기여도 측정 정확성 — 트랙 횡단 요약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1" cy="34015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920332"/>
                <a:gridCol w="5309154"/>
                <a:gridCol w="3953625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7508C"/>
                          </a:solidFill>
                          <a:latin typeface="Malgun Gothic"/>
                        </a:rPr>
                        <a:t>측면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7508C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7508C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순위 vs in-run oracle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Flirds ρ≈1.000 (전 트랙·1B→3B). Banzhaf·loss-heur도 우수; MC-SV는 noisy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cross-silo·standard 1.000 / 이미지 0.71–1.00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값-거리 vs in-run oracle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2차항이 1차 대비 값오차 ~2× 축소; loss-heur은 순위만 비기고 크기는 빗나감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euclid_d: 이미지 ~0.5× · standard cosine 125×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순위 vs retrain oracle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IID·clean은 1.000 일치; label_skew(이질성)에서 in-run oracle와 괴리(−)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reference(N=5) 1.000 / 이미지 label_skew −0.18~−0.29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스케일 (N=100)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α=0.5 기준점서 Flirds·1차·loss-heur ρ=1.000; GTG/FedSV/ShapleyFL은 열화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GTG 0.78·FedSV 0.75·ShapleyFL 0.58·ComFedSV −0.02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비용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Flirds 1 HVP/round; in-run oracle exact의 5–15× 저렴, 동일 순위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cross-silo 106s vs 530s · 3B 251s vs 1240s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07492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한 줄 요약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Flirds는 in-run oracle 게임을 순위·값 모두에서 충실히, exact 대비 저비용으로, 1B→3B·N=5→N=100서 일관되게 재현한다.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2차항의 고유 기여는 순위가 아니라 값-크기 정밀도. retrain oracle 게임과의 일치는 데이터 이질성에 의존(동질↔label_skew).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retrain oracle 괴리는 Flirds 특정 오차가 아니라 모든 in-run 방법 공유. 상세: 이미지 fidelity·LLM standard·anchor 페이지.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종합 · 2차 실효성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① 일반 성능 → ② 수렴 → ③ 탐지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1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05418"/>
                <a:gridCol w="9677693"/>
              </a:tblGrid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130" b="1">
                          <a:solidFill>
                            <a:srgbClr val="17508C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30" b="1">
                          <a:solidFill>
                            <a:srgbClr val="17508C"/>
                          </a:solidFill>
                          <a:latin typeface="Malgun Gothic"/>
                        </a:rPr>
                        <a:t>요약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130" b="1">
                          <a:solidFill>
                            <a:srgbClr val="1A1A1A"/>
                          </a:solidFill>
                          <a:latin typeface="Malgun Gothic"/>
                        </a:rPr>
                        <a:t>① 일반 성능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30" b="0">
                          <a:solidFill>
                            <a:srgbClr val="1A1A1A"/>
                          </a:solidFill>
                          <a:latin typeface="Malgun Gothic"/>
                        </a:rPr>
                        <a:t>오염 하 전 가중 arm &gt; vanilla(이미지, 전 분할). clean/IID는 무해 parity(이미지·LLM). 정확도 최고는 위협별로 갈림 — grad_noise서 shapleyfl/fedif, label_flip서 flirds. soft&gt;hard. 분할 난이도(shard≪iid)가 절대성능을 지배.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130" b="1">
                          <a:solidFill>
                            <a:srgbClr val="1A1A1A"/>
                          </a:solidFill>
                          <a:latin typeface="Malgun Gothic"/>
                        </a:rPr>
                        <a:t>② 수렴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30" b="0">
                          <a:solidFill>
                            <a:srgbClr val="1A1A1A"/>
                          </a:solidFill>
                          <a:latin typeface="Malgun Gothic"/>
                        </a:rPr>
                        <a:t>IID·clean(LLM standard)서 전 arm 동일 수렴(rounds→target ~199/200, parity). 고칠 오염 없을 때 가중이 수렴을 해치지 않음.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130" b="1">
                          <a:solidFill>
                            <a:srgbClr val="1A1A1A"/>
                          </a:solidFill>
                          <a:latin typeface="Malgun Gothic"/>
                        </a:rPr>
                        <a:t>③ 탐지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30" b="0">
                          <a:solidFill>
                            <a:srgbClr val="1A1A1A"/>
                          </a:solidFill>
                          <a:latin typeface="Malgun Gothic"/>
                        </a:rPr>
                        <a:t>free-rider: LLM AUROC 1.0(전 α)이나 N=100 CNN서 0.4(상충, 한계). noisy: FedDQC 영역(1.0), Flirds ~0.6. poison: 1차 회피→2차 부분회복(1B)·실패(3B); loss-heur·전 탐지기 1.0.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44068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탐지는 위계상 마지막 — 기여도≠탐지. clean-val-loss를 낮추는 공격자를 φ가 '기여 높음'으로 보는 것은 valuation의 정직한 답이며,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바로 그 지점(clean-preserving poison)이 valuation 접근의 경계다 (한계 페이지).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한계 · 미해결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솔직한 항목 (같은 톤으로)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1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24791"/>
                <a:gridCol w="1230142"/>
                <a:gridCol w="7828178"/>
              </a:tblGrid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내용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오라클 게임 괴리 (retrain↔in-run)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ⓑ 실측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label_skew(이질성)서 in-run φ가 재학습 가치와 역상관. 모든 in-run 방법 공유. 프레이밍 필요.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free-rider 탐지 상충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ⓑ 미해결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동일 zero-delta가 LLM AUROC 1.0 vs N=100 CNN 0.4(IID칸 포함). 버그 배제용 드릴다운 필요.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poison 2차 불안정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ⓑ 잠정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1B서 1차 회피(0.000)→2차 부분회복하나 run간 0.42↔0.92(동일 config·seed). 3B(1seed)선 회복 실패.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미실행 (deferred)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ⓒ 미실행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LLM standard 7B · LLM N=10 retrain oracle · 7B robustness 전반 — 설계상 보류 (3B standard는 완료).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21208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다음 단계 (제안)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1차: 오라클 게임 괴리(retrain↔in-run) 규명(φ 직접 분석, 희귀라벨 가설) — 핵심질문 위계상 우선.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병행: free-rider CNN-vs-LLM 상충 드릴다운(버그/실재 판별) · poison 2차 비결정성 재현 확인.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ⓐ구현 ⓑ실측 ⓒ미실행. 잠정·미해결치도 결과와 같은 비중으로 기재.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