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Malgun Gothic"/>
              </a:rPr>
              <a:t>Flirds — 연합학습 클라이언트 기여도 측정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461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7508C"/>
                </a:solidFill>
                <a:latin typeface="Malgun Gothic"/>
              </a:rPr>
              <a:t>실험 결과 보고 — 검증 질문별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77639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555555"/>
                </a:solidFill>
                <a:latin typeface="Malgun Gothic"/>
              </a:rPr>
              <a:t>방법: 검증손실의 1차+2차 테일러 전개로 클라이언트 Shapley 추정 (라운드당 HVP 1회)</a:t>
            </a:r>
          </a:p>
          <a:p>
            <a:pPr algn="l"/>
            <a:r>
              <a:rPr sz="1300" b="0">
                <a:solidFill>
                  <a:srgbClr val="888888"/>
                </a:solidFill>
                <a:latin typeface="Malgun Gothic"/>
              </a:rPr>
              <a:t>구성: 1차 Fidelity → 2차 ① Performance ② Convergence ③ Detection (모델 무관, 질문별 묶음)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212848"/>
            <a:ext cx="3840480" cy="27940"/>
          </a:xfrm>
          <a:prstGeom prst="rect">
            <a:avLst/>
          </a:prstGeom>
          <a:solidFill>
            <a:srgbClr val="17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888888"/>
                </a:solidFill>
                <a:latin typeface="Malgun Gothic"/>
              </a:rPr>
              <a:t>2026-06-19 · 모든 수치 ⓑ실측(세팅 병기), 미실행분 ⓒ · 표 수치 부호 +생략(음수만 −) · 분할 IID/Non-IID 병기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31089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17508C"/>
                </a:solidFill>
                <a:latin typeface="Malgun Gothic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algun Gothic"/>
              </a:rPr>
              <a:t>실험 개요 — 무엇을 검증했는가 (질문별 분류)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17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11183111" cy="28346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60858"/>
                <a:gridCol w="4428955"/>
                <a:gridCol w="5093298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7508C"/>
                          </a:solidFill>
                          <a:latin typeface="Malgun Gothic"/>
                        </a:rPr>
                        <a:t>검증 질문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7508C"/>
                          </a:solidFill>
                          <a:latin typeface="Malgun Gothic"/>
                        </a:rPr>
                        <a:t>무엇을 확인하나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7508C"/>
                          </a:solidFill>
                          <a:latin typeface="Malgun Gothic"/>
                        </a:rPr>
                        <a:t>실험 (무대)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Malgun Gothic"/>
                        </a:rPr>
                        <a:t>1차  Fidelity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Malgun Gothic"/>
                        </a:rPr>
                        <a:t>기여도(Shapley)를 오라클 대비 얼마나 정확히 추정하나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Malgun Gothic"/>
                        </a:rPr>
                        <a:t>CNN C1 (듀얼 오라클, N=10) · LLM standard (N=20/5) · LLM scale (silo·device·3B)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Malgun Gothic"/>
                        </a:rPr>
                        <a:t>2차-①  Performance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Malgun Gothic"/>
                        </a:rPr>
                        <a:t>측정한 기여도로 가중/선택 시 일반 성능이 오르나·무해한가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Malgun Gothic"/>
                        </a:rPr>
                        <a:t>CNN intervention (N=100, IID·Non-IID) · LLM standard (N=20)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Malgun Gothic"/>
                        </a:rPr>
                        <a:t>2차-②  Convergence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Malgun Gothic"/>
                        </a:rPr>
                        <a:t>수렴 속도 — 목표 도달 라운드·최종 손실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Malgun Gothic"/>
                        </a:rPr>
                        <a:t>LLM standard (N=20)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Malgun Gothic"/>
                        </a:rPr>
                        <a:t>2차-③  Detection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Malgun Gothic"/>
                        </a:rPr>
                        <a:t>오염 클라이언트를 분리하나 (AUROC)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Malgun Gothic"/>
                        </a:rPr>
                        <a:t>CNN intervention · LLM cross-silo·cross-device·3B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617720"/>
            <a:ext cx="1115568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A1A1A"/>
                </a:solidFill>
                <a:latin typeface="Malgun Gothic"/>
              </a:rPr>
              <a:t>핵심 질문 위계 (발표 순서 = 이 순서):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Malgun Gothic"/>
              </a:rPr>
              <a:t>  1차가 가장 기본 — 기여도를 정확히 재는가. 2차는 그 기여도의 실효성(성능 → 수렴 → 탐지 순).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Malgun Gothic"/>
              </a:rPr>
              <a:t>듀얼 오라클: in-run oracle(학습궤적 exact 2ᴺ 분해) · retrain oracle(부분집합 재학습→검증손실). 비교 방법 11종 + 탐지기 4종.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Malgun Gothic"/>
              </a:rPr>
              <a:t>비교 방법이 실험마다 다른 이유 = 다음 장 '적용 범위' 표(임의 결정 아님, 실현성·비용·적용성 규칙).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algun Gothic"/>
              </a:rPr>
              <a:t>공통 규약: SGD momentum=0 · 시드별 seed_everything · 모든 셀 config+meta(git/env)+phi+metrics 영속화. 실패 0. 총 셀 181(CNN 150 + LLM 31).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31089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17508C"/>
                </a:solidFill>
                <a:latin typeface="Malgun Gothic"/>
              </a:rPr>
              <a:t>용어 · 공용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algun Gothic"/>
              </a:rPr>
              <a:t>비교 방법(valuation)과 오라클 정의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17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6446520" cy="39319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90700"/>
                <a:gridCol w="1074420"/>
                <a:gridCol w="2238375"/>
                <a:gridCol w="1343025"/>
              </a:tblGrid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7508C"/>
                          </a:solidFill>
                          <a:latin typeface="Malgun Gothic"/>
                        </a:rPr>
                        <a:t>방법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7508C"/>
                          </a:solidFill>
                          <a:latin typeface="Malgun Gothic"/>
                        </a:rPr>
                        <a:t>유형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7508C"/>
                          </a:solidFill>
                          <a:latin typeface="Malgun Gothic"/>
                        </a:rPr>
                        <a:t>핵심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7508C"/>
                          </a:solidFill>
                          <a:latin typeface="Malgun Gothic"/>
                        </a:rPr>
                        <a:t>라운드당 비용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Malgun Gothic"/>
                        </a:rPr>
                        <a:t>Flirds (제안)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valuation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검증손실 1차+2차 테일러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HVP 1회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Malgun Gothic"/>
                        </a:rPr>
                        <a:t>Flirds-1st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valuation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1차항만 (곡률 제외)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grad 1회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Malgun Gothic"/>
                        </a:rPr>
                        <a:t>loss-heur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heuristic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클라별 손실차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fwd 1회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Malgun Gothic"/>
                        </a:rPr>
                        <a:t>GTG / FedSV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Shapley(MC)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truncated/permutation MC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수십–수백 평가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Malgun Gothic"/>
                        </a:rPr>
                        <a:t>Banzhaf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exact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2ᴺ Banzhaf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2ᴺ 평가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Malgun Gothic"/>
                        </a:rPr>
                        <a:t>ShapleyFL / ComFedSV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Shapley(변형)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uniform-util / 부분참여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수십–수백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Malgun Gothic"/>
                        </a:rPr>
                        <a:t>FedIF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influence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검증그래디언트 정렬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grad 1회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Malgun Gothic"/>
                        </a:rPr>
                        <a:t>Ripple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2nd-order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고유분해 기반 (이미지만)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eigsh (수십분)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Malgun Gothic"/>
                        </a:rPr>
                        <a:t>탐지기 4종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detector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FLDetector·STD-DAGMM·FLTrust·FedDQC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모델-free/grad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78040" y="1481328"/>
            <a:ext cx="448056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A1A"/>
                </a:solidFill>
                <a:latin typeface="Malgun Gothic"/>
              </a:rPr>
              <a:t>오라클 (정답 기여도)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7508C"/>
                </a:solidFill>
                <a:latin typeface="Malgun Gothic"/>
              </a:rPr>
              <a:t>in-run oracle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>  학습 궤적을 라운드별 exact Shapley로 분해 (2ᴺ).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>  추정량이 재현해야 할 게임. N=5에서 2⁵.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7508C"/>
                </a:solidFill>
                <a:latin typeface="Malgun Gothic"/>
              </a:rPr>
              <a:t>retrain oracle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>  부분집합 S를 FedAvg 재학습 → 배포모델 검증손실.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>  '배포 가치' 게임. 이미지 N=10에서 2¹⁰=1024 재학습.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A1A"/>
                </a:solidFill>
                <a:latin typeface="Malgun Gothic"/>
              </a:rPr>
              <a:t>핵심: Flirds는 in-run oracle 게임의 추정량.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>retrain oracle와의 일치는 별개 질문(1차 Fidelity).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>intervention arm(가중·선택 전략) 정의는 2차 섹션 첫 장.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algun Gothic"/>
              </a:rPr>
              <a:t>출처: codes/core·oracle·baselines. 모든 valuation은 동일 logs=[(w_r, {client:(Δ,n_c)})] 위에서 계산 (모델·검증셋 비접근). · 내부코드 in-run oracle=(b)·retrain oracle=(a)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31089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17508C"/>
                </a:solidFill>
                <a:latin typeface="Malgun Gothic"/>
              </a:rPr>
              <a:t>비교 방법 × 실험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algun Gothic"/>
              </a:rPr>
              <a:t>실험마다 baseline이 다른 이유 — 적용 범위 (임의 결정 아님)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17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183108" cy="390448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942924"/>
                <a:gridCol w="1236028"/>
                <a:gridCol w="1177169"/>
                <a:gridCol w="1236028"/>
                <a:gridCol w="1177169"/>
                <a:gridCol w="1177169"/>
                <a:gridCol w="1177169"/>
                <a:gridCol w="1059452"/>
              </a:tblGrid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7508C"/>
                          </a:solidFill>
                          <a:latin typeface="Malgun Gothic"/>
                        </a:rPr>
                        <a:t>비교 방법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7508C"/>
                          </a:solidFill>
                          <a:latin typeface="Malgun Gothic"/>
                        </a:rPr>
                        <a:t>CNN-fid
N=10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7508C"/>
                          </a:solidFill>
                          <a:latin typeface="Malgun Gothic"/>
                        </a:rPr>
                        <a:t>silo
N=5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7508C"/>
                          </a:solidFill>
                          <a:latin typeface="Malgun Gothic"/>
                        </a:rPr>
                        <a:t>device
N=100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7508C"/>
                          </a:solidFill>
                          <a:latin typeface="Malgun Gothic"/>
                        </a:rPr>
                        <a:t>3B
N=5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7508C"/>
                          </a:solidFill>
                          <a:latin typeface="Malgun Gothic"/>
                        </a:rPr>
                        <a:t>std
N=20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7508C"/>
                          </a:solidFill>
                          <a:latin typeface="Malgun Gothic"/>
                        </a:rPr>
                        <a:t>ref
N=5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7508C"/>
                          </a:solidFill>
                          <a:latin typeface="Malgun Gothic"/>
                        </a:rPr>
                        <a:t>7B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in-run oracle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◐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ⓒ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retrain oracle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ⓒ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Flirds (제안)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ⓒ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Flirds-1st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ⓒ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loss-heur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ⓒ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FedIF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ⓒ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GTG  (MC Shapley)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◐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ⓒ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FedSV  (MC Shapley)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◐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ⓒ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ShapleyFL  (MC)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◐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ⓒ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ComFedSV  (부분참여)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ⓒ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Banzhaf  (exact 2ᴺ)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ⓒ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Ripple  (고유분해)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·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탐지기 4종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Malgun Gothic"/>
                        </a:rPr>
                        <a:t>ⓒ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486400"/>
            <a:ext cx="603504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60" b="1">
                <a:solidFill>
                  <a:srgbClr val="17508C"/>
                </a:solidFill>
                <a:latin typeface="Malgun Gothic"/>
              </a:rPr>
              <a:t>범례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● 실측 · ◐ α=0.5 기준점만 · ○ 설계상 제외 · ⓒ 미실행(계획) · · 해당없음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60" b="1">
                <a:solidFill>
                  <a:srgbClr val="1A1A1A"/>
                </a:solidFill>
                <a:latin typeface="Malgun Gothic"/>
              </a:rPr>
              <a:t>가르는 규칙 (4가지) — 그때그때 정한 게 아님: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① exact 2ᴺ(Banzhaf·in-run·retrain oracle)는 N=5/10만 (N=20/100 불가)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5486400"/>
            <a:ext cx="502920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/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② MC Shapley(GTG/FedSV/ShapleyFL)는 N=100·3B서 비용↑ → 기준점/제외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③ 참여형태: full(silo·ref)→exact+MC · partial(device·std)→ComFedSV(부분참여)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④ 적용성: Ripple=고유분해라 LLM 비용·불안정→제외(이미지만) · 탐지기=오염 있는 실험만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algun Gothic"/>
              </a:rPr>
              <a:t>ComFedSV: cross-device/std의 부분참여 Shapley 역할 — silo5/3B(full·소규모)엔 미포함(ref는 Track D 전체 로스터로 포함). 7B·N=10 retrain은 설계상 가능하나 보류(ⓒ).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31089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17508C"/>
                </a:solidFill>
                <a:latin typeface="Malgun Gothic"/>
              </a:rPr>
              <a:t>1차 FIDELITY · IMAGE (CNN)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algun Gothic"/>
              </a:rPr>
              <a:t>in-run oracle 대비 기여도 순위 — 비교 방법 전체(10종)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17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183109" cy="374446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65569"/>
                <a:gridCol w="951754"/>
                <a:gridCol w="951754"/>
                <a:gridCol w="951754"/>
                <a:gridCol w="951754"/>
                <a:gridCol w="951754"/>
                <a:gridCol w="951754"/>
                <a:gridCol w="951754"/>
                <a:gridCol w="951754"/>
                <a:gridCol w="951754"/>
                <a:gridCol w="951754"/>
              </a:tblGrid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830" b="1">
                          <a:solidFill>
                            <a:srgbClr val="17508C"/>
                          </a:solidFill>
                          <a:latin typeface="Malgun Gothic"/>
                        </a:rPr>
                        <a:t>시나리오 (CIFAR / MNIST)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7508C"/>
                          </a:solidFill>
                          <a:latin typeface="Malgun Gothic"/>
                        </a:rPr>
                        <a:t>Flirds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7508C"/>
                          </a:solidFill>
                          <a:latin typeface="Malgun Gothic"/>
                        </a:rPr>
                        <a:t>Flirds1st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7508C"/>
                          </a:solidFill>
                          <a:latin typeface="Malgun Gothic"/>
                        </a:rPr>
                        <a:t>Banzhaf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7508C"/>
                          </a:solidFill>
                          <a:latin typeface="Malgun Gothic"/>
                        </a:rPr>
                        <a:t>GTG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7508C"/>
                          </a:solidFill>
                          <a:latin typeface="Malgun Gothic"/>
                        </a:rPr>
                        <a:t>FedSV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7508C"/>
                          </a:solidFill>
                          <a:latin typeface="Malgun Gothic"/>
                        </a:rPr>
                        <a:t>ComFedSV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7508C"/>
                          </a:solidFill>
                          <a:latin typeface="Malgun Gothic"/>
                        </a:rPr>
                        <a:t>ShapleyFL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7508C"/>
                          </a:solidFill>
                          <a:latin typeface="Malgun Gothic"/>
                        </a:rPr>
                        <a:t>FedIF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7508C"/>
                          </a:solidFill>
                          <a:latin typeface="Malgun Gothic"/>
                        </a:rPr>
                        <a:t>loss-heur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7508C"/>
                          </a:solidFill>
                          <a:latin typeface="Malgun Gothic"/>
                        </a:rPr>
                        <a:t>Ripple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CIFAR·iid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0.54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0.21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0.22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0.12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0.18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0.45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0.69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0.31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CIFAR·label_skew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0.98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0.92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1.00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0.49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0.53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0.31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0.29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0.68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0.88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0.26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CIFAR·quantity_skew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0.99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1.00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0.78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0.56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0.67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0.44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-0.20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0.68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CIFAR·label_flip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1.00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0.95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1.00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0.64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0.54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0.31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0.37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0.74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0.95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0.32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CIFAR·feature_noise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1.00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0.89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1.00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0.59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0.40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0.19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0.20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0.62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-0.01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CIFAR 평균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0.98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0.85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1.00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0.54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0.45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0.32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0.30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0.46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0.88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0.31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MNIST·iid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0.81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0.78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0.47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0.04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0.10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0.47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0.73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0.84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0.18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MNIST·label_skew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0.71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0.61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0.98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0.33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-0.01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0.14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-0.02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0.41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0.63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0.06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MNIST·quantity_skew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1.00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0.78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0.63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0.49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0.52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-0.07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MNIST·label_flip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1.00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0.99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1.00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0.99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0.97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0.95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0.98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0.98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0.99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0.97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MNIST·feature_noise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0.79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0.70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0.41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0.13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0.21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0.48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0.57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0.78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MNIST 평균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0.85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0.81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0.98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0.60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0.35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0.38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0.49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0.52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0.84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0.44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440680"/>
            <a:ext cx="676656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7508C"/>
                </a:solidFill>
                <a:latin typeface="Malgun Gothic"/>
              </a:rPr>
              <a:t>명세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MNIST+LeNet5 / CIFAR-10+CNN · N=10 full · R=10 · SGD mom=0 lr0.01 · val=2000 · 3 seed · in-run oracle 2¹⁰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7508C"/>
                </a:solidFill>
                <a:latin typeface="Malgun Gothic"/>
              </a:rPr>
              <a:t>분할: iid=IID · label_skew·quantity_skew=Non-IID · label_flip·feature_noise=IID 분할+손상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5440680"/>
            <a:ext cx="420624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7508C"/>
                </a:solidFill>
                <a:latin typeface="Malgun Gothic"/>
              </a:rPr>
              <a:t>지표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Spearman ρ ↑ (오라클 φ 대비 순위). 평균=데이터셋 단순평균.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Flirds·Banzhaf 순위 최상; MC기반 GTG/FedSV/ShapleyFL·ComFedSV·Ripple은 noisy.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2차항 고유 기여는 순위 아닌 값-거리(retrain 페이지 하단).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algun Gothic"/>
              </a:rPr>
              <a:t>iid·feature_noise는 in-run oracle 신호 약함(클라 동질). 비교 방법 10종 전체(로스터 11종 = 10종 + in-run oracle 기준=1.0). 출처: runs/track_c/c1/* 재집계.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31089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17508C"/>
                </a:solidFill>
                <a:latin typeface="Malgun Gothic"/>
              </a:rPr>
              <a:t>1차 FIDELITY · IMAGE (CNN)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algun Gothic"/>
              </a:rPr>
              <a:t>retrain oracle (2¹⁰) 대비 순위, 그리고 in-run과의 괴리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17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183109" cy="374446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65569"/>
                <a:gridCol w="951754"/>
                <a:gridCol w="951754"/>
                <a:gridCol w="951754"/>
                <a:gridCol w="951754"/>
                <a:gridCol w="951754"/>
                <a:gridCol w="951754"/>
                <a:gridCol w="951754"/>
                <a:gridCol w="951754"/>
                <a:gridCol w="951754"/>
                <a:gridCol w="951754"/>
              </a:tblGrid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830" b="1">
                          <a:solidFill>
                            <a:srgbClr val="17508C"/>
                          </a:solidFill>
                          <a:latin typeface="Malgun Gothic"/>
                        </a:rPr>
                        <a:t>시나리오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7508C"/>
                          </a:solidFill>
                          <a:latin typeface="Malgun Gothic"/>
                        </a:rPr>
                        <a:t>Flirds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7508C"/>
                          </a:solidFill>
                          <a:latin typeface="Malgun Gothic"/>
                        </a:rPr>
                        <a:t>Flirds1st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7508C"/>
                          </a:solidFill>
                          <a:latin typeface="Malgun Gothic"/>
                        </a:rPr>
                        <a:t>Banzhaf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7508C"/>
                          </a:solidFill>
                          <a:latin typeface="Malgun Gothic"/>
                        </a:rPr>
                        <a:t>GTG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7508C"/>
                          </a:solidFill>
                          <a:latin typeface="Malgun Gothic"/>
                        </a:rPr>
                        <a:t>FedSV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7508C"/>
                          </a:solidFill>
                          <a:latin typeface="Malgun Gothic"/>
                        </a:rPr>
                        <a:t>ComFedSV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7508C"/>
                          </a:solidFill>
                          <a:latin typeface="Malgun Gothic"/>
                        </a:rPr>
                        <a:t>ShapleyFL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7508C"/>
                          </a:solidFill>
                          <a:latin typeface="Malgun Gothic"/>
                        </a:rPr>
                        <a:t>FedIF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7508C"/>
                          </a:solidFill>
                          <a:latin typeface="Malgun Gothic"/>
                        </a:rPr>
                        <a:t>loss-heur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7508C"/>
                          </a:solidFill>
                          <a:latin typeface="Malgun Gothic"/>
                        </a:rPr>
                        <a:t>Ripple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CIFAR·iid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-0.23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-0.13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-0.21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-0.20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-0.18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0.30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0.07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-0.18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-0.20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CIFAR·label_skew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-0.18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-0.07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-0.12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0.44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0.40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0.28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0.12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0.19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0.14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-0.23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CIFAR·quantity_skew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0.57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0.56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0.57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0.70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0.70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0.72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0.81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-0.03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0.57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0.47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CIFAR·label_flip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0.52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0.59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0.51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0.46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0.41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0.32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0.29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0.36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0.58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0.01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CIFAR·feature_noise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0.63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0.50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0.62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0.44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0.18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0.39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0.28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0.40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0.56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-0.12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CIFAR 평균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0.26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0.29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0.27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0.37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0.30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0.40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0.30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0.20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0.34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-0.01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MNIST·iid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0.36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0.52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0.44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0.19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-0.11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-0.10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0.67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0.74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0.48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0.09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MNIST·label_skew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-0.28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-0.06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-0.20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-0.22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-0.14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-0.04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0.28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0.54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-0.16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0.28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MNIST·quantity_skew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0.85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0.77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0.74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0.56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0.69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0.65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0.51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-0.10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0.84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0.74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MNIST·label_flip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0.96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0.97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0.97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0.97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0.96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0.96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0.96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0.97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0.98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MNIST·feature_noise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0.33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0.44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0.23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0.40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-0.07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-0.07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0.60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0.67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0.44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Malgun Gothic"/>
                        </a:rPr>
                        <a:t>0.12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MNIST 평균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0.44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0.53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0.44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0.38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0.27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0.27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0.60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0.56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0.51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Malgun Gothic"/>
                        </a:rPr>
                        <a:t>0.44</a:t>
                      </a:r>
                    </a:p>
                  </a:txBody>
                  <a:tcPr marL="50800" marR="50800" marT="19050" marB="1905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440680"/>
            <a:ext cx="676656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7508C"/>
                </a:solidFill>
                <a:latin typeface="Malgun Gothic"/>
              </a:rPr>
              <a:t>핵심 — 게임 정의 차이 (label_skew)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Flirds는 in-run oracle은 거의 완벽 재현하나(in-run 페이지), retrain oracle와는 label_skew서 갈림: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7508C"/>
                </a:solidFill>
                <a:latin typeface="Malgun Gothic"/>
              </a:rPr>
              <a:t>  CIFAR in-run 0.98 → retrain −0.18 · MNIST 0.71 → retrain −0.29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추정오차 아님 — 모든 in-run 방법 공유(희귀라벨 클라는 라운드 한계기여 낮아도 최종 재학습 모델엔 필수).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5440680"/>
            <a:ext cx="420624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7508C"/>
                </a:solidFill>
                <a:latin typeface="Malgun Gothic"/>
              </a:rPr>
              <a:t>지표 / 2차항 효과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Spearman ρ ↑ (retrain oracle φ 대비). 평균=데이터셋 단순.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2차항: euclid_d(값-거리) label_flip CIFAR 0.031 vs 1차 0.046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(MNIST 0.207 vs 0.370) → 값 오차 1차 대비 ~25–50%↓.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algun Gothic"/>
              </a:rPr>
              <a:t>표=Spearman ρ ↑ (rho_a_mean, 3-seed). LLM reference(N=5)는 retrain oracle와 1.000 일치 → 괴리는 이질성 구동(이어지는 LLM standard·reference 페이지). 출처: RESULTS.txt.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31089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17508C"/>
                </a:solidFill>
                <a:latin typeface="Malgun Gothic"/>
              </a:rPr>
              <a:t>1차 FIDELITY · LLM STANDARD (N=20, CLEAN·IID)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algun Gothic"/>
              </a:rPr>
              <a:t>기여도 fidelity — in-run oracle 대비 (1B · 3B)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17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5486400" cy="27432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 algn="l"/>
            <a:r>
              <a:rPr sz="1150" b="1">
                <a:solidFill>
                  <a:srgbClr val="17508C"/>
                </a:solidFill>
                <a:latin typeface="Malgun Gothic"/>
              </a:rPr>
              <a:t>1B (N=20) — 3 seed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09928"/>
          <a:ext cx="5486396" cy="296265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155031"/>
                <a:gridCol w="907524"/>
                <a:gridCol w="825022"/>
                <a:gridCol w="866273"/>
                <a:gridCol w="866273"/>
                <a:gridCol w="866273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19" b="1">
                          <a:solidFill>
                            <a:srgbClr val="17508C"/>
                          </a:solidFill>
                          <a:latin typeface="Malgun Gothic"/>
                        </a:rPr>
                        <a:t>방법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1">
                          <a:solidFill>
                            <a:srgbClr val="17508C"/>
                          </a:solidFill>
                          <a:latin typeface="Malgun Gothic"/>
                        </a:rPr>
                        <a:t>Spearman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1">
                          <a:solidFill>
                            <a:srgbClr val="17508C"/>
                          </a:solidFill>
                          <a:latin typeface="Malgun Gothic"/>
                        </a:rPr>
                        <a:t>Kendall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1">
                          <a:solidFill>
                            <a:srgbClr val="17508C"/>
                          </a:solidFill>
                          <a:latin typeface="Malgun Gothic"/>
                        </a:rPr>
                        <a:t>cosine_d ↓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1">
                          <a:solidFill>
                            <a:srgbClr val="17508C"/>
                          </a:solidFill>
                          <a:latin typeface="Malgun Gothic"/>
                        </a:rPr>
                        <a:t>euclid_d ↓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1">
                          <a:solidFill>
                            <a:srgbClr val="17508C"/>
                          </a:solidFill>
                          <a:latin typeface="Malgun Gothic"/>
                        </a:rPr>
                        <a:t>max_diff ↓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Flirds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3.5e-07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4.4e-05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2.1e-05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Flirds1st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0.999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0.996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4.4e-05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6.2e-04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2.3e-04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loss-heur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2.4e-06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1.3e-04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5.3e-05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GTG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0.975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0.916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7.1e-04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9.8e-04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4.7e-04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FedSV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0.910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0.786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5.7e-03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2.8e-03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1.7e-03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ComFedSV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0.093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0.060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8.4e-01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2.6e-02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9.8e-03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ShapleyFL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0.194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0.133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2.1e-01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2.7e+00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9.9e-01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FedIF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0.157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0.111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1.9e-01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2.6e+00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9.8e-01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72200" y="1417320"/>
            <a:ext cx="5029200" cy="27432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 algn="l"/>
            <a:r>
              <a:rPr sz="1150" b="1">
                <a:solidFill>
                  <a:srgbClr val="17508C"/>
                </a:solidFill>
                <a:latin typeface="Malgun Gothic"/>
              </a:rPr>
              <a:t>3B (N=20) — 2 seed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72200" y="1709928"/>
          <a:ext cx="5029197" cy="296265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58778"/>
                <a:gridCol w="831897"/>
                <a:gridCol w="756270"/>
                <a:gridCol w="794084"/>
                <a:gridCol w="794084"/>
                <a:gridCol w="794084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19" b="1">
                          <a:solidFill>
                            <a:srgbClr val="17508C"/>
                          </a:solidFill>
                          <a:latin typeface="Malgun Gothic"/>
                        </a:rPr>
                        <a:t>방법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1">
                          <a:solidFill>
                            <a:srgbClr val="17508C"/>
                          </a:solidFill>
                          <a:latin typeface="Malgun Gothic"/>
                        </a:rPr>
                        <a:t>Spearman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1">
                          <a:solidFill>
                            <a:srgbClr val="17508C"/>
                          </a:solidFill>
                          <a:latin typeface="Malgun Gothic"/>
                        </a:rPr>
                        <a:t>Kendall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1">
                          <a:solidFill>
                            <a:srgbClr val="17508C"/>
                          </a:solidFill>
                          <a:latin typeface="Malgun Gothic"/>
                        </a:rPr>
                        <a:t>cosine_d ↓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1">
                          <a:solidFill>
                            <a:srgbClr val="17508C"/>
                          </a:solidFill>
                          <a:latin typeface="Malgun Gothic"/>
                        </a:rPr>
                        <a:t>euclid_d ↓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1">
                          <a:solidFill>
                            <a:srgbClr val="17508C"/>
                          </a:solidFill>
                          <a:latin typeface="Malgun Gothic"/>
                        </a:rPr>
                        <a:t>max_diff ↓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Flirds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8.0e-08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3.6e-05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1.4e-05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Flirds1st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2.1e-05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3.8e-04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1.5e-04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loss-heur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1.8e-06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7.8e-05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3.7e-05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GTG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0.992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0.958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5.6e-04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1.0e-03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5.3e-04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FedSV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0.944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0.837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3.1e-03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2.4e-03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1.5e-03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ComFedSV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-0.133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-0.105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1.0e+00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3.0e-02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1.1e-02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ShapleyFL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0.302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0.211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1.9e-01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2.8e+00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9.9e-01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FedIF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0.338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0.219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1.6e-01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2.6e+00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9.9e-01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892040"/>
            <a:ext cx="576072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00" b="1">
                <a:solidFill>
                  <a:srgbClr val="17508C"/>
                </a:solidFill>
                <a:latin typeface="Malgun Gothic"/>
              </a:rPr>
              <a:t>명세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· Llama-3.2 1B·3B / alpaca-gpt4 20k (IID, clean)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· N=20, 라운드당 2개(partial) · R=200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· local 10 steps × batch16 · lr1e-3 · seq512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· SGD mom=0 · fp32 · eager · val=200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· in-run oracle = per-round exact 분해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4892040"/>
            <a:ext cx="525780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00" b="1">
                <a:solidFill>
                  <a:srgbClr val="17508C"/>
                </a:solidFill>
                <a:latin typeface="Malgun Gothic"/>
              </a:rPr>
              <a:t>지표 / 읽기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Spearman ρ↑·Kendall τ↑·cosine_d/euclid_d/max_diff↓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00" b="1">
                <a:solidFill>
                  <a:srgbClr val="17508C"/>
                </a:solidFill>
                <a:latin typeface="Malgun Gothic"/>
              </a:rPr>
              <a:t>Flirds: in-run ρ=1.000 (1B·3B 동일) — 스케일 불변.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2차항: cosine_d 3.5e-7 vs 1차 4.4e-5 (~125× 타이트).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loss-heur은 순위만 비기고 cosine은 큼. ShapleyFL·FedIF·ComFedSV는 스케일서 fidelity 약함.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algun Gothic"/>
              </a:rPr>
              <a:t>alpaca-gpt4 20k IID·clean → Banzhaf(2²⁰ 불가)·탐지기(오염 없음)는 미실행(적용범위 표). 출처: runs/track_d/rundirs/* 재집계. 내부코드 standard=std20.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31089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17508C"/>
                </a:solidFill>
                <a:latin typeface="Malgun Gothic"/>
              </a:rPr>
              <a:t>1차 FIDELITY · LLM REFERENCE (N=5, CLEAN·IID)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algun Gothic"/>
              </a:rPr>
              <a:t>기여도 fidelity — retrain oracle 대비, 그리고 in-run과의 일치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17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5486400" cy="27432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 algn="l"/>
            <a:r>
              <a:rPr sz="1150" b="1">
                <a:solidFill>
                  <a:srgbClr val="17508C"/>
                </a:solidFill>
                <a:latin typeface="Malgun Gothic"/>
              </a:rPr>
              <a:t>1B (N=5) — vs retrain oracle  (3 seed)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09928"/>
          <a:ext cx="5486396" cy="31546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155031"/>
                <a:gridCol w="907524"/>
                <a:gridCol w="825022"/>
                <a:gridCol w="866273"/>
                <a:gridCol w="866273"/>
                <a:gridCol w="866273"/>
              </a:tblGrid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919" b="1">
                          <a:solidFill>
                            <a:srgbClr val="17508C"/>
                          </a:solidFill>
                          <a:latin typeface="Malgun Gothic"/>
                        </a:rPr>
                        <a:t>방법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1">
                          <a:solidFill>
                            <a:srgbClr val="17508C"/>
                          </a:solidFill>
                          <a:latin typeface="Malgun Gothic"/>
                        </a:rPr>
                        <a:t>Spearman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1">
                          <a:solidFill>
                            <a:srgbClr val="17508C"/>
                          </a:solidFill>
                          <a:latin typeface="Malgun Gothic"/>
                        </a:rPr>
                        <a:t>Kendall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1">
                          <a:solidFill>
                            <a:srgbClr val="17508C"/>
                          </a:solidFill>
                          <a:latin typeface="Malgun Gothic"/>
                        </a:rPr>
                        <a:t>cosine_d ↓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1">
                          <a:solidFill>
                            <a:srgbClr val="17508C"/>
                          </a:solidFill>
                          <a:latin typeface="Malgun Gothic"/>
                        </a:rPr>
                        <a:t>euclid_d ↓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1">
                          <a:solidFill>
                            <a:srgbClr val="17508C"/>
                          </a:solidFill>
                          <a:latin typeface="Malgun Gothic"/>
                        </a:rPr>
                        <a:t>max_diff ↓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Flirds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2.3e-09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4.8e-05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2.4e-05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Flirds1st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2.0e-07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3.1e-04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1.6e-04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Banzhaf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3.9e-11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4.0e-06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1.9e-06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loss-heur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6.1e-08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2.4e-04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1.2e-04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GTG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3.2e-03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2.5e-03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1.8e-03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FedSV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0.700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0.600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5.5e-03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3.6e-03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2.6e-03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ShapleyFL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0.700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0.600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1.9e-01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1.2e+00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9.8e-01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ComFedSV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0.500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0.467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1.3e-01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1.9e-02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1.4e-02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FedIF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0.067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0.067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2.3e-01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1.3e+00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9.8e-01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72200" y="1417320"/>
            <a:ext cx="5029200" cy="27432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 algn="l"/>
            <a:r>
              <a:rPr sz="1150" b="1">
                <a:solidFill>
                  <a:srgbClr val="17508C"/>
                </a:solidFill>
                <a:latin typeface="Malgun Gothic"/>
              </a:rPr>
              <a:t>3B (N=5) — vs retrain oracle  (2 seed)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72200" y="1709928"/>
          <a:ext cx="5029197" cy="283921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58778"/>
                <a:gridCol w="831897"/>
                <a:gridCol w="756270"/>
                <a:gridCol w="794084"/>
                <a:gridCol w="794084"/>
                <a:gridCol w="794084"/>
              </a:tblGrid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919" b="1">
                          <a:solidFill>
                            <a:srgbClr val="17508C"/>
                          </a:solidFill>
                          <a:latin typeface="Malgun Gothic"/>
                        </a:rPr>
                        <a:t>방법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1">
                          <a:solidFill>
                            <a:srgbClr val="17508C"/>
                          </a:solidFill>
                          <a:latin typeface="Malgun Gothic"/>
                        </a:rPr>
                        <a:t>Spearman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1">
                          <a:solidFill>
                            <a:srgbClr val="17508C"/>
                          </a:solidFill>
                          <a:latin typeface="Malgun Gothic"/>
                        </a:rPr>
                        <a:t>Kendall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1">
                          <a:solidFill>
                            <a:srgbClr val="17508C"/>
                          </a:solidFill>
                          <a:latin typeface="Malgun Gothic"/>
                        </a:rPr>
                        <a:t>cosine_d ↓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1">
                          <a:solidFill>
                            <a:srgbClr val="17508C"/>
                          </a:solidFill>
                          <a:latin typeface="Malgun Gothic"/>
                        </a:rPr>
                        <a:t>euclid_d ↓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1">
                          <a:solidFill>
                            <a:srgbClr val="17508C"/>
                          </a:solidFill>
                          <a:latin typeface="Malgun Gothic"/>
                        </a:rPr>
                        <a:t>max_diff ↓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Flirds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0.950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0.900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3.4e-10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3.9e-05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1.9e-05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Flirds1st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6.2e-07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1.1e-04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7.2e-05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loss-heur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2.2e-07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8.3e-05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5.1e-05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GTG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1.7e-03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1.9e-03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1.5e-03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FedSV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0.700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0.600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4.0e-03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3.1e-03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2.0e-03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ShapleyFL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0.100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1.9e-01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1.4e+00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9.5e-01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ComFedSV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0.450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0.400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1.4e-01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2.0e-02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1.6e-02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FedIF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0.100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0.100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1.9e-01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1.4e+00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9.8e-01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892040"/>
            <a:ext cx="576072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00" b="1">
                <a:solidFill>
                  <a:srgbClr val="17508C"/>
                </a:solidFill>
                <a:latin typeface="Malgun Gothic"/>
              </a:rPr>
              <a:t>명세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· Llama-3.2 1B·3B / alpaca-gpt4 20k (IID, clean)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· N=5, full participation · R=30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· retrain oracle = 2⁵ 부분집합 FedAvg 재학습→검증손실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· in-run oracle도 함께 산출(듀얼 오라클)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· 1B 3 seed · 3B 2 seed · Banzhaf(2⁵) 실행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4892040"/>
            <a:ext cx="525780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00" b="1">
                <a:solidFill>
                  <a:srgbClr val="17508C"/>
                </a:solidFill>
                <a:latin typeface="Malgun Gothic"/>
              </a:rPr>
              <a:t>읽기 — 듀얼 오라클 일치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00" b="1">
                <a:solidFill>
                  <a:srgbClr val="17508C"/>
                </a:solidFill>
                <a:latin typeface="Malgun Gothic"/>
              </a:rPr>
              <a:t>Flirds: retrain ρ=1.000 · in-run ρ=1.000 →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00" b="1">
                <a:solidFill>
                  <a:srgbClr val="17508C"/>
                </a:solidFill>
                <a:latin typeface="Malgun Gothic"/>
              </a:rPr>
              <a:t>  IID·clean서 두 오라클 게임이 일치.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→ 이미지 label_skew의 retrain↔in-run 괴리는 'Flirds 오차'가 아니라 데이터 이질성 구동임을 확인.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3B reference도 Flirds ρ=1.000 유지(FedSV 0.7).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algun Gothic"/>
              </a:rPr>
              <a:t>reference = retrain oracle(2⁵) 주 무대 + in-run oracle 병행. 출처: runs/track_d/rundirs/* 재집계. 내부코드 reference=anchor5.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31089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17508C"/>
                </a:solidFill>
                <a:latin typeface="Malgun Gothic"/>
              </a:rPr>
              <a:t>1차 FIDELITY · LLM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algun Gothic"/>
              </a:rPr>
              <a:t>Shapley 순위 fidelity — N=5 silo · N=100 device · 3B (vs in-run oracle)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17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63040"/>
          <a:ext cx="7315197" cy="3657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67542"/>
                <a:gridCol w="1410788"/>
                <a:gridCol w="1410788"/>
                <a:gridCol w="1567542"/>
                <a:gridCol w="1358537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방법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silo N=5 ρ noisy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silo N=5 ρ poison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device N=100 ρ (α=0.5)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3B N=5 ρ noisy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Flirds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0.967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Flirds1st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loss-heur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Banzhaf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–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–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GTG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0.867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0.784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–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FedSV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0.367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0.752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–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ShapleyFL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0.582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–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ComFedSV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–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–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-0.023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–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FedIF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0.933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0.967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0.721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92440" y="1463040"/>
            <a:ext cx="361188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명세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동일 robustness run의 ρ만 모음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  (같은 run의 탐지 AUROC → Detection 섹션)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silo N=5: 1 도메인/클라(Non-IID), 3 seed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device N=100: Dir(α=0.5), per-round oracle, 1 seed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3B: silo N=5, 1 seed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빈칸(–) = 그 스케일서 미실행(적용범위 표: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  비싼 method는 기준점/제외 = 비용 게이팅)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/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지표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Spearman ρ ↑ (in-run oracle φ 대비 순위)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/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읽기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A1A1A"/>
                </a:solidFill>
                <a:latin typeface="Malgun Gothic"/>
              </a:rPr>
              <a:t>N=5서 near-additive → 전 방법 ρ≈1.000;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A1A1A"/>
                </a:solidFill>
                <a:latin typeface="Malgun Gothic"/>
              </a:rPr>
              <a:t>  poison·스케일에서 분화: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  poison: FedSV 0.367·1차 0.000 (Flirds 0.967 유지)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  N=100: GTG 0.78·FedSV 0.75·ShapleyFL 0.58·ComFedSV −0.02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→ Flirds·loss-heur는 전 스케일 ρ=1.000 유지;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  MC/변형 Shapley는 N↑·poison서 열화.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algun Gothic"/>
              </a:rPr>
              <a:t>silo noisy/fr는 전 방법 1.000(near-additive)이라 poison 열로 분화를 표시. device 값=α=0.5 anchor(per-round exact). 빈칸=해당 스케일 미실행(적용범위 표). 출처: RESULTS.md + rundir.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31089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17508C"/>
                </a:solidFill>
                <a:latin typeface="Malgun Gothic"/>
              </a:rPr>
              <a:t>1차 FIDELITY · 종합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algun Gothic"/>
              </a:rPr>
              <a:t>기여도 측정 정확성 — 횡단 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17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11183111" cy="340156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920332"/>
                <a:gridCol w="5309154"/>
                <a:gridCol w="3953625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80" b="1">
                          <a:solidFill>
                            <a:srgbClr val="17508C"/>
                          </a:solidFill>
                          <a:latin typeface="Malgun Gothic"/>
                        </a:rPr>
                        <a:t>측면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1">
                          <a:solidFill>
                            <a:srgbClr val="17508C"/>
                          </a:solidFill>
                          <a:latin typeface="Malgun Gothic"/>
                        </a:rPr>
                        <a:t>결과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1">
                          <a:solidFill>
                            <a:srgbClr val="17508C"/>
                          </a:solidFill>
                          <a:latin typeface="Malgun Gothic"/>
                        </a:rPr>
                        <a:t>근거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80" b="1">
                          <a:solidFill>
                            <a:srgbClr val="1A1A1A"/>
                          </a:solidFill>
                          <a:latin typeface="Malgun Gothic"/>
                        </a:rPr>
                        <a:t>순위 vs in-run oracle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>
                          <a:solidFill>
                            <a:srgbClr val="1A1A1A"/>
                          </a:solidFill>
                          <a:latin typeface="Malgun Gothic"/>
                        </a:rPr>
                        <a:t>Flirds ρ≈1.000 (전 트랙·1B→3B). Banzhaf·loss-heur도 우수; MC-SV는 noisy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>
                          <a:solidFill>
                            <a:srgbClr val="1A1A1A"/>
                          </a:solidFill>
                          <a:latin typeface="Malgun Gothic"/>
                        </a:rPr>
                        <a:t>cross-silo·standard 1.000 / 이미지 0.71–1.00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80" b="1">
                          <a:solidFill>
                            <a:srgbClr val="1A1A1A"/>
                          </a:solidFill>
                          <a:latin typeface="Malgun Gothic"/>
                        </a:rPr>
                        <a:t>값-거리 vs in-run oracle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>
                          <a:solidFill>
                            <a:srgbClr val="1A1A1A"/>
                          </a:solidFill>
                          <a:latin typeface="Malgun Gothic"/>
                        </a:rPr>
                        <a:t>2차항이 1차 대비 값오차 ~2× 축소; loss-heur은 순위만 비기고 크기는 빗나감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>
                          <a:solidFill>
                            <a:srgbClr val="1A1A1A"/>
                          </a:solidFill>
                          <a:latin typeface="Malgun Gothic"/>
                        </a:rPr>
                        <a:t>euclid_d: 이미지 ~0.5× · standard cosine 125×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80" b="1">
                          <a:solidFill>
                            <a:srgbClr val="1A1A1A"/>
                          </a:solidFill>
                          <a:latin typeface="Malgun Gothic"/>
                        </a:rPr>
                        <a:t>순위 vs retrain oracle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>
                          <a:solidFill>
                            <a:srgbClr val="1A1A1A"/>
                          </a:solidFill>
                          <a:latin typeface="Malgun Gothic"/>
                        </a:rPr>
                        <a:t>IID·clean은 1.000 일치; label_skew(이질성)에서 in-run oracle와 괴리(−)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>
                          <a:solidFill>
                            <a:srgbClr val="1A1A1A"/>
                          </a:solidFill>
                          <a:latin typeface="Malgun Gothic"/>
                        </a:rPr>
                        <a:t>reference(N=5) 1.000 / 이미지 label_skew −0.18~−0.29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80" b="1">
                          <a:solidFill>
                            <a:srgbClr val="1A1A1A"/>
                          </a:solidFill>
                          <a:latin typeface="Malgun Gothic"/>
                        </a:rPr>
                        <a:t>스케일 (N=100)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>
                          <a:solidFill>
                            <a:srgbClr val="1A1A1A"/>
                          </a:solidFill>
                          <a:latin typeface="Malgun Gothic"/>
                        </a:rPr>
                        <a:t>α=0.5 기준점서 Flirds·1차·loss-heur ρ=1.000; GTG/FedSV/ShapleyFL은 열화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>
                          <a:solidFill>
                            <a:srgbClr val="1A1A1A"/>
                          </a:solidFill>
                          <a:latin typeface="Malgun Gothic"/>
                        </a:rPr>
                        <a:t>GTG 0.78·FedSV 0.75·ShapleyFL 0.58·ComFedSV −0.02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80" b="1">
                          <a:solidFill>
                            <a:srgbClr val="1A1A1A"/>
                          </a:solidFill>
                          <a:latin typeface="Malgun Gothic"/>
                        </a:rPr>
                        <a:t>비용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>
                          <a:solidFill>
                            <a:srgbClr val="1A1A1A"/>
                          </a:solidFill>
                          <a:latin typeface="Malgun Gothic"/>
                        </a:rPr>
                        <a:t>Flirds 1 HVP/round; in-run oracle exact의 5–15× 저렴, 동일 순위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>
                          <a:solidFill>
                            <a:srgbClr val="1A1A1A"/>
                          </a:solidFill>
                          <a:latin typeface="Malgun Gothic"/>
                        </a:rPr>
                        <a:t>cross-silo 106s vs 530s · 3B 251s vs 1240s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074920"/>
            <a:ext cx="1115568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1A1A1A"/>
                </a:solidFill>
                <a:latin typeface="Malgun Gothic"/>
              </a:rPr>
              <a:t>한 줄 요약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>Flirds는 in-run oracle 게임을 순위·값 모두에서 충실히, exact 대비 저비용으로, 1B→3B·N=5→N=100서 일관되게 재현한다.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>2차항의 고유 기여는 순위가 아니라 값-크기 정밀도. retrain oracle 게임과의 일치는 데이터 이질성에 의존(동질↔label_skew).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algun Gothic"/>
              </a:rPr>
              <a:t>retrain oracle 괴리는 Flirds 특정 오차가 아니라 모든 in-run 방법 공유. 상세: 앞의 fidelity 페이지들.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31089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17508C"/>
                </a:solidFill>
                <a:latin typeface="Malgun Gothic"/>
              </a:rPr>
              <a:t>2차 · INTERVENTION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algun Gothic"/>
              </a:rPr>
              <a:t>intervention arm 정의 — 측정한 기여도를 집계에 어떻게 쓰나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17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7406640" cy="380390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81328"/>
                <a:gridCol w="2777490"/>
                <a:gridCol w="3147822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19" b="1">
                          <a:solidFill>
                            <a:srgbClr val="17508C"/>
                          </a:solidFill>
                          <a:latin typeface="Malgun Gothic"/>
                        </a:rPr>
                        <a:t>arm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1">
                          <a:solidFill>
                            <a:srgbClr val="17508C"/>
                          </a:solidFill>
                          <a:latin typeface="Malgun Gothic"/>
                        </a:rPr>
                        <a:t>집계 가중 규칙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1">
                          <a:solidFill>
                            <a:srgbClr val="17508C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19" b="1">
                          <a:solidFill>
                            <a:srgbClr val="1A1A1A"/>
                          </a:solidFill>
                          <a:latin typeface="Malgun Gothic"/>
                        </a:rPr>
                        <a:t>vanilla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A1A1A"/>
                          </a:solidFill>
                          <a:latin typeface="Malgun Gothic"/>
                        </a:rPr>
                        <a:t>w ∝ n_c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A1A1A"/>
                          </a:solidFill>
                          <a:latin typeface="Malgun Gothic"/>
                        </a:rPr>
                        <a:t>plain FedAvg (샘플 수만 가중 — baseline)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19" b="1">
                          <a:solidFill>
                            <a:srgbClr val="1A1A1A"/>
                          </a:solidFill>
                          <a:latin typeface="Malgun Gothic"/>
                        </a:rPr>
                        <a:t>flirds_mult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A1A1A"/>
                          </a:solidFill>
                          <a:latin typeface="Malgun Gothic"/>
                        </a:rPr>
                        <a:t>w ∝ n_c · s_c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A1A1A"/>
                          </a:solidFill>
                          <a:latin typeface="Malgun Gothic"/>
                        </a:rPr>
                        <a:t>크기가중 × Flirds 점수 (soft, 기본형)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19" b="1">
                          <a:solidFill>
                            <a:srgbClr val="1A1A1A"/>
                          </a:solidFill>
                          <a:latin typeface="Malgun Gothic"/>
                        </a:rPr>
                        <a:t>flirds_repl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A1A1A"/>
                          </a:solidFill>
                          <a:latin typeface="Malgun Gothic"/>
                        </a:rPr>
                        <a:t>w ∝ s_c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A1A1A"/>
                          </a:solidFill>
                          <a:latin typeface="Malgun Gothic"/>
                        </a:rPr>
                        <a:t>크기 무시, 점수로 대체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19" b="1">
                          <a:solidFill>
                            <a:srgbClr val="1A1A1A"/>
                          </a:solidFill>
                          <a:latin typeface="Malgun Gothic"/>
                        </a:rPr>
                        <a:t>flirds_add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A1A1A"/>
                          </a:solidFill>
                          <a:latin typeface="Malgun Gothic"/>
                        </a:rPr>
                        <a:t>w ∝ ½·(s_c/Σs) + ½·(n_c/Σn)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A1A1A"/>
                          </a:solidFill>
                          <a:latin typeface="Malgun Gothic"/>
                        </a:rPr>
                        <a:t>점수-비중과 크기-비중 5:5 혼합 (λ=0.5)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19" b="1">
                          <a:solidFill>
                            <a:srgbClr val="1A1A1A"/>
                          </a:solidFill>
                          <a:latin typeface="Malgun Gothic"/>
                        </a:rPr>
                        <a:t>flirds_select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A1A1A"/>
                          </a:solidFill>
                          <a:latin typeface="Malgun Gothic"/>
                        </a:rPr>
                        <a:t>점수 softmax로 코호트 선발 → 저기여 제외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A1A1A"/>
                          </a:solidFill>
                          <a:latin typeface="Malgun Gothic"/>
                        </a:rPr>
                        <a:t>hard selection (S-FedAvg式)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19" b="1">
                          <a:solidFill>
                            <a:srgbClr val="1A1A1A"/>
                          </a:solidFill>
                          <a:latin typeface="Malgun Gothic"/>
                        </a:rPr>
                        <a:t>shapleyfl / fedif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A1A1A"/>
                          </a:solidFill>
                          <a:latin typeface="Malgun Gothic"/>
                        </a:rPr>
                        <a:t>동일 기계, 점수만 교체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A1A1A"/>
                          </a:solidFill>
                          <a:latin typeface="Malgun Gothic"/>
                        </a:rPr>
                        <a:t>ShapleyFL 라운드 exact Shapley / FedIF 영향함수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19" b="1">
                          <a:solidFill>
                            <a:srgbClr val="1A1A1A"/>
                          </a:solidFill>
                          <a:latin typeface="Malgun Gothic"/>
                        </a:rPr>
                        <a:t>sfedavg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A1A1A"/>
                          </a:solidFill>
                          <a:latin typeface="Malgun Gothic"/>
                        </a:rPr>
                        <a:t>자체 점수 softmax 선택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A1A1A"/>
                          </a:solidFill>
                          <a:latin typeface="Malgun Gothic"/>
                        </a:rPr>
                        <a:t>S-FedAvg baseline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92440" y="1481328"/>
            <a:ext cx="361188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7508C"/>
                </a:solidFill>
                <a:latin typeface="Malgun Gothic"/>
              </a:rPr>
              <a:t>'arm' 이란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비교하는 하나의 조건/변형 (임상시험 treatment arm).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여기선 'φ를 어떻게 활용할지'의 각 전략이 한 arm.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/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7508C"/>
                </a:solidFill>
                <a:latin typeface="Malgun Gothic"/>
              </a:rPr>
              <a:t>점수 s_c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Flirds 추정점수의 EMA (β=0.5, 높을수록 기여 큼).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clean에선 점수 평탄 → vanilla로 복귀 = do-no-harm.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/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7508C"/>
                </a:solidFill>
                <a:latin typeface="Malgun Gothic"/>
              </a:rPr>
              <a:t>LLM standard 표기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flirds_w=mult(β.5) · flirds_sel=select ·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A1A1A"/>
                </a:solidFill>
                <a:latin typeface="Malgun Gothic"/>
              </a:rPr>
              <a:t>shapleyfl_w · fedif_w (β=0.7).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algun Gothic"/>
              </a:rPr>
              <a:t>출처: codes/flirds/fl/intervene.py rule_weights. repl/add 는 dir1(크기 skew)서만 mult 와 갈림 → iid/shard 는 6 arm 공통, dir1 만 8 arm.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31089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17508C"/>
                </a:solidFill>
                <a:latin typeface="Malgun Gothic"/>
              </a:rPr>
              <a:t>2차-① PERFORMANCE · IMAGE (CNN)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algun Gothic"/>
              </a:rPr>
              <a:t>intervention — IID vs Non-IID partition (clean, do-no-harm)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17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63040"/>
          <a:ext cx="7772395" cy="294436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80063"/>
                <a:gridCol w="947853"/>
                <a:gridCol w="995246"/>
                <a:gridCol w="947853"/>
                <a:gridCol w="900460"/>
                <a:gridCol w="900460"/>
                <a:gridCol w="90046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dataset · partition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vanilla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flirds_mult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flirds_select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shapleyfl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fedif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sfedavg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CIFAR-10·iid (IID)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0.648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0.646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0.646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0.647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0.647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0.646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CIFAR-10·dir1 (Non-IID)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0.638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0.642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0.634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0.635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0.637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0.631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CIFAR-10·shard (Non-IID 강)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0.475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0.498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0.417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0.496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0.474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0.487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FMNIST·iid (IID)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0.856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0.856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0.858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0.858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0.855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0.858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FMNIST·dir1 (Non-IID)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0.812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0.829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0.846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0.842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0.813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0.838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FMNIST·shard (Non-IID 강)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0.686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0.717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0.672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0.733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0.683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0.712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58200" y="1463040"/>
            <a:ext cx="324612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명세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CIFAR-10 / FMNIST + CNN · N=100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C=0.1 (라운드당 10) · R=120 · lr0.01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partition iid(IID)·dir1(Dir α=1)·shard(2클래스/클라)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clean = 위협 없음 → do-no-harm 검증 · 3 seed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arm 6종 = iid/shard 공통(dir1만 repl/add 추가)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/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지표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test acc ↑ (오염 없음 → 탐지 AUROC 없음)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비교 대상 = intervention arm(가중·선택 전략)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/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읽기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A1A1A"/>
                </a:solidFill>
                <a:latin typeface="Malgun Gothic"/>
              </a:rPr>
              <a:t>clean: 전 weighting arm ≈ vanilla → 분할 무관 무해.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  (CIFAR shard만 flirds_select&lt;vanilla = hard-drop 부작용)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분할 난이도가 절대 정확도를 지배(shard=극단 Non-IID):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  CIFAR 0.65→0.48 · FMNIST 0.86→0.69.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→ 가중은 어느 분할에서도 clean 성능을 해치지 않음.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algun Gothic"/>
              </a:rPr>
              <a:t>한 표에 두 데이터셋×세 분할 통합(앞 fidelity 표와 동일 형식). 위협 하 결과는 다음 장. arm 정의=앞 장. 출처: runs/track_c/RESULTS.txt. 내부코드 intervention=C2.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31089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17508C"/>
                </a:solidFill>
                <a:latin typeface="Malgun Gothic"/>
              </a:rPr>
              <a:t>2차-① PERFORMANCE · ③ DETECTION · IMAGE (CNN)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algun Gothic"/>
              </a:rPr>
              <a:t>intervention — under threat (CIFAR-10, dir1=Non-IID, 8 arm)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17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63040"/>
          <a:ext cx="7543797" cy="378561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220961"/>
                <a:gridCol w="1264567"/>
                <a:gridCol w="1308173"/>
                <a:gridCol w="1308173"/>
                <a:gridCol w="1308173"/>
                <a:gridCol w="113375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arm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clean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grad_noise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label_flip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free_rider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위협평균 acc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60" b="1">
                          <a:solidFill>
                            <a:srgbClr val="1A1A1A"/>
                          </a:solidFill>
                          <a:latin typeface="Malgun Gothic"/>
                        </a:rPr>
                        <a:t>vanilla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0.638 (–)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0.245 (–)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0.515 (–)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0.587 (–)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0.449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60" b="1">
                          <a:solidFill>
                            <a:srgbClr val="1A1A1A"/>
                          </a:solidFill>
                          <a:latin typeface="Malgun Gothic"/>
                        </a:rPr>
                        <a:t>flirds_mult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0.642 (–)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0.433 (0.99)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0.585 (0.93)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0.597 (0.39)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0.538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60" b="1">
                          <a:solidFill>
                            <a:srgbClr val="1A1A1A"/>
                          </a:solidFill>
                          <a:latin typeface="Malgun Gothic"/>
                        </a:rPr>
                        <a:t>flirds_repl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0.639 (–)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0.370 (0.99)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0.579 (0.95)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0.593 (0.41)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0.514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60" b="1">
                          <a:solidFill>
                            <a:srgbClr val="1A1A1A"/>
                          </a:solidFill>
                          <a:latin typeface="Malgun Gothic"/>
                        </a:rPr>
                        <a:t>flirds_add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0.640 (–)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0.333 (0.98)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0.560 (0.97)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0.593 (0.48)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0.495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60" b="1">
                          <a:solidFill>
                            <a:srgbClr val="1A1A1A"/>
                          </a:solidFill>
                          <a:latin typeface="Malgun Gothic"/>
                        </a:rPr>
                        <a:t>flirds_select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0.634 (–)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0.313 (0.99)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0.559 (0.91)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0.589 (0.48)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0.487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60" b="1">
                          <a:solidFill>
                            <a:srgbClr val="1A1A1A"/>
                          </a:solidFill>
                          <a:latin typeface="Malgun Gothic"/>
                        </a:rPr>
                        <a:t>shapleyfl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0.635 (–)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0.550 (1.00)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0.568 (0.96)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0.560 (0.00)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0.559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60" b="1">
                          <a:solidFill>
                            <a:srgbClr val="1A1A1A"/>
                          </a:solidFill>
                          <a:latin typeface="Malgun Gothic"/>
                        </a:rPr>
                        <a:t>fedif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0.637 (–)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0.527 (1.00)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0.567 (0.96)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0.611 (1.00)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0.568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60" b="1">
                          <a:solidFill>
                            <a:srgbClr val="1A1A1A"/>
                          </a:solidFill>
                          <a:latin typeface="Malgun Gothic"/>
                        </a:rPr>
                        <a:t>sfedavg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0.631 (–)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0.243 (1.00)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0.521 (0.94)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0.587 (0.04)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0.450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75320" y="1463040"/>
            <a:ext cx="347472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명세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CIFAR-10 + CNN · N=100, C=0.1 · R=120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partition dir1 (Dirichlet α=1, Non-IID)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arm 8종 (앞 장 정의)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strength sweep: grad0.05·flip0.6/0.8 별도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/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지표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값 = test acc ↑ · ( ) = 탐지 AUROC ↑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clean = 위협 無 → (–) · 위협평균 = 오염3종 acc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/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읽기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A1A1A"/>
                </a:solidFill>
                <a:latin typeface="Malgun Gothic"/>
              </a:rPr>
              <a:t>under threat: 전 weighting arm &gt; vanilla.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grad_noise: shapleyfl0.550·fedif0.527 최고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  &gt; flirds_mult0.433 (vanilla 0.245).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label_flip: flirds_mult0.585 최고.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free_rider: fedif AUROC0.996, flirds0.385(약).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→ soft(mult) &gt; hard(select). robust+무해,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  정확도 최고는 위협별로 갈림.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algun Gothic"/>
              </a:rPr>
              <a:t>free-rider(zero-delta) AUROC가 N=100 CNN서 낮음(0.33–0.48) — LLM(1.0)과 상충, 미해결(한계 참조). FMNIST·strength sweep 동일 경향. 출처: RESULTS.txt.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31089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17508C"/>
                </a:solidFill>
                <a:latin typeface="Malgun Gothic"/>
              </a:rPr>
              <a:t>2차-① PERFORMANCE · ② CONVERGENCE · LLM 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algun Gothic"/>
              </a:rPr>
              <a:t>intervention arm — MMLU · ROUGE-L · 수렴 (standard 1B N=20)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17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508760"/>
          <a:ext cx="7498076" cy="294436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79884"/>
                <a:gridCol w="1677201"/>
                <a:gridCol w="1183907"/>
                <a:gridCol w="1578542"/>
                <a:gridCol w="1578542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7508C"/>
                          </a:solidFill>
                          <a:latin typeface="Malgun Gothic"/>
                        </a:rPr>
                        <a:t>arm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7508C"/>
                          </a:solidFill>
                          <a:latin typeface="Malgun Gothic"/>
                        </a:rPr>
                        <a:t>MMLU (0-shot)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7508C"/>
                          </a:solidFill>
                          <a:latin typeface="Malgun Gothic"/>
                        </a:rPr>
                        <a:t>ROUGE-L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7508C"/>
                          </a:solidFill>
                          <a:latin typeface="Malgun Gothic"/>
                        </a:rPr>
                        <a:t>final val-loss ↓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7508C"/>
                          </a:solidFill>
                          <a:latin typeface="Malgun Gothic"/>
                        </a:rPr>
                        <a:t>rounds→target ↓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Malgun Gothic"/>
                        </a:rPr>
                        <a:t>base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0.4822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0.2168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–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–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Malgun Gothic"/>
                        </a:rPr>
                        <a:t>vanilla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0.4742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0.2841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1.2653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200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Malgun Gothic"/>
                        </a:rPr>
                        <a:t>flirds_w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0.4745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0.2848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1.2653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199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Malgun Gothic"/>
                        </a:rPr>
                        <a:t>flirds_sel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0.4739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0.2838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1.2654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199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Malgun Gothic"/>
                        </a:rPr>
                        <a:t>shapleyfl_w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0.4742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0.2845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1.2653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199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Malgun Gothic"/>
                        </a:rPr>
                        <a:t>fedif_w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0.4741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0.2847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1.2652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198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1481328"/>
            <a:ext cx="347472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명세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Llama-3.2-1B / alpaca-gpt4 20k (IID)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standard N=20, 2/round · R=200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10 steps×batch16 · lr1e-3 · seq512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arm 6종 · 3 seed · clean·IID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3B는 N=20 intervention 미실행(N=5 reference만)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/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지표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MMLU(0-shot) ↑ · ROUGE-L ↑   ① Performance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final val-loss ↓ · rounds→target ↓   ② Convergence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/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읽기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A1A1A"/>
                </a:solidFill>
                <a:latin typeface="Malgun Gothic"/>
              </a:rPr>
              <a:t>base = 학습 전. FL-SFT 후 ROUGE-L +0.067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  (0.217→0.284), MMLU −0.008.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전 weighting arm ≈ vanilla (±0.001, ±1라운드).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→ clean·IID서 do-no-harm parity 확인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  (고칠 오염 없을 때 성능·수렴 무해).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algun Gothic"/>
              </a:rPr>
              <a:t>rounds-to-target = 검증손실 목표 도달 라운드(전 arm ~199/200). reference(N=5, 1B·3B)도 동일 parity. 출처: 재집계.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31089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17508C"/>
                </a:solidFill>
                <a:latin typeface="Malgun Gothic"/>
              </a:rPr>
              <a:t>2차-③ DETECTION · LLM CROSS-SILO (N=5, 1B)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algun Gothic"/>
              </a:rPr>
              <a:t>오염 클라 탐지 AUROC (Non-IID 5도메인)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17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7589519" cy="396849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86560"/>
                <a:gridCol w="992094"/>
                <a:gridCol w="992094"/>
                <a:gridCol w="992094"/>
                <a:gridCol w="992094"/>
                <a:gridCol w="942489"/>
                <a:gridCol w="992094"/>
              </a:tblGrid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19" b="1">
                          <a:solidFill>
                            <a:srgbClr val="17508C"/>
                          </a:solidFill>
                          <a:latin typeface="Malgun Gothic"/>
                        </a:rPr>
                        <a:t>방법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1">
                          <a:solidFill>
                            <a:srgbClr val="17508C"/>
                          </a:solidFill>
                          <a:latin typeface="Malgun Gothic"/>
                        </a:rPr>
                        <a:t>noisy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1">
                          <a:solidFill>
                            <a:srgbClr val="17508C"/>
                          </a:solidFill>
                          <a:latin typeface="Malgun Gothic"/>
                        </a:rPr>
                        <a:t>fr-rand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1">
                          <a:solidFill>
                            <a:srgbClr val="17508C"/>
                          </a:solidFill>
                          <a:latin typeface="Malgun Gothic"/>
                        </a:rPr>
                        <a:t>fr-zero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1">
                          <a:solidFill>
                            <a:srgbClr val="17508C"/>
                          </a:solidFill>
                          <a:latin typeface="Malgun Gothic"/>
                        </a:rPr>
                        <a:t>poison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1">
                          <a:solidFill>
                            <a:srgbClr val="17508C"/>
                          </a:solidFill>
                          <a:latin typeface="Malgun Gothic"/>
                        </a:rPr>
                        <a:t>평균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1">
                          <a:solidFill>
                            <a:srgbClr val="17508C"/>
                          </a:solidFill>
                          <a:latin typeface="Malgun Gothic"/>
                        </a:rPr>
                        <a:t>런타임 ↓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in-run oracle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532s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Flirds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0.917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0.979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106s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Flirds1st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0.750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35s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FedIF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35s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GTG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538s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FedSV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533s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ShapleyFL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530s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Banzhaf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533s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loss-heur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164s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FLDetector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0.750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0.750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0.875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30s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STD-DAGMM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0.417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0.250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0.750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0.604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136s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FLTrust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36s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FedDQC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0.917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0.750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0.750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0.854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Malgun Gothic"/>
                        </a:rPr>
                        <a:t>22s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75320" y="1417320"/>
            <a:ext cx="347472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명세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Llama-3.2-1B(+3B) LoRA · N=5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1 도메인/클라 → Non-IID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R=10 · val=100 · lr1e-3(poison 2e-3)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fp32 · eager · 3 seed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위협: noisy(품질)/fr(zero,random)/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        poison(백도어 스케일교체)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/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지표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AUROC ↑ (오염=높은 의심점수 분리, 1.0=완전)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평균 = 4위협 단순평균 · 런타임 ↓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fidelity(ρ)는 1차 Fidelity · LLM scale 페이지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/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읽기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A1A1A"/>
                </a:solidFill>
                <a:latin typeface="Malgun Gothic"/>
              </a:rPr>
              <a:t>noisy·free-rider: 전 valuation AUROC 1.0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  (N=5 near-additive); 우위 = 비용.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poison ASR≈1.0: Flirds-1st 0.000 완전회피 →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  2차 0.917 회복(불안정). loss-heur·전 탐지기 1.0.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algun Gothic"/>
              </a:rPr>
              <a:t>poison Flirds(2차)는 run간 비결정(동일 config·seed서 0.42↔0.92). 평균=4위협 단순평균(참고용). 출처: RESULTS.md. 내부코드 cross-silo=silo5.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31089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17508C"/>
                </a:solidFill>
                <a:latin typeface="Malgun Gothic"/>
              </a:rPr>
              <a:t>2차-③ DETECTION · LLM CROSS-DEVICE (N=100, 1B)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algun Gothic"/>
              </a:rPr>
              <a:t>α-sweep 탐지 AUROC (α = 분할 이질성)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17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89888"/>
            <a:ext cx="5943600" cy="27432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 algn="l"/>
            <a:r>
              <a:rPr sz="1150" b="1">
                <a:solidFill>
                  <a:srgbClr val="17508C"/>
                </a:solidFill>
                <a:latin typeface="Malgun Gothic"/>
              </a:rPr>
              <a:t>noisy 탐지 AUROC ↑  (α-sweep)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82496"/>
          <a:ext cx="5989318" cy="259689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350974"/>
                <a:gridCol w="765552"/>
                <a:gridCol w="765552"/>
                <a:gridCol w="765552"/>
                <a:gridCol w="765552"/>
                <a:gridCol w="765552"/>
                <a:gridCol w="810584"/>
              </a:tblGrid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방법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α=0.0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α=0.01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α=0.1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α=0.5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α=5.0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평균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Flirds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0.774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0.575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0.605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0.604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0.596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0.631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FedIF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0.973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0.568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0.693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0.830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0.973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0.807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STD-DAGMM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0.856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0.652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0.659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0.671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0.760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0.720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FLTrust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0.602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0.720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0.854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0.994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0.834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FedDQC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0.960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0.992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FLDetector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0.535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0.482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0.525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0.539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0.532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0.523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ComFedSV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0.442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0.419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0.432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0.371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0.396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0.412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75120" y="1389888"/>
            <a:ext cx="5029200" cy="27432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 algn="l"/>
            <a:r>
              <a:rPr sz="1150" b="1">
                <a:solidFill>
                  <a:srgbClr val="17508C"/>
                </a:solidFill>
                <a:latin typeface="Malgun Gothic"/>
              </a:rPr>
              <a:t>poison 탐지 AUROC ↑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675120" y="1682496"/>
          <a:ext cx="5029197" cy="275691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946787"/>
                <a:gridCol w="1027470"/>
                <a:gridCol w="1027470"/>
                <a:gridCol w="1027470"/>
              </a:tblGrid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방법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α=0.0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α=0.5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평균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Flirds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Flirds1st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0.670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0.835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loss-heur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FLDetector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0.987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0.983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0.985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STD-DAGMM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0.983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0.992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FedDQC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FLTrust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0.650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0.498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0.574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FedIF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0.542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0.458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526280"/>
            <a:ext cx="630936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60" b="1">
                <a:solidFill>
                  <a:srgbClr val="17508C"/>
                </a:solidFill>
                <a:latin typeface="Malgun Gothic"/>
              </a:rPr>
              <a:t>명세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· Llama-3.2-1B LoRA · N=100, K=10/round · R=30 · 1–3 seed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· 분할 = per-client Dirichlet(α), α∈{0,0.01,0.1,0.5,5.0}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60" b="1">
                <a:solidFill>
                  <a:srgbClr val="17508C"/>
                </a:solidFill>
                <a:latin typeface="Malgun Gothic"/>
              </a:rPr>
              <a:t>· α = 분할 이질성: α→0 도메인 분리(극단 Non-IID),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60" b="1">
                <a:solidFill>
                  <a:srgbClr val="17508C"/>
                </a:solidFill>
                <a:latin typeface="Malgun Gothic"/>
              </a:rPr>
              <a:t>   α→∞ 균일혼합(IID). α=5.0 ≈ near-IID.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4526280"/>
            <a:ext cx="461772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60" b="1">
                <a:solidFill>
                  <a:srgbClr val="17508C"/>
                </a:solidFill>
                <a:latin typeface="Malgun Gothic"/>
              </a:rPr>
              <a:t>읽기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free-rider(random·zero, 전 α): Flirds·1차·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  loss-heur·FLTrust = 1.000.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noisy: FedDQC 영역(스케일 1.0), Flirds ~0.60.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60" b="1">
                <a:solidFill>
                  <a:srgbClr val="17508C"/>
                </a:solidFill>
                <a:latin typeface="Malgun Gothic"/>
              </a:rPr>
              <a:t>poison(install): Flirds 1.0(both α), 1차도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60" b="1">
                <a:solidFill>
                  <a:srgbClr val="17508C"/>
                </a:solidFill>
                <a:latin typeface="Malgun Gothic"/>
              </a:rPr>
              <a:t>  α=0서 1.0 — 1차가 회피되지 않음.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algun Gothic"/>
              </a:rPr>
              <a:t>fidelity(ρ α=0.5)는 1차 Fidelity · LLM scale 페이지. cross-device φ는 선택된 클라만 기록(~96–98/100). 출처: RESULTS.md. 내부코드 device100.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31089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17508C"/>
                </a:solidFill>
                <a:latin typeface="Malgun Gothic"/>
              </a:rPr>
              <a:t>2차-③ DETECTION · LLM 3B (N=5)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algun Gothic"/>
              </a:rPr>
              <a:t>Llama-3.2-3B 탐지 AUROC (Non-IID 5도메인)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17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63040"/>
          <a:ext cx="7589519" cy="3657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86560"/>
                <a:gridCol w="992094"/>
                <a:gridCol w="992094"/>
                <a:gridCol w="992094"/>
                <a:gridCol w="992094"/>
                <a:gridCol w="942489"/>
                <a:gridCol w="992094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방법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noisy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fr-rand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fr-zero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poison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평균 ↑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1">
                          <a:solidFill>
                            <a:srgbClr val="17508C"/>
                          </a:solidFill>
                          <a:latin typeface="Malgun Gothic"/>
                        </a:rPr>
                        <a:t>런타임 ↓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in-run oracle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1240s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Flirds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0.750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251s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Flirds1st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0.750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82s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FedIF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82s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loss-heur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384s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FLDetector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250s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STD-DAGMM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0.250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0.750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0.500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530s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FLTrust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85s</a:t>
                      </a:r>
                    </a:p>
                  </a:txBody>
                  <a:tcPr marL="50800" marR="50800" marT="19050" marB="19050"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FedDQC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0.750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0.750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1.000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0.875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60" b="0">
                          <a:solidFill>
                            <a:srgbClr val="1A1A1A"/>
                          </a:solidFill>
                          <a:latin typeface="Malgun Gothic"/>
                        </a:rPr>
                        <a:t>49s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75320" y="1463040"/>
            <a:ext cx="347472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명세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Llama-3.2-3B LoRA · cross-silo N=5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Non-IID(도메인 분리) · R=10 · seed 1개(잠정)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· 비싼 method(Banzhaf/GTG/FedSV/ShapleyFL)는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  3B서 비용상 미실행(적용범위 표)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/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지표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AUROC ↑ · 평균=4위협 단순 · 런타임 ↓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fidelity(ρ)는 1차 Fidelity · LLM scale 페이지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/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읽기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A1A1A"/>
                </a:solidFill>
                <a:latin typeface="Malgun Gothic"/>
              </a:rPr>
              <a:t>noisy·fr: Flirds AUROC 1.0(1B→3B 유지),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  251s vs in-run oracle 1240s (~5× ↓).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poison: Flirds·1차 모두 0.000 — 1B의 2차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1">
                <a:solidFill>
                  <a:srgbClr val="17508C"/>
                </a:solidFill>
                <a:latin typeface="Malgun Gothic"/>
              </a:rPr>
              <a:t>  회복이 3B(1seed)선 안 나타남(미확정).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555555"/>
                </a:solidFill>
                <a:latin typeface="Malgun Gothic"/>
              </a:rPr>
              <a:t>CNN 탐지(N=100): intervention arm의 누적 점수로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40" b="0">
                <a:solidFill>
                  <a:srgbClr val="555555"/>
                </a:solidFill>
                <a:latin typeface="Malgun Gothic"/>
              </a:rPr>
              <a:t>  측정(전용 탐지기 4종 미사용) — under-threat 페이지 괄호값.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algun Gothic"/>
              </a:rPr>
              <a:t>3B는 seed 1개 → 잠정. 7B·N=10 retrain oracle은 설계상 deferred(ⓒ). 출처: RESULTS.md.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31089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17508C"/>
                </a:solidFill>
                <a:latin typeface="Malgun Gothic"/>
              </a:rPr>
              <a:t>2차 실효성 · 종합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algun Gothic"/>
              </a:rPr>
              <a:t>① Performance → ② Convergence → ③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17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11183111" cy="3657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97587"/>
                <a:gridCol w="9585524"/>
              </a:tblGrid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130" b="1">
                          <a:solidFill>
                            <a:srgbClr val="17508C"/>
                          </a:solidFill>
                          <a:latin typeface="Malgun Gothic"/>
                        </a:rPr>
                        <a:t>질문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30" b="1">
                          <a:solidFill>
                            <a:srgbClr val="17508C"/>
                          </a:solidFill>
                          <a:latin typeface="Malgun Gothic"/>
                        </a:rPr>
                        <a:t>요약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130" b="1">
                          <a:solidFill>
                            <a:srgbClr val="1A1A1A"/>
                          </a:solidFill>
                          <a:latin typeface="Malgun Gothic"/>
                        </a:rPr>
                        <a:t>① Performance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30" b="0">
                          <a:solidFill>
                            <a:srgbClr val="1A1A1A"/>
                          </a:solidFill>
                          <a:latin typeface="Malgun Gothic"/>
                        </a:rPr>
                        <a:t>under threat 전 weighting arm &gt; vanilla(이미지, 전 분할). clean/IID는 무해 parity(이미지·LLM). 정확도 최고는 위협별로 갈림 — grad_noise서 shapleyfl/fedif, label_flip서 flirds. soft&gt;hard. 분할 난이도(shard≪iid)가 절대성능을 지배.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130" b="1">
                          <a:solidFill>
                            <a:srgbClr val="1A1A1A"/>
                          </a:solidFill>
                          <a:latin typeface="Malgun Gothic"/>
                        </a:rPr>
                        <a:t>② Convergence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30" b="0">
                          <a:solidFill>
                            <a:srgbClr val="1A1A1A"/>
                          </a:solidFill>
                          <a:latin typeface="Malgun Gothic"/>
                        </a:rPr>
                        <a:t>IID·clean(LLM standard)서 전 arm 동일 수렴(rounds→target ~199/200, parity). 고칠 오염 없을 때 가중이 수렴을 해치지 않음.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130" b="1">
                          <a:solidFill>
                            <a:srgbClr val="1A1A1A"/>
                          </a:solidFill>
                          <a:latin typeface="Malgun Gothic"/>
                        </a:rPr>
                        <a:t>③ Detection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30" b="0">
                          <a:solidFill>
                            <a:srgbClr val="1A1A1A"/>
                          </a:solidFill>
                          <a:latin typeface="Malgun Gothic"/>
                        </a:rPr>
                        <a:t>free-rider: LLM AUROC 1.0(전 α)이나 N=100 CNN서 0.4(상충, 한계). noisy: FedDQC 영역(1.0), Flirds ~0.6. poison: 1차 회피→2차 부분회복(1B)·실패(3B); loss-heur·전 탐지기 1.0.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440680"/>
            <a:ext cx="1115568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1A1A1A"/>
                </a:solidFill>
                <a:latin typeface="Malgun Gothic"/>
              </a:rPr>
              <a:t>Detection은 위계상 마지막 — 기여도≠탐지. clean-val-loss를 낮추는 공격자를 φ가 '기여 높음'으로 보는 것은 valuation의 정직한 답이며,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>  바로 그 지점(clean-preserving poison)이 valuation 접근의 경계다 (한계 페이지).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31089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>
                <a:solidFill>
                  <a:srgbClr val="17508C"/>
                </a:solidFill>
                <a:latin typeface="Malgun Gothic"/>
              </a:rPr>
              <a:t>한계 · 미해결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algun Gothic"/>
              </a:rPr>
              <a:t>솔직한 항목 (같은 톤으로)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20320"/>
          </a:xfrm>
          <a:prstGeom prst="rect">
            <a:avLst/>
          </a:prstGeom>
          <a:solidFill>
            <a:srgbClr val="17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11183111" cy="3657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24791"/>
                <a:gridCol w="1230142"/>
                <a:gridCol w="7828178"/>
              </a:tblGrid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7508C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7508C"/>
                          </a:solidFill>
                          <a:latin typeface="Malgun Gothic"/>
                        </a:rPr>
                        <a:t>상태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7508C"/>
                          </a:solidFill>
                          <a:latin typeface="Malgun Gothic"/>
                        </a:rPr>
                        <a:t>내용</a:t>
                      </a:r>
                    </a:p>
                  </a:txBody>
                  <a:tcPr marL="50800" marR="50800" marT="19050" marB="19050" anchor="ctr">
                    <a:solidFill>
                      <a:srgbClr val="EFEFE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Malgun Gothic"/>
                        </a:rPr>
                        <a:t>오라클 게임 괴리 (retrain↔in-run)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ⓑ 실측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label_skew(이질성)서 in-run φ가 재학습 가치와 역상관. 모든 in-run 방법 공유. 프레이밍 필요.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Malgun Gothic"/>
                        </a:rPr>
                        <a:t>free-rider 탐지 상충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ⓑ 미해결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동일 zero-delta가 LLM AUROC 1.0 vs N=100 CNN 0.4(IID칸 포함). 버그 배제용 드릴다운 필요.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Malgun Gothic"/>
                        </a:rPr>
                        <a:t>poison 2차 불안정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ⓑ 잠정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1B서 1차 회피(0.000)→2차 부분회복하나 run간 0.42↔0.92(동일 config·seed). 3B(1seed)선 회복 실패.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Malgun Gothic"/>
                        </a:rPr>
                        <a:t>미실행 (deferred)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ⓒ 미실행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LLM standard 7B · LLM N=10 retrain oracle · 7B robustness 전반 — 설계상 보류 (3B standard는 완료).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212080"/>
            <a:ext cx="1115568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A1A1A"/>
                </a:solidFill>
                <a:latin typeface="Malgun Gothic"/>
              </a:rPr>
              <a:t>다음 단계 (제안)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>  1차: 오라클 게임 괴리(retrain↔in-run) 규명(φ 직접 분석, 희귀라벨 가설) — 핵심질문 위계상 우선.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>  병행: free-rider CNN-vs-LLM 상충 드릴다운(버그/실재 판별) · poison 2차 비결정성 재현 확인.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algun Gothic"/>
              </a:rPr>
              <a:t>ⓐ구현 ⓑ실측 ⓒ미실행. 잠정·미해결치도 결과와 같은 비중으로 기재.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