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126" y="10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99339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dirty="0" err="1">
                <a:solidFill>
                  <a:srgbClr val="B07010"/>
                </a:solidFill>
                <a:latin typeface="Noto Sans CJK KR"/>
                <a:ea typeface="Noto Sans CJK KR"/>
                <a:cs typeface="Noto Sans CJK KR"/>
              </a:rPr>
              <a:t>연구</a:t>
            </a:r>
            <a:r>
              <a:rPr sz="1300" b="1" i="0" dirty="0">
                <a:solidFill>
                  <a:srgbClr val="B07010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300" b="1" i="0" dirty="0" err="1">
                <a:solidFill>
                  <a:srgbClr val="B07010"/>
                </a:solidFill>
                <a:latin typeface="Noto Sans CJK KR"/>
                <a:ea typeface="Noto Sans CJK KR"/>
                <a:cs typeface="Noto Sans CJK KR"/>
              </a:rPr>
              <a:t>진행</a:t>
            </a:r>
            <a:r>
              <a:rPr sz="1300" b="1" i="0" dirty="0">
                <a:solidFill>
                  <a:srgbClr val="B07010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300" b="1" i="0" dirty="0" err="1">
                <a:solidFill>
                  <a:srgbClr val="B07010"/>
                </a:solidFill>
                <a:latin typeface="Noto Sans CJK KR"/>
                <a:ea typeface="Noto Sans CJK KR"/>
                <a:cs typeface="Noto Sans CJK KR"/>
              </a:rPr>
              <a:t>보고</a:t>
            </a:r>
            <a:r>
              <a:rPr sz="1300" b="1" i="0" dirty="0">
                <a:solidFill>
                  <a:srgbClr val="B07010"/>
                </a:solidFill>
                <a:latin typeface="Noto Sans CJK KR"/>
                <a:ea typeface="Noto Sans CJK KR"/>
                <a:cs typeface="Noto Sans CJK KR"/>
              </a:rPr>
              <a:t>   ·   2026-06-04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33172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Flirds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56432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 i="0">
                <a:solidFill>
                  <a:srgbClr val="CED8E6"/>
                </a:solidFill>
                <a:latin typeface="Noto Sans CJK KR"/>
                <a:ea typeface="Noto Sans CJK KR"/>
                <a:cs typeface="Noto Sans CJK KR"/>
              </a:rPr>
              <a:t>Federated Learning  +  In-Run Data Shapley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4078224"/>
            <a:ext cx="1828800" cy="41148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4341614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dirty="0" err="1">
                <a:solidFill>
                  <a:srgbClr val="96A5BC"/>
                </a:solidFill>
                <a:latin typeface="Noto Sans CJK KR"/>
                <a:ea typeface="Noto Sans CJK KR"/>
                <a:cs typeface="Noto Sans CJK KR"/>
              </a:rPr>
              <a:t>Yonghee</a:t>
            </a:r>
            <a:r>
              <a:rPr sz="1200" b="0" i="0" dirty="0">
                <a:solidFill>
                  <a:srgbClr val="96A5BC"/>
                </a:solidFill>
                <a:latin typeface="Noto Sans CJK KR"/>
                <a:ea typeface="Noto Sans CJK KR"/>
                <a:cs typeface="Noto Sans CJK KR"/>
              </a:rPr>
              <a:t> Choi  ·  Edge AI Lab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한눈에 보기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777240" cy="47548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66928" y="1417320"/>
                <a:ext cx="5532120" cy="3221972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246888" indent="-246888" algn="l">
                  <a:lnSpc>
                    <a:spcPct val="105000"/>
                  </a:lnSpc>
                  <a:spcBef>
                    <a:spcPts val="0"/>
                  </a:spcBef>
                </a:pPr>
                <a:r>
                  <a:rPr lang="en-US" altLang="ko-KR" sz="1250" b="1" i="0" dirty="0">
                    <a:solidFill>
                      <a:srgbClr val="1E4E79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lang="ko-KR" altLang="en-US" sz="1250" b="1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무엇</a:t>
                </a:r>
                <a:endParaRPr lang="ko-KR" altLang="en-US" sz="1250" b="1" i="0" dirty="0">
                  <a:solidFill>
                    <a:srgbClr val="0F172A"/>
                  </a:solidFill>
                  <a:latin typeface="Noto Sans CJK KR"/>
                  <a:ea typeface="Noto Sans CJK KR"/>
                  <a:cs typeface="Noto Sans CJK KR"/>
                </a:endParaRPr>
              </a:p>
              <a:p>
                <a:pPr marL="246888" indent="-246888" algn="l">
                  <a:lnSpc>
                    <a:spcPct val="105000"/>
                  </a:lnSpc>
                  <a:spcBef>
                    <a:spcPts val="0"/>
                  </a:spcBef>
                </a:pPr>
                <a:r>
                  <a:rPr lang="ko-KR" altLang="en-US" sz="1250" b="1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	</a:t>
                </a:r>
                <a:r>
                  <a:rPr lang="en-US" altLang="ko-KR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FL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에서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en-US" altLang="ko-KR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client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별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데이터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기여도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2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bPr>
                      <m:e>
                        <m:r>
                          <a:rPr lang="ko-KR" altLang="en-US" sz="12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𝜑</m:t>
                        </m:r>
                      </m:e>
                      <m:sub>
                        <m:r>
                          <a:rPr lang="ko-KR" altLang="en-US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를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측정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  <a:endParaRPr lang="ko-KR" altLang="en-US" sz="1250" b="0" i="0" dirty="0">
                  <a:solidFill>
                    <a:srgbClr val="0F172A"/>
                  </a:solidFill>
                  <a:latin typeface="Noto Sans CJK KR"/>
                  <a:ea typeface="Noto Sans CJK KR"/>
                  <a:cs typeface="Noto Sans CJK KR"/>
                </a:endParaRPr>
              </a:p>
              <a:p>
                <a:pPr marL="246888" indent="-246888" algn="l">
                  <a:lnSpc>
                    <a:spcPct val="105000"/>
                  </a:lnSpc>
                  <a:spcBef>
                    <a:spcPts val="0"/>
                  </a:spcBef>
                </a:pPr>
                <a:r>
                  <a:rPr lang="ko-KR" altLang="en-US" sz="125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	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IRDS(In-Run Data Shapley)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를 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FL + </a:t>
                </a:r>
                <a:r>
                  <a:rPr lang="en-US" altLang="ko-KR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LoRA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(PEFT)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로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확장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700"/>
                  </a:spcBef>
                </a:pPr>
                <a:r>
                  <a:rPr lang="en-US" altLang="ko-KR" sz="1250" b="1" i="0" dirty="0">
                    <a:solidFill>
                      <a:srgbClr val="1E4E79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lang="ko-KR" altLang="en-US" sz="1250" b="1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어떻게</a:t>
                </a:r>
                <a:endParaRPr lang="ko-KR" altLang="en-US" sz="1250" b="1" i="0" dirty="0">
                  <a:solidFill>
                    <a:srgbClr val="0F172A"/>
                  </a:solidFill>
                  <a:latin typeface="Noto Sans CJK KR"/>
                  <a:ea typeface="Noto Sans CJK KR"/>
                  <a:cs typeface="Noto Sans CJK KR"/>
                </a:endParaRPr>
              </a:p>
              <a:p>
                <a:pPr marL="246888" indent="-246888" algn="l">
                  <a:lnSpc>
                    <a:spcPct val="105000"/>
                  </a:lnSpc>
                  <a:spcBef>
                    <a:spcPts val="700"/>
                  </a:spcBef>
                </a:pPr>
                <a:r>
                  <a:rPr lang="ko-KR" altLang="en-US" sz="1250" b="1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	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라운드별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검증손실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변화의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1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차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+2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차 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Taylor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닫힌형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700"/>
                  </a:spcBef>
                </a:pPr>
                <a:r>
                  <a:rPr lang="en-US" altLang="ko-KR" sz="125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250" b="0" i="0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Δ</m:t>
                    </m:r>
                    <m:sSub>
                      <m:sSubPr>
                        <m:ctrlPr>
                          <a:rPr lang="ko-KR" altLang="en-US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bPr>
                      <m:e>
                        <m:r>
                          <a:rPr lang="ko-KR" altLang="en-US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𝑤</m:t>
                        </m:r>
                      </m:e>
                      <m:sub>
                        <m:r>
                          <a:rPr lang="ko-KR" altLang="en-US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만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사용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→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통신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추가비용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0.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700"/>
                  </a:spcBef>
                </a:pPr>
                <a:r>
                  <a:rPr lang="en-US" altLang="ko-KR" sz="1250" b="1" i="0" dirty="0">
                    <a:solidFill>
                      <a:srgbClr val="1E4E79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lang="ko-KR" altLang="en-US" sz="1250" b="1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강점</a:t>
                </a:r>
                <a:endParaRPr lang="en-US" altLang="ko-KR" sz="1250" b="1" i="0" dirty="0">
                  <a:solidFill>
                    <a:srgbClr val="0F172A"/>
                  </a:solidFill>
                  <a:latin typeface="Noto Sans CJK KR"/>
                  <a:ea typeface="Noto Sans CJK KR"/>
                  <a:cs typeface="Noto Sans CJK KR"/>
                </a:endParaRPr>
              </a:p>
              <a:p>
                <a:pPr marL="246888" indent="-246888" algn="l">
                  <a:lnSpc>
                    <a:spcPct val="105000"/>
                  </a:lnSpc>
                  <a:spcBef>
                    <a:spcPts val="700"/>
                  </a:spcBef>
                </a:pPr>
                <a:r>
                  <a:rPr lang="en-US" altLang="ko-KR" sz="1250" b="1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	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역헤시안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없이 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forward HVP(</a:t>
                </a:r>
                <a14:m>
                  <m:oMath xmlns:m="http://schemas.openxmlformats.org/officeDocument/2006/math">
                    <m:r>
                      <a:rPr lang="ko-KR" altLang="en-US" sz="1250" b="0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𝐻</m:t>
                    </m:r>
                    <m:r>
                      <a:rPr lang="en-US" altLang="ko-KR" sz="1250" b="0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·</m:t>
                    </m:r>
                    <m:r>
                      <m:rPr>
                        <m:sty m:val="p"/>
                      </m:rPr>
                      <a:rPr lang="en-US" altLang="ko-KR" sz="1250" b="0" i="0" dirty="0" err="1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Δ</m:t>
                    </m:r>
                    <m:r>
                      <a:rPr lang="ko-KR" altLang="en-US" sz="1250" b="0" i="1" dirty="0" err="1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𝑤</m:t>
                    </m:r>
                  </m:oMath>
                </a14:m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).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700"/>
                  </a:spcBef>
                </a:pPr>
                <a:r>
                  <a:rPr lang="en-US" altLang="ko-KR" sz="125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	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LLM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에서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en-US" altLang="ko-KR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IF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가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무너지는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원인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(</a:t>
                </a:r>
                <a:r>
                  <a:rPr lang="en-US" altLang="ko-KR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iHVP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collapse)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을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구조적으로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회피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700"/>
                  </a:spcBef>
                </a:pPr>
                <a:r>
                  <a:rPr lang="en-US" altLang="ko-KR" sz="1250" b="1" i="0" dirty="0">
                    <a:solidFill>
                      <a:srgbClr val="1E4E79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lang="en-US" altLang="ko-KR" sz="1250" b="1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novelty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700"/>
                  </a:spcBef>
                </a:pPr>
                <a:r>
                  <a:rPr lang="en-US" altLang="ko-KR" sz="1250" b="1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	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client-level + in-run + 1·2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차 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Taylor + HVP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상호작용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+ zero-comm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700"/>
                  </a:spcBef>
                </a:pPr>
                <a:r>
                  <a:rPr lang="en-US" altLang="ko-KR" sz="125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	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+ </a:t>
                </a:r>
                <a:r>
                  <a:rPr lang="en-US" altLang="ko-KR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LoRA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/LLM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교집합이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prior </a:t>
                </a:r>
                <a:r>
                  <a:rPr lang="en-US" altLang="ko-KR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art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에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비어</a:t>
                </a:r>
                <a:r>
                  <a:rPr lang="ko-KR" altLang="en-US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lang="ko-KR" altLang="en-US"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있음</a:t>
                </a:r>
                <a:r>
                  <a:rPr lang="en-US" altLang="ko-KR"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  <a:endParaRPr sz="1250" b="0" i="0" dirty="0">
                  <a:solidFill>
                    <a:srgbClr val="0F172A"/>
                  </a:solidFill>
                  <a:latin typeface="Noto Sans CJK KR"/>
                  <a:ea typeface="Noto Sans CJK KR"/>
                  <a:cs typeface="Noto Sans CJK KR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28" y="1417320"/>
                <a:ext cx="5532120" cy="3221972"/>
              </a:xfrm>
              <a:prstGeom prst="rect">
                <a:avLst/>
              </a:prstGeom>
              <a:blipFill>
                <a:blip r:embed="rId2"/>
                <a:stretch>
                  <a:fillRect l="-1762" t="-1894" b="-208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6446520" y="137160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현재 위치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1773936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79208" y="1755648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Phase 0 — CNN baseline 4종 재현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2340864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2322576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Phase 0.5 — estimator + dual oracle · 전 게이트 green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2907792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B07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진행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9208" y="2889504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Phase 1 — LLM 1B · 5단계 빌드+검증 · SMOKE green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3474720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5A64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예정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9208" y="3456432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Phase 2 / 3 — full baseline · 실험 매트릭스 실행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32120"/>
            <a:ext cx="11057839" cy="713232"/>
          </a:xfrm>
          <a:prstGeom prst="roundRect">
            <a:avLst>
              <a:gd name="adj" fmla="val 4500"/>
            </a:avLst>
          </a:prstGeom>
          <a:solidFill>
            <a:srgbClr val="112640"/>
          </a:solidFill>
          <a:ln w="9525">
            <a:solidFill>
              <a:srgbClr val="11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>
              <a:lnSpc>
                <a:spcPct val="100000"/>
              </a:lnSpc>
            </a:pPr>
            <a:r>
              <a:rPr sz="1100" b="1" i="0" dirty="0" err="1">
                <a:solidFill>
                  <a:srgbClr val="B07010"/>
                </a:solidFill>
                <a:latin typeface="Noto Sans CJK KR"/>
                <a:ea typeface="Noto Sans CJK KR"/>
                <a:cs typeface="Noto Sans CJK KR"/>
              </a:rPr>
              <a:t>다음</a:t>
            </a:r>
            <a:r>
              <a:rPr sz="1100" b="1" i="0" dirty="0">
                <a:solidFill>
                  <a:srgbClr val="B07010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100" b="1" i="0" dirty="0" err="1">
                <a:solidFill>
                  <a:srgbClr val="B07010"/>
                </a:solidFill>
                <a:latin typeface="Noto Sans CJK KR"/>
                <a:ea typeface="Noto Sans CJK KR"/>
                <a:cs typeface="Noto Sans CJK KR"/>
              </a:rPr>
              <a:t>액션</a:t>
            </a:r>
            <a:endParaRPr sz="1100" b="1" i="0" dirty="0">
              <a:solidFill>
                <a:srgbClr val="B07010"/>
              </a:solidFill>
              <a:latin typeface="Noto Sans CJK KR"/>
              <a:ea typeface="Noto Sans CJK KR"/>
              <a:cs typeface="Noto Sans CJK KR"/>
            </a:endParaRP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350" b="1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1B FULL clean run </a:t>
            </a:r>
            <a:r>
              <a:rPr sz="1350" b="1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실행</a:t>
            </a:r>
            <a:r>
              <a:rPr sz="1350" b="1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 (MINI de-risk </a:t>
            </a:r>
            <a:r>
              <a:rPr sz="1350" b="1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먼저</a:t>
            </a:r>
            <a:r>
              <a:rPr sz="1350" b="1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, ~5–7h) → </a:t>
            </a:r>
            <a:r>
              <a:rPr sz="1350" b="1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이후</a:t>
            </a:r>
            <a:r>
              <a:rPr sz="1350" b="1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 SV baselines LLM </a:t>
            </a:r>
            <a:r>
              <a:rPr sz="1350" b="1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이식</a:t>
            </a:r>
            <a:r>
              <a:rPr sz="1350" b="1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 → Phase 2/3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419088"/>
            <a:ext cx="11057839" cy="10058"/>
          </a:xfrm>
          <a:prstGeom prst="rect">
            <a:avLst/>
          </a:prstGeom>
          <a:solidFill>
            <a:srgbClr val="D4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Flirds · 연구 진행 보고 · 2026-06-04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문제 정의 — FL에서 누구의 데이터가 기여했는가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777240" cy="47548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66928" y="1417320"/>
                <a:ext cx="11057839" cy="231025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l">
                  <a:lnSpc>
                    <a:spcPct val="120000"/>
                  </a:lnSpc>
                </a:pP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학습된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FL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모델에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대해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각 client(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데이터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보유자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)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에게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기여도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3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bPr>
                      <m:e>
                        <m:r>
                          <a:rPr lang="ko-KR" altLang="en-US" sz="13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𝜑</m:t>
                        </m:r>
                      </m:e>
                      <m:sub>
                        <m:r>
                          <a:rPr lang="ko-KR" altLang="en-US" sz="13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𝑘</m:t>
                        </m:r>
                      </m:sub>
                    </m:sSub>
                  </m:oMath>
                </a14:m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를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부여한다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용도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: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데이터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가치평가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·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저품질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/free-rider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탐지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·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공정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보상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·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데이터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3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선택</a:t>
                </a:r>
                <a:r>
                  <a:rPr sz="13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28" y="1417320"/>
                <a:ext cx="11057839" cy="231025"/>
              </a:xfrm>
              <a:prstGeom prst="rect">
                <a:avLst/>
              </a:prstGeom>
              <a:blipFill>
                <a:blip r:embed="rId2"/>
                <a:stretch>
                  <a:fillRect l="-937" t="-18919" b="-486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566928" y="2286000"/>
            <a:ext cx="1105783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기존 방법의 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606040"/>
            <a:ext cx="3503066" cy="1371600"/>
          </a:xfrm>
          <a:prstGeom prst="roundRect">
            <a:avLst>
              <a:gd name="adj" fmla="val 4500"/>
            </a:avLst>
          </a:prstGeom>
          <a:solidFill>
            <a:srgbClr val="F1F5F9"/>
          </a:solidFill>
          <a:ln w="9525">
            <a:solidFill>
              <a:srgbClr val="CD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31520" y="2743200"/>
                <a:ext cx="3173882" cy="705001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l">
                  <a:lnSpc>
                    <a:spcPct val="100000"/>
                  </a:lnSpc>
                </a:pPr>
                <a:r>
                  <a:rPr sz="1250" b="1" i="0" dirty="0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Retraining </a:t>
                </a:r>
                <a:r>
                  <a:rPr sz="1250" b="1" i="0" dirty="0" err="1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기반</a:t>
                </a:r>
                <a:r>
                  <a:rPr sz="1250" b="1" i="0" dirty="0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 Shapley</a:t>
                </a:r>
              </a:p>
              <a:p>
                <a:pPr algn="l">
                  <a:lnSpc>
                    <a:spcPct val="112000"/>
                  </a:lnSpc>
                  <a:spcBef>
                    <a:spcPts val="500"/>
                  </a:spcBef>
                </a:pP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U(S)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평가에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1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pPr>
                      <m:e>
                        <m:r>
                          <a:rPr lang="en-US" altLang="ko-KR" sz="11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2</m:t>
                        </m:r>
                      </m:e>
                      <m:sup>
                        <m:r>
                          <a:rPr lang="ko-KR" altLang="en-US" sz="1150" b="0" i="1" dirty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𝑁</m:t>
                        </m:r>
                      </m:sup>
                    </m:sSup>
                  </m:oMath>
                </a14:m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재학습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필요</a:t>
                </a:r>
                <a:endParaRPr lang="en-US" sz="1150" b="0" i="0" dirty="0">
                  <a:solidFill>
                    <a:srgbClr val="0F172A"/>
                  </a:solidFill>
                  <a:latin typeface="Noto Sans CJK KR"/>
                  <a:ea typeface="Noto Sans CJK KR"/>
                  <a:cs typeface="Noto Sans CJK KR"/>
                </a:endParaRPr>
              </a:p>
              <a:p>
                <a:pPr algn="l">
                  <a:lnSpc>
                    <a:spcPct val="112000"/>
                  </a:lnSpc>
                  <a:spcBef>
                    <a:spcPts val="500"/>
                  </a:spcBef>
                </a:pP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→ LLM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스케일에서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불가능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743200"/>
                <a:ext cx="3173882" cy="705001"/>
              </a:xfrm>
              <a:prstGeom prst="rect">
                <a:avLst/>
              </a:prstGeom>
              <a:blipFill>
                <a:blip r:embed="rId3"/>
                <a:stretch>
                  <a:fillRect l="-3071" t="-7759" b="-112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4344314" y="2606040"/>
            <a:ext cx="3503066" cy="1371600"/>
          </a:xfrm>
          <a:prstGeom prst="roundRect">
            <a:avLst>
              <a:gd name="adj" fmla="val 4500"/>
            </a:avLst>
          </a:prstGeom>
          <a:solidFill>
            <a:srgbClr val="F1F5F9"/>
          </a:solidFill>
          <a:ln w="9525">
            <a:solidFill>
              <a:srgbClr val="CD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4508906" y="2743200"/>
                <a:ext cx="3173882" cy="640881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l">
                  <a:lnSpc>
                    <a:spcPct val="100000"/>
                  </a:lnSpc>
                </a:pPr>
                <a:r>
                  <a:rPr sz="1250" b="1" i="0" dirty="0" err="1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통신</a:t>
                </a:r>
                <a:r>
                  <a:rPr sz="1250" b="1" i="0" dirty="0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 / </a:t>
                </a:r>
                <a:r>
                  <a:rPr sz="1250" b="1" i="0" dirty="0" err="1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계산</a:t>
                </a:r>
                <a:r>
                  <a:rPr sz="1250" b="1" i="0" dirty="0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1" i="0" dirty="0" err="1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오버헤드</a:t>
                </a:r>
                <a:endParaRPr sz="1250" b="1" i="0" dirty="0">
                  <a:solidFill>
                    <a:srgbClr val="112640"/>
                  </a:solidFill>
                  <a:latin typeface="Noto Sans CJK KR"/>
                  <a:ea typeface="Noto Sans CJK KR"/>
                  <a:cs typeface="Noto Sans CJK KR"/>
                </a:endParaRPr>
              </a:p>
              <a:p>
                <a:pPr algn="l">
                  <a:lnSpc>
                    <a:spcPct val="112000"/>
                  </a:lnSpc>
                  <a:spcBef>
                    <a:spcPts val="500"/>
                  </a:spcBef>
                </a:pP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FedSV는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O(</a:t>
                </a:r>
                <a14:m>
                  <m:oMath xmlns:m="http://schemas.openxmlformats.org/officeDocument/2006/math">
                    <m:r>
                      <a:rPr lang="ko-KR" altLang="en-US" sz="1150" b="0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𝑇</m:t>
                    </m:r>
                    <m:sSup>
                      <m:sSupPr>
                        <m:ctrlPr>
                          <a:rPr lang="en-US" altLang="ko-KR" sz="1150" b="0" i="1" dirty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pPr>
                      <m:e>
                        <m:r>
                          <a:rPr lang="ko-KR" altLang="en-US" sz="11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𝑚</m:t>
                        </m:r>
                      </m:e>
                      <m:sup>
                        <m:r>
                          <a:rPr lang="en-US" altLang="ko-KR" sz="1150" b="0" i="1" dirty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2</m:t>
                        </m:r>
                      </m:sup>
                    </m:sSup>
                  </m:oMath>
                </a14:m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)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서버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평가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,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ComFedSV는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추가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all-client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라운드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8906" y="2743200"/>
                <a:ext cx="3173882" cy="640881"/>
              </a:xfrm>
              <a:prstGeom prst="rect">
                <a:avLst/>
              </a:prstGeom>
              <a:blipFill>
                <a:blip r:embed="rId4"/>
                <a:stretch>
                  <a:fillRect l="-3077" t="-8571"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/>
        </p:nvSpPr>
        <p:spPr>
          <a:xfrm>
            <a:off x="8121700" y="2606040"/>
            <a:ext cx="3503066" cy="1371600"/>
          </a:xfrm>
          <a:prstGeom prst="roundRect">
            <a:avLst>
              <a:gd name="adj" fmla="val 4500"/>
            </a:avLst>
          </a:prstGeom>
          <a:solidFill>
            <a:srgbClr val="F1F5F9"/>
          </a:solidFill>
          <a:ln w="9525">
            <a:solidFill>
              <a:srgbClr val="CD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86292" y="2743200"/>
            <a:ext cx="3173882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Gradient / IF 방법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15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heterogeneous FL서 취약(DataInf가 Fed-WildChat서 실패) · LLM서 iHVP collapse.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297680"/>
            <a:ext cx="11057839" cy="1417320"/>
          </a:xfrm>
          <a:prstGeom prst="roundRect">
            <a:avLst>
              <a:gd name="adj" fmla="val 4500"/>
            </a:avLst>
          </a:prstGeom>
          <a:solidFill>
            <a:srgbClr val="EBF6F4"/>
          </a:solidFill>
          <a:ln w="9525">
            <a:solidFill>
              <a:srgbClr val="B4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768096" y="4425696"/>
                <a:ext cx="10600639" cy="100149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l">
                  <a:lnSpc>
                    <a:spcPct val="100000"/>
                  </a:lnSpc>
                </a:pPr>
                <a:r>
                  <a:rPr sz="1300" b="1" i="0" dirty="0" err="1">
                    <a:solidFill>
                      <a:srgbClr val="0D766E"/>
                    </a:solidFill>
                    <a:latin typeface="Noto Sans CJK KR"/>
                    <a:ea typeface="Noto Sans CJK KR"/>
                    <a:cs typeface="Noto Sans CJK KR"/>
                  </a:rPr>
                  <a:t>Flirds의</a:t>
                </a:r>
                <a:r>
                  <a:rPr sz="1300" b="1" i="0" dirty="0">
                    <a:solidFill>
                      <a:srgbClr val="0D766E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300" b="1" i="0" dirty="0" err="1">
                    <a:solidFill>
                      <a:srgbClr val="0D766E"/>
                    </a:solidFill>
                    <a:latin typeface="Noto Sans CJK KR"/>
                    <a:ea typeface="Noto Sans CJK KR"/>
                    <a:cs typeface="Noto Sans CJK KR"/>
                  </a:rPr>
                  <a:t>접근</a:t>
                </a:r>
                <a:endParaRPr sz="1300" b="1" i="0" dirty="0">
                  <a:solidFill>
                    <a:srgbClr val="0D766E"/>
                  </a:solidFill>
                  <a:latin typeface="Noto Sans CJK KR"/>
                  <a:ea typeface="Noto Sans CJK KR"/>
                  <a:cs typeface="Noto Sans CJK KR"/>
                </a:endParaRPr>
              </a:p>
              <a:p>
                <a:pPr marL="246888" indent="-246888" algn="l">
                  <a:lnSpc>
                    <a:spcPct val="105000"/>
                  </a:lnSpc>
                  <a:spcBef>
                    <a:spcPts val="600"/>
                  </a:spcBef>
                </a:pPr>
                <a:r>
                  <a:rPr sz="1250" b="1" i="0" dirty="0">
                    <a:solidFill>
                      <a:srgbClr val="0D766E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vanilla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FedAvg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위에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post-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hoc로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동작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—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학습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알고리즘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변경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없음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500"/>
                  </a:spcBef>
                </a:pPr>
                <a:r>
                  <a:rPr sz="1250" b="1" i="0" dirty="0">
                    <a:solidFill>
                      <a:srgbClr val="0D766E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서버가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이미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받는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250" b="0" i="0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Δ</m:t>
                    </m:r>
                    <m:sSub>
                      <m:sSubPr>
                        <m:ctrlPr>
                          <a:rPr lang="el-GR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bPr>
                      <m:e>
                        <m:r>
                          <a:rPr lang="el-GR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𝑤</m:t>
                        </m:r>
                      </m:e>
                      <m:sub>
                        <m:r>
                          <a:rPr lang="el-GR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𝑘</m:t>
                        </m:r>
                      </m:sub>
                    </m:sSub>
                  </m:oMath>
                </a14:m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(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LoRA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) 만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사용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→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통신·계산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추가비용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0.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500"/>
                  </a:spcBef>
                </a:pPr>
                <a:r>
                  <a:rPr sz="1250" b="1" i="0" dirty="0">
                    <a:solidFill>
                      <a:srgbClr val="0D766E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forward HVP(</a:t>
                </a:r>
                <a14:m>
                  <m:oMath xmlns:m="http://schemas.openxmlformats.org/officeDocument/2006/math">
                    <m:r>
                      <a:rPr lang="el-GR" sz="1250" b="0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𝐻</m:t>
                    </m:r>
                    <m:r>
                      <a:rPr lang="el-GR" sz="1250" b="0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·</m:t>
                    </m:r>
                    <m:r>
                      <m:rPr>
                        <m:sty m:val="p"/>
                      </m:rPr>
                      <a:rPr lang="el-GR" sz="1250" b="0" i="0" dirty="0" err="1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Δ</m:t>
                    </m:r>
                    <m:r>
                      <a:rPr lang="el-GR" sz="1250" b="0" i="1" dirty="0" err="1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𝑤</m:t>
                    </m:r>
                  </m:oMath>
                </a14:m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)만 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2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pPr>
                      <m:e>
                        <m:r>
                          <a:rPr lang="ko-KR" altLang="en-US" sz="12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𝐻</m:t>
                        </m:r>
                      </m:e>
                      <m:sup>
                        <m:r>
                          <a:rPr lang="ko-KR" altLang="en-US" sz="12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-</m:t>
                        </m:r>
                        <m:r>
                          <a:rPr lang="en-US" altLang="ko-KR" sz="1250" b="0" i="1" dirty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1</m:t>
                        </m:r>
                      </m:sup>
                    </m:sSup>
                  </m:oMath>
                </a14:m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없음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→ LLM-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IF의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실패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원인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회피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" y="4425696"/>
                <a:ext cx="10600639" cy="1001493"/>
              </a:xfrm>
              <a:prstGeom prst="rect">
                <a:avLst/>
              </a:prstGeom>
              <a:blipFill>
                <a:blip r:embed="rId5"/>
                <a:stretch>
                  <a:fillRect l="-920" t="-4878" b="-91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ectangle 14"/>
          <p:cNvSpPr/>
          <p:nvPr/>
        </p:nvSpPr>
        <p:spPr>
          <a:xfrm>
            <a:off x="566928" y="6419088"/>
            <a:ext cx="11057839" cy="10058"/>
          </a:xfrm>
          <a:prstGeom prst="rect">
            <a:avLst/>
          </a:prstGeom>
          <a:solidFill>
            <a:srgbClr val="D4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Flirds · 연구 진행 보고 · 2026-06-04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방법 — 라운드별 손실변화의 1·2차 Taylor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777240" cy="47548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57839" cy="1417320"/>
          </a:xfrm>
          <a:prstGeom prst="roundRect">
            <a:avLst>
              <a:gd name="adj" fmla="val 4500"/>
            </a:avLst>
          </a:prstGeom>
          <a:solidFill>
            <a:srgbClr val="112640"/>
          </a:solidFill>
          <a:ln w="9525">
            <a:solidFill>
              <a:srgbClr val="11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841247" y="1893032"/>
                <a:ext cx="10509199" cy="25558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700" b="0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𝜑</m:t>
                      </m:r>
                      <m:r>
                        <a:rPr lang="el-GR" sz="1100" b="0" i="1" baseline="-25000" dirty="0" err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𝑘</m:t>
                      </m:r>
                      <m:d>
                        <m:dPr>
                          <m:ctrlPr>
                            <a:rPr lang="el-GR" sz="1100" b="0" i="1" baseline="30000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</m:ctrlPr>
                        </m:dPr>
                        <m:e>
                          <m:r>
                            <a:rPr lang="el-GR" sz="1100" b="0" i="1" baseline="30000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  <m:t>𝑟</m:t>
                          </m:r>
                        </m:e>
                      </m:d>
                      <m:r>
                        <a:rPr lang="el-GR" sz="1700" b="0" i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≈−</m:t>
                      </m:r>
                      <m:r>
                        <m:rPr>
                          <m:sty m:val="p"/>
                        </m:rPr>
                        <a:rPr lang="el-GR" sz="1700" b="0" i="0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∇</m:t>
                      </m:r>
                      <m:r>
                        <a:rPr lang="el-GR" sz="1700" b="0" i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ℓ</m:t>
                      </m:r>
                      <m:d>
                        <m:dPr>
                          <m:ctrlPr>
                            <a:rPr lang="el-GR" sz="1700" b="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</m:ctrlPr>
                        </m:dPr>
                        <m:e>
                          <m:r>
                            <a:rPr lang="el-GR" sz="1700" b="0" i="1" dirty="0" err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  <m:t>𝑤</m:t>
                          </m:r>
                          <m:r>
                            <a:rPr lang="el-GR" sz="1100" b="0" i="1" baseline="30000" dirty="0" err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  <m:t>𝑟</m:t>
                          </m:r>
                          <m:r>
                            <a:rPr lang="el-GR" sz="1700" b="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  <m:t>,</m:t>
                          </m:r>
                          <m:r>
                            <a:rPr lang="el-GR" sz="1700" b="0" i="1" dirty="0" err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  <m:t>𝑧</m:t>
                          </m:r>
                          <m:r>
                            <a:rPr lang="el-GR" sz="1100" b="0" i="1" baseline="-25000" dirty="0" err="1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  <m:t>𝑣𝑎𝑙</m:t>
                          </m:r>
                        </m:e>
                      </m:d>
                      <m:r>
                        <a:rPr lang="el-GR" sz="1700" b="0" i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·</m:t>
                      </m:r>
                      <m:r>
                        <m:rPr>
                          <m:sty m:val="p"/>
                        </m:rPr>
                        <a:rPr lang="el-GR" sz="1700" b="0" i="0" dirty="0" err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Δ</m:t>
                      </m:r>
                      <m:r>
                        <a:rPr lang="el-GR" sz="1700" b="0" i="1" dirty="0" err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𝑤</m:t>
                      </m:r>
                      <m:r>
                        <a:rPr lang="el-GR" sz="1100" b="0" i="1" baseline="-25000" dirty="0" err="1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𝑘</m:t>
                      </m:r>
                      <m:r>
                        <a:rPr lang="el-GR" sz="1700" b="0" i="1" dirty="0">
                          <a:solidFill>
                            <a:srgbClr val="B07010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+½</m:t>
                      </m:r>
                      <m:r>
                        <m:rPr>
                          <m:sty m:val="p"/>
                        </m:rPr>
                        <a:rPr lang="el-GR" sz="1700" b="0" i="0" dirty="0" err="1">
                          <a:solidFill>
                            <a:srgbClr val="B07010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Δ</m:t>
                      </m:r>
                      <m:r>
                        <a:rPr lang="el-GR" sz="1700" b="0" i="1" dirty="0" err="1">
                          <a:solidFill>
                            <a:srgbClr val="B07010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𝑤</m:t>
                      </m:r>
                      <m:r>
                        <a:rPr lang="el-GR" sz="1100" b="0" i="1" baseline="-25000" dirty="0" err="1">
                          <a:solidFill>
                            <a:srgbClr val="B07010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𝑘</m:t>
                      </m:r>
                      <m:r>
                        <a:rPr lang="el-GR" sz="1100" b="0" i="1" baseline="30000" dirty="0" err="1">
                          <a:solidFill>
                            <a:srgbClr val="B07010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𝑇</m:t>
                      </m:r>
                      <m:r>
                        <a:rPr lang="el-GR" sz="1700" b="0" i="1" dirty="0">
                          <a:solidFill>
                            <a:srgbClr val="B07010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𝐻</m:t>
                      </m:r>
                      <m:d>
                        <m:dPr>
                          <m:ctrlPr>
                            <a:rPr lang="el-GR" sz="1100" b="0" i="1" baseline="30000" dirty="0">
                              <a:solidFill>
                                <a:srgbClr val="B07010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</m:ctrlPr>
                        </m:dPr>
                        <m:e>
                          <m:r>
                            <a:rPr lang="el-GR" sz="1100" b="0" i="1" baseline="30000" dirty="0" err="1">
                              <a:solidFill>
                                <a:srgbClr val="B07010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  <m:t>𝑣𝑎𝑙</m:t>
                          </m:r>
                        </m:e>
                      </m:d>
                      <m:d>
                        <m:dPr>
                          <m:ctrlPr>
                            <a:rPr lang="el-GR" sz="1700" b="0" i="1" baseline="30000" dirty="0">
                              <a:solidFill>
                                <a:srgbClr val="B07010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</m:ctrlPr>
                        </m:dPr>
                        <m:e>
                          <m:r>
                            <a:rPr lang="el-GR" sz="1700" b="0" i="1" dirty="0" err="1">
                              <a:solidFill>
                                <a:srgbClr val="B07010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  <m:t>𝑤</m:t>
                          </m:r>
                          <m:r>
                            <a:rPr lang="el-GR" sz="1100" b="0" i="1" baseline="30000" dirty="0" err="1">
                              <a:solidFill>
                                <a:srgbClr val="B07010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  <m:t>𝑟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sz="1700" b="0" i="0" dirty="0">
                          <a:solidFill>
                            <a:srgbClr val="B07010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Δ</m:t>
                      </m:r>
                      <m:r>
                        <a:rPr lang="el-GR" sz="1700" b="0" i="1" dirty="0">
                          <a:solidFill>
                            <a:srgbClr val="B07010"/>
                          </a:solidFill>
                          <a:latin typeface="Cambria Math" panose="02040503050406030204" pitchFamily="18" charset="0"/>
                          <a:ea typeface="Noto Sans CJK KR"/>
                          <a:cs typeface="Noto Sans CJK KR"/>
                        </a:rPr>
                        <m:t>𝑊</m:t>
                      </m:r>
                      <m:d>
                        <m:dPr>
                          <m:ctrlPr>
                            <a:rPr lang="el-GR" sz="1100" b="0" i="1" baseline="30000" dirty="0">
                              <a:solidFill>
                                <a:srgbClr val="B07010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</m:ctrlPr>
                        </m:dPr>
                        <m:e>
                          <m:r>
                            <a:rPr lang="el-GR" sz="1100" b="0" i="1" baseline="30000" dirty="0">
                              <a:solidFill>
                                <a:srgbClr val="B07010"/>
                              </a:solidFill>
                              <a:latin typeface="Cambria Math" panose="02040503050406030204" pitchFamily="18" charset="0"/>
                              <a:ea typeface="Noto Sans CJK KR"/>
                              <a:cs typeface="Noto Sans CJK KR"/>
                            </a:rPr>
                            <m:t>𝑟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247" y="1893032"/>
                <a:ext cx="10509199" cy="255583"/>
              </a:xfrm>
              <a:prstGeom prst="rect">
                <a:avLst/>
              </a:prstGeom>
              <a:blipFill>
                <a:blip r:embed="rId2"/>
                <a:stretch>
                  <a:fillRect b="-292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841247" y="2482428"/>
                <a:ext cx="10509199" cy="19236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250" b="0" i="0" dirty="0" smtClean="0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Δ</m:t>
                    </m:r>
                    <m:r>
                      <a:rPr lang="el-GR" sz="1250" b="0" i="1" dirty="0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𝑊</m:t>
                    </m:r>
                    <m:d>
                      <m:dPr>
                        <m:ctrlPr>
                          <a:rPr lang="el-GR" sz="850" b="0" i="1" baseline="30000" dirty="0">
                            <a:solidFill>
                              <a:srgbClr val="CED8E6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dPr>
                      <m:e>
                        <m:r>
                          <a:rPr lang="el-GR" sz="850" b="0" i="1" baseline="30000" dirty="0">
                            <a:solidFill>
                              <a:srgbClr val="CED8E6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𝑟</m:t>
                        </m:r>
                      </m:e>
                    </m:d>
                    <m:r>
                      <a:rPr lang="el-GR" sz="1250" b="0" i="1" dirty="0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=</m:t>
                    </m:r>
                    <m:r>
                      <m:rPr>
                        <m:sty m:val="p"/>
                      </m:rPr>
                      <a:rPr lang="el-GR" sz="1250" b="0" i="0" dirty="0" err="1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Σ</m:t>
                    </m:r>
                    <m:r>
                      <a:rPr lang="el-GR" sz="850" b="0" i="1" baseline="-25000" dirty="0" err="1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𝑗</m:t>
                    </m:r>
                    <m:r>
                      <m:rPr>
                        <m:sty m:val="p"/>
                      </m:rPr>
                      <a:rPr lang="el-GR" sz="1250" b="0" i="0" dirty="0" err="1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Δ</m:t>
                    </m:r>
                    <m:r>
                      <a:rPr lang="el-GR" sz="1250" b="0" i="1" dirty="0" err="1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𝑤</m:t>
                    </m:r>
                    <m:r>
                      <a:rPr lang="el-GR" sz="850" b="0" i="1" baseline="-25000" dirty="0" err="1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𝑗</m:t>
                    </m:r>
                  </m:oMath>
                </a14:m>
                <a:r>
                  <a:rPr sz="1250" b="0" i="0" dirty="0">
                    <a:solidFill>
                      <a:srgbClr val="CED8E6"/>
                    </a:solidFill>
                    <a:latin typeface="Noto Sans CJK KR"/>
                    <a:ea typeface="Noto Sans CJK KR"/>
                    <a:cs typeface="Noto Sans CJK KR"/>
                  </a:rPr>
                  <a:t>(</a:t>
                </a:r>
                <a:r>
                  <a:rPr sz="1250" b="0" i="0" dirty="0" err="1">
                    <a:solidFill>
                      <a:srgbClr val="CED8E6"/>
                    </a:solidFill>
                    <a:latin typeface="Noto Sans CJK KR"/>
                    <a:ea typeface="Noto Sans CJK KR"/>
                    <a:cs typeface="Noto Sans CJK KR"/>
                  </a:rPr>
                  <a:t>참여</a:t>
                </a:r>
                <a:r>
                  <a:rPr sz="1250" b="0" i="0" dirty="0">
                    <a:solidFill>
                      <a:srgbClr val="CED8E6"/>
                    </a:solidFill>
                    <a:latin typeface="Noto Sans CJK KR"/>
                    <a:ea typeface="Noto Sans CJK KR"/>
                    <a:cs typeface="Noto Sans CJK KR"/>
                  </a:rPr>
                  <a:t> client 합)        </a:t>
                </a:r>
                <a14:m>
                  <m:oMath xmlns:m="http://schemas.openxmlformats.org/officeDocument/2006/math">
                    <m:r>
                      <a:rPr lang="el-GR" sz="1250" b="0" i="1" dirty="0" smtClean="0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𝜑</m:t>
                    </m:r>
                    <m:r>
                      <a:rPr lang="el-GR" sz="850" b="0" i="1" baseline="-25000" dirty="0" err="1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𝑘</m:t>
                    </m:r>
                    <m:r>
                      <a:rPr lang="el-GR" sz="1250" b="0" i="1" dirty="0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=</m:t>
                    </m:r>
                    <m:r>
                      <m:rPr>
                        <m:sty m:val="p"/>
                      </m:rPr>
                      <a:rPr lang="el-GR" sz="1250" b="0" i="0" dirty="0" err="1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Σ</m:t>
                    </m:r>
                    <m:r>
                      <a:rPr lang="el-GR" sz="850" b="0" i="1" baseline="-25000" dirty="0" err="1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𝑟</m:t>
                    </m:r>
                    <m:r>
                      <a:rPr lang="el-GR" sz="1250" b="0" i="1" dirty="0" err="1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𝜑</m:t>
                    </m:r>
                    <m:r>
                      <a:rPr lang="el-GR" sz="850" b="0" i="1" baseline="-25000" dirty="0" err="1">
                        <a:solidFill>
                          <a:srgbClr val="CED8E6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𝑘</m:t>
                    </m:r>
                    <m:d>
                      <m:dPr>
                        <m:ctrlPr>
                          <a:rPr lang="el-GR" sz="850" b="0" i="1" baseline="30000" dirty="0">
                            <a:solidFill>
                              <a:srgbClr val="CED8E6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dPr>
                      <m:e>
                        <m:r>
                          <a:rPr lang="el-GR" sz="850" b="0" i="1" baseline="30000" dirty="0">
                            <a:solidFill>
                              <a:srgbClr val="CED8E6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𝑟</m:t>
                        </m:r>
                      </m:e>
                    </m:d>
                  </m:oMath>
                </a14:m>
                <a:r>
                  <a:rPr sz="1250" b="0" i="0" dirty="0">
                    <a:solidFill>
                      <a:srgbClr val="CED8E6"/>
                    </a:solidFill>
                    <a:latin typeface="Noto Sans CJK KR"/>
                    <a:ea typeface="Noto Sans CJK KR"/>
                    <a:cs typeface="Noto Sans CJK KR"/>
                  </a:rPr>
                  <a:t>(</a:t>
                </a:r>
                <a:r>
                  <a:rPr sz="1250" b="0" i="0" dirty="0" err="1">
                    <a:solidFill>
                      <a:srgbClr val="CED8E6"/>
                    </a:solidFill>
                    <a:latin typeface="Noto Sans CJK KR"/>
                    <a:ea typeface="Noto Sans CJK KR"/>
                    <a:cs typeface="Noto Sans CJK KR"/>
                  </a:rPr>
                  <a:t>라운드</a:t>
                </a:r>
                <a:r>
                  <a:rPr sz="1250" b="0" i="0" dirty="0">
                    <a:solidFill>
                      <a:srgbClr val="CED8E6"/>
                    </a:solidFill>
                    <a:latin typeface="Noto Sans CJK KR"/>
                    <a:ea typeface="Noto Sans CJK KR"/>
                    <a:cs typeface="Noto Sans CJK KR"/>
                  </a:rPr>
                  <a:t> 합)</a:t>
                </a: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247" y="2482428"/>
                <a:ext cx="10509199" cy="192360"/>
              </a:xfrm>
              <a:prstGeom prst="rect">
                <a:avLst/>
              </a:prstGeom>
              <a:blipFill>
                <a:blip r:embed="rId3"/>
                <a:stretch>
                  <a:fillRect t="-28125" b="-5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66928" y="3154680"/>
                <a:ext cx="11057839" cy="789383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246888" indent="-246888" algn="l">
                  <a:lnSpc>
                    <a:spcPct val="105000"/>
                  </a:lnSpc>
                  <a:spcBef>
                    <a:spcPts val="0"/>
                  </a:spcBef>
                </a:pPr>
                <a:r>
                  <a:rPr sz="1250" b="1" i="0" dirty="0">
                    <a:solidFill>
                      <a:srgbClr val="1E4E79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sz="1250" b="1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비용</a:t>
                </a:r>
                <a:r>
                  <a:rPr sz="1250" b="1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: 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라운드당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비용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: HVP 1회로 </a:t>
                </a:r>
                <a14:m>
                  <m:oMath xmlns:m="http://schemas.openxmlformats.org/officeDocument/2006/math">
                    <m:r>
                      <a:rPr lang="el-GR" sz="1250" b="0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𝑢</m:t>
                    </m:r>
                    <m:r>
                      <a:rPr lang="el-GR" sz="1250" b="0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≔</m:t>
                    </m:r>
                    <m:r>
                      <a:rPr lang="el-GR" sz="1250" b="0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𝐻</m:t>
                    </m:r>
                    <m:r>
                      <a:rPr lang="el-GR" sz="1250" b="0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·</m:t>
                    </m:r>
                    <m:r>
                      <m:rPr>
                        <m:sty m:val="p"/>
                      </m:rPr>
                      <a:rPr lang="el-GR" sz="1250" b="0" i="0" dirty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Δ</m:t>
                    </m:r>
                    <m:sSup>
                      <m:sSupPr>
                        <m:ctrlPr>
                          <a:rPr lang="el-GR" sz="1250" b="0" i="1" dirty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pPr>
                      <m:e>
                        <m:r>
                          <a:rPr lang="el-GR" sz="1250" b="0" i="1" dirty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𝑊</m:t>
                        </m:r>
                      </m:e>
                      <m:sup>
                        <m:d>
                          <m:dPr>
                            <m:ctrlPr>
                              <a:rPr lang="el-GR" sz="1250" b="0" i="1" dirty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  <a:ea typeface="Noto Sans CJK KR"/>
                                <a:cs typeface="Noto Sans CJK KR"/>
                              </a:rPr>
                            </m:ctrlPr>
                          </m:dPr>
                          <m:e>
                            <m:r>
                              <a:rPr lang="el-GR" sz="1250" b="0" i="1" dirty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  <a:ea typeface="Noto Sans CJK KR"/>
                                <a:cs typeface="Noto Sans CJK KR"/>
                              </a:rPr>
                              <m:t>𝑟</m:t>
                            </m:r>
                          </m:e>
                        </m:d>
                      </m:sup>
                    </m:sSup>
                  </m:oMath>
                </a14:m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계산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후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N개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내적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250" b="0" i="0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Δ</m:t>
                    </m:r>
                    <m:sSub>
                      <m:sSubPr>
                        <m:ctrlPr>
                          <a:rPr lang="el-GR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bPr>
                      <m:e>
                        <m:r>
                          <a:rPr lang="el-GR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𝑤</m:t>
                        </m:r>
                      </m:e>
                      <m:sub>
                        <m:r>
                          <a:rPr lang="el-GR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𝑘</m:t>
                        </m:r>
                      </m:sub>
                    </m:sSub>
                    <m:r>
                      <a:rPr lang="el-GR" sz="1250" b="0" i="1" dirty="0" err="1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·</m:t>
                    </m:r>
                    <m:r>
                      <a:rPr lang="el-GR" sz="1250" b="0" i="1" dirty="0" err="1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𝑢</m:t>
                    </m:r>
                  </m:oMath>
                </a14:m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—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LoRA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차원이라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저렴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700"/>
                  </a:spcBef>
                </a:pPr>
                <a:r>
                  <a:rPr sz="1250" b="1" i="0" dirty="0">
                    <a:solidFill>
                      <a:srgbClr val="1E4E79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sz="1250" b="1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2차항:  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1차항 =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정렬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(alignment), 2차항 = client 간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상호작용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(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곡률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). 비-IID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FL에서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2차항이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본질적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700"/>
                  </a:spcBef>
                </a:pPr>
                <a:r>
                  <a:rPr sz="1250" b="1" i="0" dirty="0">
                    <a:solidFill>
                      <a:srgbClr val="1E4E79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sz="1250" b="1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안정성</a:t>
                </a:r>
                <a:r>
                  <a:rPr sz="1250" b="1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:  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forward HVP(</a:t>
                </a:r>
                <a14:m>
                  <m:oMath xmlns:m="http://schemas.openxmlformats.org/officeDocument/2006/math">
                    <m:r>
                      <a:rPr lang="el-GR" sz="1250" b="0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𝐻</m:t>
                    </m:r>
                    <m:r>
                      <a:rPr lang="el-GR" sz="1250" b="0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·</m:t>
                    </m:r>
                    <m:r>
                      <m:rPr>
                        <m:sty m:val="p"/>
                      </m:rPr>
                      <a:rPr lang="el-GR" sz="1250" b="0" i="0" dirty="0" err="1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Δ</m:t>
                    </m:r>
                    <m:r>
                      <a:rPr lang="el-GR" sz="1250" b="0" i="1" dirty="0" err="1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𝑤</m:t>
                    </m:r>
                  </m:oMath>
                </a14:m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)만 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2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pPr>
                      <m:e>
                        <m:r>
                          <a:rPr lang="ko-KR" altLang="en-US" sz="12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𝐻</m:t>
                        </m:r>
                      </m:e>
                      <m:sup>
                        <m:r>
                          <a:rPr lang="ko-KR" altLang="en-US" sz="12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-</m:t>
                        </m:r>
                        <m:r>
                          <a:rPr lang="en-US" altLang="ko-KR" sz="1250" b="0" i="1" dirty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1</m:t>
                        </m:r>
                      </m:sup>
                    </m:sSup>
                  </m:oMath>
                </a14:m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절대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계산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안 함 →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IF의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iHVP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collapse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원인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회피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28" y="3154680"/>
                <a:ext cx="11057839" cy="789383"/>
              </a:xfrm>
              <a:prstGeom prst="rect">
                <a:avLst/>
              </a:prstGeom>
              <a:blipFill>
                <a:blip r:embed="rId4"/>
                <a:stretch>
                  <a:fillRect l="-882" t="-6977" b="-11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566928" y="5257800"/>
            <a:ext cx="11057839" cy="658368"/>
          </a:xfrm>
          <a:prstGeom prst="roundRect">
            <a:avLst>
              <a:gd name="adj" fmla="val 4500"/>
            </a:avLst>
          </a:prstGeom>
          <a:solidFill>
            <a:srgbClr val="F1F5F9"/>
          </a:solidFill>
          <a:ln w="9525">
            <a:solidFill>
              <a:srgbClr val="CD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5518088"/>
            <a:ext cx="10692079" cy="1835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dirty="0" err="1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확정</a:t>
            </a:r>
            <a:r>
              <a:rPr sz="1150" b="0" i="0" dirty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: </a:t>
            </a:r>
            <a:r>
              <a:rPr sz="1150" b="0" i="0" dirty="0" err="1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곡률</a:t>
            </a:r>
            <a:r>
              <a:rPr sz="1150" b="0" i="0" dirty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 = Hessian (GGN/Fisher </a:t>
            </a:r>
            <a:r>
              <a:rPr sz="1150" b="0" i="0" dirty="0" err="1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변형</a:t>
            </a:r>
            <a:r>
              <a:rPr sz="1150" b="0" i="0" dirty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150" b="0" i="0" dirty="0" err="1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검증</a:t>
            </a:r>
            <a:r>
              <a:rPr sz="1150" b="0" i="0" dirty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 후 </a:t>
            </a:r>
            <a:r>
              <a:rPr sz="1150" b="0" i="0" dirty="0" err="1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기각</a:t>
            </a:r>
            <a:r>
              <a:rPr sz="1150" b="0" i="0" dirty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) · </a:t>
            </a:r>
            <a:r>
              <a:rPr sz="1150" b="0" i="0" dirty="0" err="1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최적화</a:t>
            </a:r>
            <a:r>
              <a:rPr sz="1150" b="0" i="0" dirty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 = plain SGD(momentum 0) — </a:t>
            </a:r>
            <a:r>
              <a:rPr sz="1150" b="0" i="0" dirty="0" err="1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이때</a:t>
            </a:r>
            <a:r>
              <a:rPr sz="1150" b="0" i="0" dirty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150" b="0" i="0" dirty="0" err="1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비로소</a:t>
            </a:r>
            <a:r>
              <a:rPr sz="1150" b="0" i="0" dirty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 2차항이 1차항을 </a:t>
            </a:r>
            <a:r>
              <a:rPr sz="1150" b="0" i="0" dirty="0" err="1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이김</a:t>
            </a:r>
            <a:r>
              <a:rPr sz="1150" b="0" i="0" dirty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419088"/>
            <a:ext cx="11057839" cy="10058"/>
          </a:xfrm>
          <a:prstGeom prst="rect">
            <a:avLst/>
          </a:prstGeom>
          <a:solidFill>
            <a:srgbClr val="D4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Flirds · 연구 진행 보고 · 2026-06-04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무엇이 새로운가 — 비어 있는 교집합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777240" cy="47548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63048944"/>
                  </p:ext>
                </p:extLst>
              </p:nvPr>
            </p:nvGraphicFramePr>
            <p:xfrm>
              <a:off x="566928" y="1463040"/>
              <a:ext cx="11057836" cy="2743200"/>
            </p:xfrm>
            <a:graphic>
              <a:graphicData uri="http://schemas.openxmlformats.org/drawingml/2006/table">
                <a:tbl>
                  <a:tblPr firstRow="1">
                    <a:tableStyleId>{5C22544A-7EE6-4342-B048-85BDC9FD1C3A}</a:tableStyleId>
                  </a:tblPr>
                  <a:tblGrid>
                    <a:gridCol w="187983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0578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32214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879832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3870243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방법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단위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통신 오버헤드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in-run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비고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FedSV (2020)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client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0 (단 O(</a:t>
                          </a:r>
                          <a14:m>
                            <m:oMath xmlns:m="http://schemas.openxmlformats.org/officeDocument/2006/math">
                              <m:r>
                                <a:rPr lang="ko-KR" altLang="en-US" sz="1150" b="0" i="1" dirty="0" smtClean="0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Noto Sans CJK KR"/>
                                  <a:cs typeface="Noto Sans CJK KR"/>
                                </a:rPr>
                                <m:t>𝑇</m:t>
                              </m:r>
                              <m:sSup>
                                <m:sSupPr>
                                  <m:ctrlPr>
                                    <a:rPr lang="en-US" altLang="ko-KR" sz="1150" b="0" i="1" dirty="0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Noto Sans CJK KR"/>
                                      <a:cs typeface="Noto Sans CJK KR"/>
                                    </a:rPr>
                                  </m:ctrlPr>
                                </m:sSupPr>
                                <m:e>
                                  <m:r>
                                    <a:rPr lang="ko-KR" altLang="en-US" sz="1150" b="0" i="1" dirty="0" smtClean="0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Noto Sans CJK KR"/>
                                      <a:cs typeface="Noto Sans CJK KR"/>
                                    </a:rPr>
                                    <m:t>𝑚</m:t>
                                  </m:r>
                                </m:e>
                                <m:sup>
                                  <m:r>
                                    <a:rPr lang="en-US" altLang="ko-KR" sz="1150" b="0" i="1" dirty="0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Noto Sans CJK KR"/>
                                      <a:cs typeface="Noto Sans CJK KR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) 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평가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per-round 대리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federated Shapley 원조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Ripple (2026)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sample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0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yes (Jacobian)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최근접 경쟁자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FedIF (2025)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client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0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yes (1차 TracIn)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CNN 한정 · aggregation-side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FedTSV (2026)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client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+ val pass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yes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aggregation (가치평가 아님)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Flirds (본 연구)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client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0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yes (1·2차 Taylor)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LoRA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 + 2차항 + zero-comm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63048944"/>
                  </p:ext>
                </p:extLst>
              </p:nvPr>
            </p:nvGraphicFramePr>
            <p:xfrm>
              <a:off x="566928" y="1463040"/>
              <a:ext cx="11057836" cy="2743200"/>
            </p:xfrm>
            <a:graphic>
              <a:graphicData uri="http://schemas.openxmlformats.org/drawingml/2006/table">
                <a:tbl>
                  <a:tblPr firstRow="1">
                    <a:tableStyleId>{5C22544A-7EE6-4342-B048-85BDC9FD1C3A}</a:tableStyleId>
                  </a:tblPr>
                  <a:tblGrid>
                    <a:gridCol w="187983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0578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32214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879832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3870243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방법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단위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통신 오버헤드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in-run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비고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FedSV (2020)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client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2296" marR="64008" marT="18288" marB="18288" anchor="ctr">
                        <a:blipFill>
                          <a:blip r:embed="rId2"/>
                          <a:stretch>
                            <a:fillRect l="-129134" t="-102667" r="-248819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per-round 대리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federated Shapley 원조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Ripple (2026)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sample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0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yes (Jacobian)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최근접 경쟁자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FedIF (2025)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client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0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yes (1차 TracIn)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CNN 한정 · aggregation-side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FedTSV (2026)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client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+ val pass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yes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aggregation (가치평가 아님)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Flirds (본 연구)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client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0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yes (1·2차 Taylor)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LoRA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 + 2차항 + zero-comm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/>
          <p:cNvSpPr txBox="1"/>
          <p:nvPr/>
        </p:nvSpPr>
        <p:spPr>
          <a:xfrm>
            <a:off x="566928" y="4251960"/>
            <a:ext cx="1105783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novelty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72000"/>
            <a:ext cx="11057839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46888" indent="-246888" algn="l">
              <a:lnSpc>
                <a:spcPct val="105000"/>
              </a:lnSpc>
              <a:spcBef>
                <a:spcPts val="0"/>
              </a:spcBef>
            </a:pPr>
            <a:r>
              <a:rPr sz="1250" b="1" i="0" dirty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• 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교집합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(client-level + in-run + 1·2차 Taylor + HVP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상호작용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+ zero-comm +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LoRA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/LLM)을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점유한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단일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논문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없음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— 2026-06-03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재조사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(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내부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4 +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외부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survey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교차검증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)로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확인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.</a:t>
            </a:r>
          </a:p>
          <a:p>
            <a:pPr marL="246888" indent="-246888" algn="l">
              <a:lnSpc>
                <a:spcPct val="105000"/>
              </a:lnSpc>
              <a:spcBef>
                <a:spcPts val="700"/>
              </a:spcBef>
            </a:pPr>
            <a:r>
              <a:rPr sz="1250" b="1" i="0" dirty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•  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cross-domain valuation-fairness: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공유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val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-loss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Shapley의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도메인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간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공정성은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prior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art서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under-addressed →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추가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novelty hook (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모든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도메인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free-form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통일로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대응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).</a:t>
            </a:r>
          </a:p>
          <a:p>
            <a:pPr marL="246888" indent="-246888" algn="l">
              <a:lnSpc>
                <a:spcPct val="105000"/>
              </a:lnSpc>
              <a:spcBef>
                <a:spcPts val="700"/>
              </a:spcBef>
            </a:pPr>
            <a:r>
              <a:rPr sz="1250" b="1" i="0" dirty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•  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FedIF/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FedTSV는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aggregation-side(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가중치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변경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),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Flirds는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valuation-side(post-hoc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가치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) —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같은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입력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,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다른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출력</a:t>
            </a:r>
            <a:r>
              <a:rPr sz="12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19088"/>
            <a:ext cx="11057839" cy="10058"/>
          </a:xfrm>
          <a:prstGeom prst="rect">
            <a:avLst/>
          </a:prstGeom>
          <a:solidFill>
            <a:srgbClr val="D4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Flirds · 연구 진행 보고 · 2026-06-04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THEORY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이론 — 중앙집중 등가 + drift residual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777240" cy="47548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66928" y="1417320"/>
                <a:ext cx="11057839" cy="783356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246888" indent="-246888" algn="l">
                  <a:lnSpc>
                    <a:spcPct val="115000"/>
                  </a:lnSpc>
                  <a:spcBef>
                    <a:spcPts val="0"/>
                  </a:spcBef>
                </a:pPr>
                <a:r>
                  <a:rPr sz="1250" b="1" i="0" dirty="0">
                    <a:solidFill>
                      <a:srgbClr val="1E4E79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sz="1250" b="1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① </a:t>
                </a:r>
                <a:r>
                  <a:rPr sz="1250" b="1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등가</a:t>
                </a:r>
                <a:r>
                  <a:rPr sz="1250" b="1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:  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1-step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SGD에서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한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client에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속한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data-level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Shapley의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합 = client-level Shapley (1·2차항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모두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). →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중앙집중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1-step에서 granularity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선택은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grouping-invariant.</a:t>
                </a:r>
              </a:p>
              <a:p>
                <a:pPr marL="246888" indent="-246888" algn="l">
                  <a:lnSpc>
                    <a:spcPct val="115000"/>
                  </a:lnSpc>
                  <a:spcBef>
                    <a:spcPts val="800"/>
                  </a:spcBef>
                </a:pPr>
                <a:r>
                  <a:rPr sz="1250" b="1" i="0" dirty="0">
                    <a:solidFill>
                      <a:srgbClr val="1E4E79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sz="1250" b="1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② FL </a:t>
                </a:r>
                <a:r>
                  <a:rPr sz="1250" b="1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편차</a:t>
                </a:r>
                <a:r>
                  <a:rPr sz="1250" b="1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:  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FL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멀티스텝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250" b="0" i="0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Δ</m:t>
                    </m:r>
                    <m:sSub>
                      <m:sSubPr>
                        <m:ctrlPr>
                          <a:rPr lang="el-GR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bPr>
                      <m:e>
                        <m:r>
                          <a:rPr lang="el-GR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𝑤</m:t>
                        </m:r>
                      </m:e>
                      <m:sub>
                        <m:r>
                          <a:rPr lang="el-GR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𝑘</m:t>
                        </m:r>
                      </m:sub>
                    </m:sSub>
                  </m:oMath>
                </a14:m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는 E-step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궤적의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끝점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→ Taylor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전개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시 '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중앙집중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등가항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' + 'client drift residual' </a:t>
                </a:r>
                <a14:m>
                  <m:oMath xmlns:m="http://schemas.openxmlformats.org/officeDocument/2006/math">
                    <m:r>
                      <a:rPr lang="ko-KR" altLang="en-US" sz="1250" b="0" i="1" dirty="0" smtClean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𝑂</m:t>
                    </m:r>
                    <m:d>
                      <m:dPr>
                        <m:ctrlPr>
                          <a:rPr lang="en-US" altLang="ko-KR" sz="1250" b="0" i="1" dirty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dPr>
                      <m:e>
                        <m:r>
                          <a:rPr lang="ko-KR" altLang="en-US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𝜂</m:t>
                        </m:r>
                        <m:r>
                          <a:rPr lang="ko-KR" altLang="en-US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𝐸</m:t>
                        </m:r>
                        <m:r>
                          <a:rPr lang="en-US" altLang="ko-KR" sz="1250" b="0" i="1" dirty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·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ko-KR" sz="1250" b="0" i="1" dirty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  <a:ea typeface="Noto Sans CJK KR"/>
                                <a:cs typeface="Noto Sans CJK KR"/>
                              </a:rPr>
                            </m:ctrlPr>
                          </m:dPr>
                          <m:e>
                            <m:r>
                              <a:rPr lang="ko-KR" altLang="en-US" sz="1250" b="0" i="1" dirty="0">
                                <a:solidFill>
                                  <a:srgbClr val="0F172A"/>
                                </a:solidFill>
                                <a:latin typeface="Cambria Math" panose="02040503050406030204" pitchFamily="18" charset="0"/>
                                <a:ea typeface="Noto Sans CJK KR"/>
                                <a:cs typeface="Noto Sans CJK KR"/>
                              </a:rPr>
                              <m:t>𝐻</m:t>
                            </m:r>
                          </m:e>
                        </m:d>
                        <m:r>
                          <a:rPr lang="en-US" altLang="ko-KR" sz="1250" b="0" i="1" dirty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·</m:t>
                        </m:r>
                        <m:r>
                          <a:rPr lang="ko-KR" altLang="en-US" sz="12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궤적길이</m:t>
                        </m:r>
                      </m:e>
                    </m:d>
                  </m:oMath>
                </a14:m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로 </a:t>
                </a:r>
                <a:r>
                  <a:rPr sz="12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분해</a:t>
                </a:r>
                <a:r>
                  <a:rPr sz="12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28" y="1417320"/>
                <a:ext cx="11057839" cy="783356"/>
              </a:xfrm>
              <a:prstGeom prst="rect">
                <a:avLst/>
              </a:prstGeom>
              <a:blipFill>
                <a:blip r:embed="rId2"/>
                <a:stretch>
                  <a:fillRect l="-882" t="-6250" b="-101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/>
          <p:cNvSpPr/>
          <p:nvPr/>
        </p:nvSpPr>
        <p:spPr>
          <a:xfrm>
            <a:off x="566928" y="3246120"/>
            <a:ext cx="5391759" cy="1417320"/>
          </a:xfrm>
          <a:prstGeom prst="roundRect">
            <a:avLst>
              <a:gd name="adj" fmla="val 4500"/>
            </a:avLst>
          </a:prstGeom>
          <a:solidFill>
            <a:srgbClr val="EDF2F8"/>
          </a:solidFill>
          <a:ln w="9525">
            <a:solidFill>
              <a:srgbClr val="C6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3383280"/>
            <a:ext cx="502599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dirty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Proposition 1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Flirds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client-level SV = (</a:t>
            </a: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중앙집중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data-level </a:t>
            </a: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SV를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client로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합산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) + drift residual. → FL의 </a:t>
            </a: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중앙집중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IRDS로부터의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이탈을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정량화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3246120"/>
            <a:ext cx="5391759" cy="1417320"/>
          </a:xfrm>
          <a:prstGeom prst="roundRect">
            <a:avLst>
              <a:gd name="adj" fmla="val 4500"/>
            </a:avLst>
          </a:prstGeom>
          <a:solidFill>
            <a:srgbClr val="EDF2F8"/>
          </a:solidFill>
          <a:ln w="9525">
            <a:solidFill>
              <a:srgbClr val="C6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5887" y="3383280"/>
            <a:ext cx="502599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Proposition 2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drift residual은 라운드별 local 궤적 반경의 3차식으로 bound. E=1서 소멸, non-IID·큰 local epoch서 증가.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937760"/>
            <a:ext cx="11057839" cy="960120"/>
          </a:xfrm>
          <a:prstGeom prst="roundRect">
            <a:avLst>
              <a:gd name="adj" fmla="val 4500"/>
            </a:avLst>
          </a:prstGeom>
          <a:solidFill>
            <a:srgbClr val="EBF6F4"/>
          </a:solidFill>
          <a:ln w="9525">
            <a:solidFill>
              <a:srgbClr val="B4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5065776"/>
            <a:ext cx="10600639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D766E"/>
                </a:solidFill>
                <a:latin typeface="Noto Sans CJK KR"/>
                <a:ea typeface="Noto Sans CJK KR"/>
                <a:cs typeface="Noto Sans CJK KR"/>
              </a:rPr>
              <a:t>핵심 함의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12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IRDS는 "2차항이 marginal"이라 보고 — 그러나 이는 centralized per-step(미소 η)의 산물. FL의 per-round 멀티스텝이 바로 2차항이 본질적으로 작동하는 무대 (실험으로 검증).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419088"/>
            <a:ext cx="11057839" cy="10058"/>
          </a:xfrm>
          <a:prstGeom prst="rect">
            <a:avLst/>
          </a:prstGeom>
          <a:solidFill>
            <a:srgbClr val="D4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Flirds · 연구 진행 보고 · 2026-06-04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LOCKED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확정된 핵심 설계 결정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777240" cy="47548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9288136"/>
                  </p:ext>
                </p:extLst>
              </p:nvPr>
            </p:nvGraphicFramePr>
            <p:xfrm>
              <a:off x="566928" y="1417320"/>
              <a:ext cx="6766559" cy="3579876"/>
            </p:xfrm>
            <a:graphic>
              <a:graphicData uri="http://schemas.openxmlformats.org/drawingml/2006/table">
                <a:tbl>
                  <a:tblPr firstRow="1">
                    <a:tableStyleId>{5C22544A-7EE6-4342-B048-85BDC9FD1C3A}</a:tableStyleId>
                  </a:tblPr>
                  <a:tblGrid>
                    <a:gridCol w="230063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46592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항목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결정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단위 (granularity)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client-level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서버 입력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l-GR" sz="1150" b="0" i="0" dirty="0" smtClean="0">
                                  <a:solidFill>
                                    <a:srgbClr val="0F172A"/>
                                  </a:solidFill>
                                  <a:latin typeface="Cambria Math" panose="02040503050406030204" pitchFamily="18" charset="0"/>
                                  <a:ea typeface="Noto Sans CJK KR"/>
                                  <a:cs typeface="Noto Sans CJK KR"/>
                                </a:rPr>
                                <m:t>Δ</m:t>
                              </m:r>
                              <m:sSub>
                                <m:sSubPr>
                                  <m:ctrlPr>
                                    <a:rPr lang="el-GR" sz="1150" b="0" i="1" dirty="0" err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Noto Sans CJK KR"/>
                                      <a:cs typeface="Noto Sans CJK KR"/>
                                    </a:rPr>
                                  </m:ctrlPr>
                                </m:sSubPr>
                                <m:e>
                                  <m:r>
                                    <a:rPr lang="el-GR" sz="1150" b="0" i="1" dirty="0" err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Noto Sans CJK KR"/>
                                      <a:cs typeface="Noto Sans CJK KR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l-GR" sz="1150" b="0" i="1" dirty="0" err="1">
                                      <a:solidFill>
                                        <a:srgbClr val="0F172A"/>
                                      </a:solidFill>
                                      <a:latin typeface="Cambria Math" panose="02040503050406030204" pitchFamily="18" charset="0"/>
                                      <a:ea typeface="Noto Sans CJK KR"/>
                                      <a:cs typeface="Noto Sans CJK KR"/>
                                    </a:rPr>
                                    <m:t>𝑘</m:t>
                                  </m:r>
                                </m:sub>
                              </m:sSub>
                            </m:oMath>
                          </a14:m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 (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LoRA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) 만 — 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추가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 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통계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/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통신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 0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근사 차수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1차 + 2차 Taylor, 항상 둘 다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곡률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Hessian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최적화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plain SGD (momentum 0)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검증셋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server-side held-out · 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도메인당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 200 × 5 = 1000 stratified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PEFT / 정규화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LoRA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 / participation 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정규화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 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없음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(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기본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모델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1B Llama-3.2 · 3B Llama-3.2 · 7B Llama-2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9288136"/>
                  </p:ext>
                </p:extLst>
              </p:nvPr>
            </p:nvGraphicFramePr>
            <p:xfrm>
              <a:off x="566928" y="1417320"/>
              <a:ext cx="6766559" cy="3579876"/>
            </p:xfrm>
            <a:graphic>
              <a:graphicData uri="http://schemas.openxmlformats.org/drawingml/2006/table">
                <a:tbl>
                  <a:tblPr firstRow="1">
                    <a:tableStyleId>{5C22544A-7EE6-4342-B048-85BDC9FD1C3A}</a:tableStyleId>
                  </a:tblPr>
                  <a:tblGrid>
                    <a:gridCol w="230063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46592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항목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1" i="0">
                              <a:solidFill>
                                <a:srgbClr val="FFFFFF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결정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11264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단위 (granularity)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client-level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서버 입력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2296" marR="64008" marT="18288" marB="18288" anchor="ctr">
                        <a:blipFill>
                          <a:blip r:embed="rId2"/>
                          <a:stretch>
                            <a:fillRect l="-51705" t="-203077" r="-682" b="-60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근사 차수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1차 + 2차 Taylor, 항상 둘 다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곡률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Hessian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최적화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plain SGD (momentum 0)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검증셋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server-side held-out · 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도메인당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 200 × 5 = 1000 stratified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PEFT / 정규화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LoRA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 / participation 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정규화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 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없음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(</a:t>
                          </a:r>
                          <a:r>
                            <a:rPr sz="1150" b="0" i="0" dirty="0" err="1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기본</a:t>
                          </a:r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)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FFFF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9776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모델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150" b="0" i="0" dirty="0">
                              <a:solidFill>
                                <a:srgbClr val="0F172A"/>
                              </a:solidFill>
                              <a:latin typeface="Noto Sans CJK KR"/>
                              <a:ea typeface="Noto Sans CJK KR"/>
                              <a:cs typeface="Noto Sans CJK KR"/>
                            </a:rPr>
                            <a:t>1B Llama-3.2 · 3B Llama-3.2 · 7B Llama-2</a:t>
                          </a:r>
                        </a:p>
                      </a:txBody>
                      <a:tcPr marL="82296" marR="64008" marT="18288" marB="18288" anchor="ctr">
                        <a:solidFill>
                          <a:srgbClr val="F1F5F9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/>
          <p:cNvSpPr txBox="1"/>
          <p:nvPr/>
        </p:nvSpPr>
        <p:spPr>
          <a:xfrm>
            <a:off x="7543800" y="137160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Dual Oracle (ground truth)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737360"/>
            <a:ext cx="4080967" cy="1417320"/>
          </a:xfrm>
          <a:prstGeom prst="roundRect">
            <a:avLst>
              <a:gd name="adj" fmla="val 4500"/>
            </a:avLst>
          </a:prstGeom>
          <a:solidFill>
            <a:srgbClr val="F1F5F9"/>
          </a:solidFill>
          <a:ln w="9525">
            <a:solidFill>
              <a:srgbClr val="CD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26679" y="1865376"/>
            <a:ext cx="3715207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(a) Exact retrain SV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U(S)=</a:t>
            </a:r>
            <a:r>
              <a:rPr sz="11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S만으로</a:t>
            </a:r>
            <a:r>
              <a:rPr sz="11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FL </a:t>
            </a:r>
            <a:r>
              <a:rPr sz="11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학습</a:t>
            </a:r>
            <a:r>
              <a:rPr sz="11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(</a:t>
            </a:r>
            <a:r>
              <a:rPr sz="11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데이터가치</a:t>
            </a:r>
            <a:r>
              <a:rPr sz="11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1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표준</a:t>
            </a:r>
            <a:r>
              <a:rPr sz="11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). 1B N∈{5,10} · 3B N=5 · 7B ✗(compute).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3291840"/>
            <a:ext cx="4080967" cy="1554480"/>
          </a:xfrm>
          <a:prstGeom prst="roundRect">
            <a:avLst>
              <a:gd name="adj" fmla="val 4500"/>
            </a:avLst>
          </a:prstGeom>
          <a:solidFill>
            <a:srgbClr val="F1F5F9"/>
          </a:solidFill>
          <a:ln w="9525">
            <a:solidFill>
              <a:srgbClr val="CD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/>
            </p:nvSpPr>
            <p:spPr>
              <a:xfrm>
                <a:off x="7726679" y="3419856"/>
                <a:ext cx="3715207" cy="794385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l">
                  <a:lnSpc>
                    <a:spcPct val="100000"/>
                  </a:lnSpc>
                </a:pPr>
                <a:r>
                  <a:rPr sz="1200" b="1" i="0" dirty="0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(b) IRDS in-run SV</a:t>
                </a:r>
              </a:p>
              <a:p>
                <a:pPr algn="l">
                  <a:lnSpc>
                    <a:spcPct val="115000"/>
                  </a:lnSpc>
                  <a:spcBef>
                    <a:spcPts val="300"/>
                  </a:spcBef>
                </a:pPr>
                <a:r>
                  <a:rPr sz="110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Flirds</a:t>
                </a:r>
                <a:r>
                  <a:rPr sz="110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-correct oracle. cross-silo N=10 exact </a:t>
                </a:r>
                <a:r>
                  <a:rPr sz="110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enum</a:t>
                </a:r>
                <a:r>
                  <a:rPr sz="110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(1024 subset) · cross-device N=100 MC. </a:t>
                </a:r>
                <a:r>
                  <a:rPr sz="110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비용</a:t>
                </a:r>
                <a:r>
                  <a:rPr sz="110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10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pPr>
                      <m:e>
                        <m:r>
                          <a:rPr lang="en-US" altLang="ko-KR" sz="110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2</m:t>
                        </m:r>
                      </m:e>
                      <m:sup>
                        <m:r>
                          <a:rPr lang="ko-KR" altLang="en-US" sz="1100" b="0" i="1" dirty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𝑁</m:t>
                        </m:r>
                      </m:sup>
                    </m:sSup>
                    <m:r>
                      <a:rPr lang="en-US" altLang="ko-KR" sz="1100" b="0" i="1" dirty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·</m:t>
                    </m:r>
                    <m:r>
                      <a:rPr lang="ko-KR" altLang="en-US" sz="1100" b="0" i="1" dirty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𝑅</m:t>
                    </m:r>
                    <m:r>
                      <a:rPr lang="en-US" altLang="ko-KR" sz="1100" b="0" i="1" dirty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·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1100" b="0" i="1" dirty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dPr>
                      <m:e>
                        <m:r>
                          <a:rPr lang="ko-KR" altLang="en-US" sz="110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𝑣𝑎𝑙</m:t>
                        </m:r>
                      </m:e>
                    </m:d>
                    <m:r>
                      <a:rPr lang="en-US" altLang="ko-KR" sz="1100" b="0" i="1" dirty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·</m:t>
                    </m:r>
                    <m:r>
                      <a:rPr lang="ko-KR" altLang="en-US" sz="1100" b="0" i="1" dirty="0">
                        <a:solidFill>
                          <a:srgbClr val="0F172A"/>
                        </a:solidFill>
                        <a:latin typeface="Cambria Math" panose="02040503050406030204" pitchFamily="18" charset="0"/>
                        <a:ea typeface="Noto Sans CJK KR"/>
                        <a:cs typeface="Noto Sans CJK KR"/>
                      </a:rPr>
                      <m:t>𝑠𝑒𝑞</m:t>
                    </m:r>
                  </m:oMath>
                </a14:m>
                <a:r>
                  <a:rPr sz="110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→ N5↔N10 = 32× · fp32 </a:t>
                </a:r>
                <a:r>
                  <a:rPr sz="110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필수</a:t>
                </a:r>
                <a:r>
                  <a:rPr sz="110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6679" y="3419856"/>
                <a:ext cx="3715207" cy="794385"/>
              </a:xfrm>
              <a:prstGeom prst="rect">
                <a:avLst/>
              </a:prstGeom>
              <a:blipFill>
                <a:blip r:embed="rId3"/>
                <a:stretch>
                  <a:fillRect l="-2459" t="-6154" r="-328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/>
        </p:nvSpPr>
        <p:spPr>
          <a:xfrm>
            <a:off x="7543800" y="4983480"/>
            <a:ext cx="4080967" cy="914400"/>
          </a:xfrm>
          <a:prstGeom prst="roundRect">
            <a:avLst>
              <a:gd name="adj" fmla="val 4500"/>
            </a:avLst>
          </a:prstGeom>
          <a:solidFill>
            <a:srgbClr val="112640"/>
          </a:solidFill>
          <a:ln w="9525">
            <a:solidFill>
              <a:srgbClr val="11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5084064"/>
            <a:ext cx="3715207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원본</a:t>
            </a:r>
            <a:r>
              <a:rPr sz="1050" b="0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 lock (conv4) + N1–N4 / Q1–Q3 / ④⑤ </a:t>
            </a:r>
            <a:r>
              <a:rPr sz="1050" b="0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까지</a:t>
            </a:r>
            <a:r>
              <a:rPr sz="1050" b="0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050" b="0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설계</a:t>
            </a:r>
            <a:r>
              <a:rPr sz="1050" b="0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050" b="0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전부</a:t>
            </a:r>
            <a:r>
              <a:rPr sz="1050" b="0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050" b="0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동결</a:t>
            </a:r>
            <a:r>
              <a:rPr sz="1050" b="0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 — </a:t>
            </a:r>
            <a:r>
              <a:rPr sz="1050" b="0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구현</a:t>
            </a:r>
            <a:r>
              <a:rPr sz="1050" b="0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 중 새 </a:t>
            </a:r>
            <a:r>
              <a:rPr sz="1050" b="0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정보</a:t>
            </a:r>
            <a:r>
              <a:rPr sz="1050" b="0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050" b="0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없는</a:t>
            </a:r>
            <a:r>
              <a:rPr sz="1050" b="0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 한 </a:t>
            </a:r>
            <a:r>
              <a:rPr sz="1050" b="0" i="0" dirty="0" err="1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재론</a:t>
            </a:r>
            <a:r>
              <a:rPr sz="1050" b="0" i="0" dirty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 안 함.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419088"/>
            <a:ext cx="11057839" cy="10058"/>
          </a:xfrm>
          <a:prstGeom prst="rect">
            <a:avLst/>
          </a:prstGeom>
          <a:solidFill>
            <a:srgbClr val="D4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Flirds · 연구 진행 보고 · 2026-06-04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PROGRESS ·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진행 현황 ① — Phase 0 / 0.5 완료 (CNN)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777240" cy="47548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6928" y="1444752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완료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14173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Phase 0 — FL-Shapley baseline 4종 self-build 재현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57836" cy="7680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644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44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44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44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GTG-Shapley</a:t>
                      </a:r>
                    </a:p>
                  </a:txBody>
                  <a:tcPr marL="82296" marR="64008" marT="18288" marB="18288" anchor="ctr">
                    <a:solidFill>
                      <a:srgbClr val="1E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FedSV</a:t>
                      </a:r>
                    </a:p>
                  </a:txBody>
                  <a:tcPr marL="82296" marR="64008" marT="18288" marB="18288" anchor="ctr">
                    <a:solidFill>
                      <a:srgbClr val="1E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ComFedSV</a:t>
                      </a:r>
                    </a:p>
                  </a:txBody>
                  <a:tcPr marL="82296" marR="64008" marT="18288" marB="18288" anchor="ctr">
                    <a:solidFill>
                      <a:srgbClr val="1E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Ripple</a:t>
                      </a:r>
                    </a:p>
                  </a:txBody>
                  <a:tcPr marL="82296" marR="64008" marT="18288" marB="18288" anchor="ctr">
                    <a:solidFill>
                      <a:srgbClr val="1E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recon cosine 0.99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perm-MC 0.998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Spearman {1.0,.96,.85,.84}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noisy-AUROC 1.0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267004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Ripple 속도이득 62× vs AFedSV+ / 49× vs FedSV (ground-truth-SV 지표 없음 → task-driven 검증).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127248"/>
            <a:ext cx="768096" cy="274320"/>
          </a:xfrm>
          <a:prstGeom prst="roundRect">
            <a:avLst>
              <a:gd name="adj" fmla="val 50000"/>
            </a:avLst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09981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Phase 0.5 — Flirds estimator + dual oracle · 전 sanity gate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520440"/>
            <a:ext cx="11057839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46888" indent="-246888" algn="l">
              <a:lnSpc>
                <a:spcPct val="105000"/>
              </a:lnSpc>
              <a:spcBef>
                <a:spcPts val="0"/>
              </a:spcBef>
            </a:pPr>
            <a:r>
              <a:rPr sz="125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•  </a:t>
            </a:r>
            <a:r>
              <a:rPr sz="125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estimator ≈ (b) in-run oracle: Spearman 1.0 (3-seed 1+2차 0.96 &gt; 1차 0.92).</a:t>
            </a:r>
          </a:p>
          <a:p>
            <a:pPr marL="246888" indent="-246888" algn="l">
              <a:lnSpc>
                <a:spcPct val="105000"/>
              </a:lnSpc>
              <a:spcBef>
                <a:spcPts val="700"/>
              </a:spcBef>
            </a:pPr>
            <a:r>
              <a:rPr sz="125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•  </a:t>
            </a:r>
            <a:r>
              <a:rPr sz="125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noisy-client AUROC 1.0 · (b) Shapley efficiency = 0, symmetry = 0 (exact).</a:t>
            </a:r>
          </a:p>
          <a:p>
            <a:pPr marL="246888" indent="-246888" algn="l">
              <a:lnSpc>
                <a:spcPct val="105000"/>
              </a:lnSpc>
              <a:spcBef>
                <a:spcPts val="700"/>
              </a:spcBef>
            </a:pPr>
            <a:r>
              <a:rPr sz="125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•  </a:t>
            </a:r>
            <a:r>
              <a:rPr sz="125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HVP jvp-vs-double-backward 9.8e-6 · N=2 singleton 3e-3 · 재현성 bitwise-0.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074920"/>
            <a:ext cx="11057839" cy="841248"/>
          </a:xfrm>
          <a:prstGeom prst="roundRect">
            <a:avLst>
              <a:gd name="adj" fmla="val 4500"/>
            </a:avLst>
          </a:prstGeom>
          <a:solidFill>
            <a:srgbClr val="EBF6F4"/>
          </a:solidFill>
          <a:ln w="9525">
            <a:solidFill>
              <a:srgbClr val="B4D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" y="5312135"/>
            <a:ext cx="10600639" cy="38510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dirty="0" err="1">
                <a:solidFill>
                  <a:srgbClr val="0D766E"/>
                </a:solidFill>
                <a:latin typeface="Noto Sans CJK KR"/>
                <a:ea typeface="Noto Sans CJK KR"/>
                <a:cs typeface="Noto Sans CJK KR"/>
              </a:rPr>
              <a:t>결정</a:t>
            </a:r>
            <a:r>
              <a:rPr sz="1100" b="1" i="0" dirty="0">
                <a:solidFill>
                  <a:srgbClr val="0D766E"/>
                </a:solidFill>
                <a:latin typeface="Noto Sans CJK KR"/>
                <a:ea typeface="Noto Sans CJK KR"/>
                <a:cs typeface="Noto Sans CJK KR"/>
              </a:rPr>
              <a:t> (</a:t>
            </a:r>
            <a:r>
              <a:rPr sz="1100" b="1" i="0" dirty="0" err="1">
                <a:solidFill>
                  <a:srgbClr val="0D766E"/>
                </a:solidFill>
                <a:latin typeface="Noto Sans CJK KR"/>
                <a:ea typeface="Noto Sans CJK KR"/>
                <a:cs typeface="Noto Sans CJK KR"/>
              </a:rPr>
              <a:t>데이터로</a:t>
            </a:r>
            <a:r>
              <a:rPr sz="1100" b="1" i="0" dirty="0">
                <a:solidFill>
                  <a:srgbClr val="0D766E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100" b="1" i="0" dirty="0" err="1">
                <a:solidFill>
                  <a:srgbClr val="0D766E"/>
                </a:solidFill>
                <a:latin typeface="Noto Sans CJK KR"/>
                <a:ea typeface="Noto Sans CJK KR"/>
                <a:cs typeface="Noto Sans CJK KR"/>
              </a:rPr>
              <a:t>확인</a:t>
            </a:r>
            <a:r>
              <a:rPr sz="1100" b="1" i="0" dirty="0">
                <a:solidFill>
                  <a:srgbClr val="0D766E"/>
                </a:solidFill>
                <a:latin typeface="Noto Sans CJK KR"/>
                <a:ea typeface="Noto Sans CJK KR"/>
                <a:cs typeface="Noto Sans CJK KR"/>
              </a:rPr>
              <a:t>)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1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2차항 = Hessian · momentum </a:t>
            </a:r>
            <a:r>
              <a:rPr sz="11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제거</a:t>
            </a:r>
            <a:r>
              <a:rPr sz="11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(plain SGD) 시 2차항이 1차항을 </a:t>
            </a:r>
            <a:r>
              <a:rPr sz="11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이김</a:t>
            </a:r>
            <a:r>
              <a:rPr sz="11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→ "FL per-</a:t>
            </a:r>
            <a:r>
              <a:rPr sz="11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round가</a:t>
            </a:r>
            <a:r>
              <a:rPr sz="11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2차항의 </a:t>
            </a:r>
            <a:r>
              <a:rPr sz="11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무대"라는</a:t>
            </a:r>
            <a:r>
              <a:rPr sz="11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1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가설을</a:t>
            </a:r>
            <a:r>
              <a:rPr sz="11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1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CNN에서</a:t>
            </a:r>
            <a:r>
              <a:rPr sz="11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</a:t>
            </a:r>
            <a:r>
              <a:rPr sz="115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실증</a:t>
            </a:r>
            <a:r>
              <a:rPr sz="115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419088"/>
            <a:ext cx="11057839" cy="10058"/>
          </a:xfrm>
          <a:prstGeom prst="rect">
            <a:avLst/>
          </a:prstGeom>
          <a:solidFill>
            <a:srgbClr val="D4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Flirds · 연구 진행 보고 · 2026-06-04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PROGRESS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진행 현황 ② — Phase 1 (LLM 1B) 거의 완료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777240" cy="47548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estimator/oracle 무변경. 5단계 모두 빌드 + 검증 (real Llama-3.2-1B 궤적).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92224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755648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backend-agnostic estimator/oracle + partial-participation + per-layer 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55648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CNN bit-identical 회귀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267712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231136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LLM backend + FL loop (TRL SFTTrainer + forced SGD)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31136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1B est≈oracle 1.70e-6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43200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706624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5-domain free-form data layer + val micro-batching + per-domain norm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706624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chunked==single 3.8e-8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18688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182112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② corruptor: </a:t>
            </a: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answer_swap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(noisy) + </a:t>
            </a: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free_rider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(zero/random)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182112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free-rider φ = 정확히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694176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65760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#7 first-clean-run </a:t>
            </a: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인프라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(eval · </a:t>
            </a:r>
            <a:r>
              <a:rPr sz="1200" b="0" i="0" dirty="0" err="1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run_logger</a:t>
            </a:r>
            <a:r>
              <a:rPr sz="1200" b="0" i="0" dirty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 · orchestrator)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6576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SMOKE 1.6e-7 · AUROC 1.0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24528"/>
            <a:ext cx="11057839" cy="786384"/>
          </a:xfrm>
          <a:prstGeom prst="roundRect">
            <a:avLst>
              <a:gd name="adj" fmla="val 4500"/>
            </a:avLst>
          </a:prstGeom>
          <a:solidFill>
            <a:srgbClr val="F1F5F9"/>
          </a:solidFill>
          <a:ln w="9525">
            <a:solidFill>
              <a:srgbClr val="CD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9808" y="4315968"/>
            <a:ext cx="10692079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3 LLM musts (CNN엔 없던 것)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11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eager attention(forward-AD) · FL state = named_parameters key · embedding require-grad hook clear (functorch ↔ HF).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120640"/>
            <a:ext cx="11057839" cy="804672"/>
          </a:xfrm>
          <a:prstGeom prst="roundRect">
            <a:avLst>
              <a:gd name="adj" fmla="val 4500"/>
            </a:avLst>
          </a:prstGeom>
          <a:solidFill>
            <a:srgbClr val="112640"/>
          </a:solidFill>
          <a:ln w="9525">
            <a:solidFill>
              <a:srgbClr val="11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" y="5221224"/>
            <a:ext cx="1069207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B07010"/>
                </a:solidFill>
                <a:latin typeface="Noto Sans CJK KR"/>
                <a:ea typeface="Noto Sans CJK KR"/>
                <a:cs typeface="Noto Sans CJK KR"/>
              </a:rPr>
              <a:t>남은 1액션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25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FULL scale run 실행 — N=5, R≈30, 3 seed, ORACLE_B(N=5), ~5–7h (MINI de-risk 먼저).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419088"/>
            <a:ext cx="11057839" cy="10058"/>
          </a:xfrm>
          <a:prstGeom prst="rect">
            <a:avLst/>
          </a:prstGeom>
          <a:solidFill>
            <a:srgbClr val="D4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Flirds · 연구 진행 보고 · 2026-06-04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DATA ·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데이터셋 &amp; 평가 프로토콜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777240" cy="47548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Cross-silo 5-domain — 전부 free-form instruction→response (공유 val-loss Shapley 공정성)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91640"/>
          <a:ext cx="11057837" cy="731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26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9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04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80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904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09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domain</a:t>
                      </a:r>
                    </a:p>
                  </a:txBody>
                  <a:tcPr marL="82296" marR="64008" marT="18288" marB="18288" anchor="ctr">
                    <a:solidFill>
                      <a:srgbClr val="1E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medical</a:t>
                      </a:r>
                    </a:p>
                  </a:txBody>
                  <a:tcPr marL="82296" marR="64008" marT="18288" marB="18288" anchor="ctr">
                    <a:solidFill>
                      <a:srgbClr val="1E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legal</a:t>
                      </a:r>
                    </a:p>
                  </a:txBody>
                  <a:tcPr marL="82296" marR="64008" marT="18288" marB="18288" anchor="ctr">
                    <a:solidFill>
                      <a:srgbClr val="1E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finance</a:t>
                      </a:r>
                    </a:p>
                  </a:txBody>
                  <a:tcPr marL="82296" marR="64008" marT="18288" marB="18288" anchor="ctr">
                    <a:solidFill>
                      <a:srgbClr val="1E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math</a:t>
                      </a:r>
                    </a:p>
                  </a:txBody>
                  <a:tcPr marL="82296" marR="64008" marT="18288" marB="18288" anchor="ctr">
                    <a:solidFill>
                      <a:srgbClr val="1E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general</a:t>
                      </a:r>
                    </a:p>
                  </a:txBody>
                  <a:tcPr marL="82296" marR="64008" marT="18288" marB="18288" anchor="ctr">
                    <a:solidFill>
                      <a:srgbClr val="1E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0F172A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dataset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med flashcards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ibunescu QA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FiQA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AQUA-RAT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Noto Sans CJK KR"/>
                          <a:ea typeface="Noto Sans CJK KR"/>
                          <a:cs typeface="Noto Sans CJK KR"/>
                        </a:rPr>
                        <a:t>Dolly</a:t>
                      </a:r>
                    </a:p>
                  </a:txBody>
                  <a:tcPr marL="82296" marR="64008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2505456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46888" indent="-246888"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•  </a:t>
            </a:r>
            <a:r>
              <a:rPr sz="115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크기: 도메인당 train 12k / val 200 / test 2k (상호 disjoint) · cross-device: Fed-WildChat + FedHDS (N=100, K=10).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108960"/>
            <a:ext cx="110578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평가 — utility ≠ downstream 분리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401568"/>
            <a:ext cx="1105783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46888" indent="-246888" algn="l">
              <a:lnSpc>
                <a:spcPct val="105000"/>
              </a:lnSpc>
              <a:spcBef>
                <a:spcPts val="0"/>
              </a:spcBef>
            </a:pPr>
            <a:r>
              <a:rPr sz="115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•  </a:t>
            </a:r>
            <a:r>
              <a:rPr sz="115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utility = val-loss (estimator/oracle가 소비) ≠ downstream = per-domain ROUGE-L + math(AQUA) EM.</a:t>
            </a:r>
          </a:p>
          <a:p>
            <a:pPr marL="246888" indent="-246888" algn="l">
              <a:lnSpc>
                <a:spcPct val="105000"/>
              </a:lnSpc>
              <a:spcBef>
                <a:spcPts val="700"/>
              </a:spcBef>
            </a:pPr>
            <a:r>
              <a:rPr sz="115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•  </a:t>
            </a:r>
            <a:r>
              <a:rPr sz="115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selection-convergence: φ→top-K→retrain vs full/random (MATES 템플릿). caveat: heterogeneous FL서 selection이 random에 질 수 있음 — 넘어야 할 bar.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17720"/>
            <a:ext cx="11057839" cy="1280160"/>
          </a:xfrm>
          <a:prstGeom prst="roundRect">
            <a:avLst>
              <a:gd name="adj" fmla="val 4500"/>
            </a:avLst>
          </a:prstGeom>
          <a:solidFill>
            <a:srgbClr val="F1F5F9"/>
          </a:solidFill>
          <a:ln w="9525">
            <a:solidFill>
              <a:srgbClr val="CD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768096" y="4736592"/>
                <a:ext cx="10600639" cy="899926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l">
                  <a:lnSpc>
                    <a:spcPct val="100000"/>
                  </a:lnSpc>
                </a:pPr>
                <a:r>
                  <a:rPr sz="1200" b="1" i="0" dirty="0" err="1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보고</a:t>
                </a:r>
                <a:r>
                  <a:rPr sz="1200" b="1" i="0" dirty="0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 </a:t>
                </a:r>
                <a:r>
                  <a:rPr sz="1200" b="1" i="0" dirty="0" err="1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엄밀성</a:t>
                </a:r>
                <a:r>
                  <a:rPr sz="1200" b="1" i="0" dirty="0">
                    <a:solidFill>
                      <a:srgbClr val="112640"/>
                    </a:solidFill>
                    <a:latin typeface="Noto Sans CJK KR"/>
                    <a:ea typeface="Noto Sans CJK KR"/>
                    <a:cs typeface="Noto Sans CJK KR"/>
                  </a:rPr>
                  <a:t> (Protocol)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500"/>
                  </a:spcBef>
                </a:pPr>
                <a:r>
                  <a:rPr sz="1150" b="1" i="0" dirty="0">
                    <a:solidFill>
                      <a:srgbClr val="1E4E79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수치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: bf16 train / fp32 eval + fp32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내적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· ≥ 3 seed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mean±std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· 95% bootstrap CI.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400"/>
                  </a:spcBef>
                </a:pPr>
                <a:r>
                  <a:rPr sz="1150" b="1" i="0" dirty="0">
                    <a:solidFill>
                      <a:srgbClr val="1E4E79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sanity gate: E=1 ⇒ residual≈0 · N=2 ⇒ singleton SV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</m:ctrlPr>
                      </m:sSubPr>
                      <m:e>
                        <m:r>
                          <a:rPr lang="ko-KR" altLang="en-US" sz="1150" b="0" i="1" dirty="0" smtClean="0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𝜑</m:t>
                        </m:r>
                      </m:e>
                      <m:sub>
                        <m:r>
                          <a:rPr lang="ko-KR" altLang="en-US" sz="1150" b="0" i="1" dirty="0" err="1">
                            <a:solidFill>
                              <a:srgbClr val="0F172A"/>
                            </a:solidFill>
                            <a:latin typeface="Cambria Math" panose="02040503050406030204" pitchFamily="18" charset="0"/>
                            <a:ea typeface="Noto Sans CJK KR"/>
                            <a:cs typeface="Noto Sans CJK KR"/>
                          </a:rPr>
                          <m:t>𝑘</m:t>
                        </m:r>
                      </m:sub>
                    </m:sSub>
                  </m:oMath>
                </a14:m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·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재현성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bitwise.</a:t>
                </a:r>
              </a:p>
              <a:p>
                <a:pPr marL="246888" indent="-246888" algn="l">
                  <a:lnSpc>
                    <a:spcPct val="105000"/>
                  </a:lnSpc>
                  <a:spcBef>
                    <a:spcPts val="400"/>
                  </a:spcBef>
                </a:pPr>
                <a:r>
                  <a:rPr sz="1150" b="1" i="0" dirty="0">
                    <a:solidFill>
                      <a:srgbClr val="1E4E79"/>
                    </a:solidFill>
                    <a:latin typeface="Noto Sans CJK KR"/>
                    <a:ea typeface="Noto Sans CJK KR"/>
                    <a:cs typeface="Noto Sans CJK KR"/>
                  </a:rPr>
                  <a:t>• 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추적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: local run-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dir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 (config + git SHA + env hash + per-round φ parquet), W&amp;B </a:t>
                </a:r>
                <a:r>
                  <a:rPr sz="1150" b="0" i="0" dirty="0" err="1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미사용</a:t>
                </a:r>
                <a:r>
                  <a:rPr sz="1150" b="0" i="0" dirty="0">
                    <a:solidFill>
                      <a:srgbClr val="0F172A"/>
                    </a:solidFill>
                    <a:latin typeface="Noto Sans CJK KR"/>
                    <a:ea typeface="Noto Sans CJK KR"/>
                    <a:cs typeface="Noto Sans CJK KR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" y="4736592"/>
                <a:ext cx="10600639" cy="899926"/>
              </a:xfrm>
              <a:prstGeom prst="rect">
                <a:avLst/>
              </a:prstGeom>
              <a:blipFill>
                <a:blip r:embed="rId2"/>
                <a:stretch>
                  <a:fillRect l="-863" t="-6081" b="-87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/>
          <p:cNvSpPr/>
          <p:nvPr/>
        </p:nvSpPr>
        <p:spPr>
          <a:xfrm>
            <a:off x="566928" y="6419088"/>
            <a:ext cx="11057839" cy="10058"/>
          </a:xfrm>
          <a:prstGeom prst="rect">
            <a:avLst/>
          </a:prstGeom>
          <a:solidFill>
            <a:srgbClr val="D4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Flirds · 연구 진행 보고 · 2026-06-04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EXPERIMENT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실험 계획 — Section 3 (18 항목)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777240" cy="47548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★★★ Spine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3736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baseline 10종 + detection 2(FLDetector·STD-DAGMM) · dual oracle (a)/(b) · Ripple head-to-head + 이론적 reduction 시도.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395728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★★ 특성화 / ablation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670048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α-sweep × E-sweep drift 매트릭스(16셀) · Q2 variants(3×3) · ②③ 특성화 · 적대적 stress · non-IID valuation bias.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28416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★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02736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7B instruction-tuning bench (LESS · FedDQC 직접 비교).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315968"/>
            <a:ext cx="11057839" cy="914400"/>
          </a:xfrm>
          <a:prstGeom prst="roundRect">
            <a:avLst>
              <a:gd name="adj" fmla="val 4500"/>
            </a:avLst>
          </a:prstGeom>
          <a:solidFill>
            <a:srgbClr val="FCF6E9"/>
          </a:solidFill>
          <a:ln w="9525">
            <a:solidFill>
              <a:srgbClr val="E2C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" y="4425696"/>
            <a:ext cx="1060063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07010"/>
                </a:solidFill>
                <a:latin typeface="Noto Sans CJK KR"/>
                <a:ea typeface="Noto Sans CJK KR"/>
                <a:cs typeface="Noto Sans CJK KR"/>
              </a:rPr>
              <a:t>◆ 차별화 실험 (flagship 후보)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15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PGD / direction-aligned poison: 1차항으로 못 잡는 공격을 2차(곡률)항이 분리하는가? — FedIF의 blind spot, Flirds-1st-only와 대조하여 "2차 &gt; 1차"를 직접 입증.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349240"/>
            <a:ext cx="11057839" cy="566928"/>
          </a:xfrm>
          <a:prstGeom prst="roundRect">
            <a:avLst>
              <a:gd name="adj" fmla="val 4500"/>
            </a:avLst>
          </a:prstGeom>
          <a:solidFill>
            <a:srgbClr val="112640"/>
          </a:solidFill>
          <a:ln w="9525">
            <a:solidFill>
              <a:srgbClr val="1126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9808" y="5394960"/>
            <a:ext cx="10692079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매트릭스: 1B / 3B / 7B 전 셀 (3 seed mean±std + 95% CI). est-vs-oracle fidelity는 비용 때문에 N으로 capped (N5↔N10 = 32×, fp32).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6419088"/>
            <a:ext cx="11057839" cy="10058"/>
          </a:xfrm>
          <a:prstGeom prst="rect">
            <a:avLst/>
          </a:prstGeom>
          <a:solidFill>
            <a:srgbClr val="D4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Flirds · 연구 진행 보고 · 2026-06-04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NEXT ·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다음 단계 &amp;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15568"/>
            <a:ext cx="777240" cy="47548"/>
          </a:xfrm>
          <a:prstGeom prst="rect">
            <a:avLst/>
          </a:prstGeom>
          <a:solidFill>
            <a:srgbClr val="0D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다음 단계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01368"/>
            <a:ext cx="969264" cy="274320"/>
          </a:xfrm>
          <a:prstGeom prst="roundRect">
            <a:avLst>
              <a:gd name="adj" fmla="val 50000"/>
            </a:avLst>
          </a:prstGeom>
          <a:solidFill>
            <a:srgbClr val="B07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즉시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7" y="1783080"/>
            <a:ext cx="4434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1B FULL clean run (N=5, R≈30, 3 seed, ~5–7h) — MINI de-risk 먼저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68296"/>
            <a:ext cx="969264" cy="274320"/>
          </a:xfrm>
          <a:prstGeom prst="roundRect">
            <a:avLst>
              <a:gd name="adj" fmla="val 50000"/>
            </a:avLst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이후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2350008"/>
            <a:ext cx="4434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SV baselines LLM 이식 (GTG/FedSV/ComFedSV/Ripple)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35224"/>
            <a:ext cx="969264" cy="274320"/>
          </a:xfrm>
          <a:prstGeom prst="roundRect">
            <a:avLst>
              <a:gd name="adj" fmla="val 50000"/>
            </a:avLst>
          </a:prstGeom>
          <a:solidFill>
            <a:srgbClr val="5A64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Phase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916936"/>
            <a:ext cx="4434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full baseline + Data Banzhaf + ShapleyFL + detection + 3B/7B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02152"/>
            <a:ext cx="969264" cy="274320"/>
          </a:xfrm>
          <a:prstGeom prst="roundRect">
            <a:avLst>
              <a:gd name="adj" fmla="val 50000"/>
            </a:avLst>
          </a:prstGeom>
          <a:solidFill>
            <a:srgbClr val="5A64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Noto Sans CJK KR"/>
                <a:ea typeface="Noto Sans CJK KR"/>
                <a:cs typeface="Noto Sans CJK KR"/>
              </a:rPr>
              <a:t>Phase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7" y="3483864"/>
            <a:ext cx="4434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실험 매트릭스 실행 + Ripple 이론 reduction → 논문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E79"/>
                </a:solidFill>
                <a:latin typeface="Noto Sans CJK KR"/>
                <a:ea typeface="Noto Sans CJK KR"/>
                <a:cs typeface="Noto Sans CJK KR"/>
              </a:rPr>
              <a:t>한계 (정직하게 보고)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1783080"/>
            <a:ext cx="5166360" cy="1207008"/>
          </a:xfrm>
          <a:prstGeom prst="roundRect">
            <a:avLst>
              <a:gd name="adj" fmla="val 4500"/>
            </a:avLst>
          </a:prstGeom>
          <a:solidFill>
            <a:srgbClr val="F1F5F9"/>
          </a:solidFill>
          <a:ln w="9525">
            <a:solidFill>
              <a:srgbClr val="CD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11112" y="1892807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Privacy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서버가 개별 Δw_k 를 봐야 함 → secure aggregation과 비호환. client-level 가치평가의 본질적 한계 (고칠 결함 아님).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3118104"/>
            <a:ext cx="5166360" cy="1207008"/>
          </a:xfrm>
          <a:prstGeom prst="roundRect">
            <a:avLst>
              <a:gd name="adj" fmla="val 4500"/>
            </a:avLst>
          </a:prstGeom>
          <a:solidFill>
            <a:srgbClr val="F1F5F9"/>
          </a:solidFill>
          <a:ln w="9525">
            <a:solidFill>
              <a:srgbClr val="CD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11112" y="3227832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noise vs OOD-good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signed value 안에서 분리하는 FL 방법은 없음 (detector들 non-IID서 붕괴) → characterized limitation으로 보류.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4453128"/>
            <a:ext cx="5166360" cy="1207008"/>
          </a:xfrm>
          <a:prstGeom prst="roundRect">
            <a:avLst>
              <a:gd name="adj" fmla="val 4500"/>
            </a:avLst>
          </a:prstGeom>
          <a:solidFill>
            <a:srgbClr val="F1F5F9"/>
          </a:solidFill>
          <a:ln w="9525">
            <a:solidFill>
              <a:srgbClr val="CD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11112" y="4562856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12640"/>
                </a:solidFill>
                <a:latin typeface="Noto Sans CJK KR"/>
                <a:ea typeface="Noto Sans CJK KR"/>
                <a:cs typeface="Noto Sans CJK KR"/>
              </a:rPr>
              <a:t>non-IID bias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00" b="0" i="0">
                <a:solidFill>
                  <a:srgbClr val="0F172A"/>
                </a:solidFill>
                <a:latin typeface="Noto Sans CJK KR"/>
                <a:ea typeface="Noto Sans CJK KR"/>
                <a:cs typeface="Noto Sans CJK KR"/>
              </a:rPr>
              <a:t>FL-Shapley가 maverick/희귀도메인 client를 과소평가 → α-sweep 필수 측정 의무.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419088"/>
            <a:ext cx="11057839" cy="10058"/>
          </a:xfrm>
          <a:prstGeom prst="rect">
            <a:avLst/>
          </a:prstGeom>
          <a:solidFill>
            <a:srgbClr val="D4D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Flirds · 연구 진행 보고 · 2026-06-04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6474"/>
                </a:solidFill>
                <a:latin typeface="Noto Sans CJK KR"/>
                <a:ea typeface="Noto Sans CJK KR"/>
                <a:cs typeface="Noto Sans CJK KR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2040</Words>
  <Application>Microsoft Office PowerPoint</Application>
  <PresentationFormat>와이드스크린</PresentationFormat>
  <Paragraphs>240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Noto Sans CJK KR</vt:lpstr>
      <vt:lpstr>Arial</vt:lpstr>
      <vt:lpstr>Calibri</vt:lpstr>
      <vt:lpstr>Cambria Math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최용희</cp:lastModifiedBy>
  <cp:revision>3</cp:revision>
  <dcterms:created xsi:type="dcterms:W3CDTF">2013-01-27T09:14:16Z</dcterms:created>
  <dcterms:modified xsi:type="dcterms:W3CDTF">2026-06-04T16:06:25Z</dcterms:modified>
  <cp:category/>
</cp:coreProperties>
</file>