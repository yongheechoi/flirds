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933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07010"/>
                </a:solidFill>
                <a:latin typeface="Noto Sans CJK KR"/>
                <a:ea typeface="Noto Sans CJK KR"/>
                <a:cs typeface="Noto Sans CJK KR"/>
              </a:rPr>
              <a:t>연구 진행 보고   ·   2026-06-04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3317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Flirds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56432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 i="0">
                <a:solidFill>
                  <a:srgbClr val="CED8E6"/>
                </a:solidFill>
                <a:latin typeface="Noto Sans CJK KR"/>
                <a:ea typeface="Noto Sans CJK KR"/>
                <a:cs typeface="Noto Sans CJK KR"/>
              </a:rPr>
              <a:t>Federated Learning  +  In-Run Data Shapley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4078224"/>
            <a:ext cx="1828800" cy="41148"/>
          </a:xfrm>
          <a:prstGeom prst="rect">
            <a:avLst/>
          </a:prstGeom>
          <a:solidFill>
            <a:srgbClr val="0D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61104"/>
            <a:ext cx="9966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CED8E6"/>
                </a:solidFill>
                <a:latin typeface="Noto Sans CJK KR"/>
                <a:ea typeface="Noto Sans CJK KR"/>
                <a:cs typeface="Noto Sans CJK KR"/>
              </a:rPr>
              <a:t>Vanilla FedAvg가 이미 받는 클라이언트 업데이트 Δw_k 만으로, 라운드별 검증손실 변화의 1차+2차 Taylor 전개로 client-level Shapley 를 닫힌형 계산 — 통신 추가비용 0, 역헤시안 없음.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897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6A5BC"/>
                </a:solidFill>
                <a:latin typeface="Noto Sans CJK KR"/>
                <a:ea typeface="Noto Sans CJK KR"/>
                <a:cs typeface="Noto Sans CJK KR"/>
              </a:rPr>
              <a:t>Yonghee Choi  ·  Edge AI Lab  ·  컴퓨팅 DGX B200 ×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12640"/>
                </a:solidFill>
                <a:latin typeface="Noto Sans CJK KR"/>
                <a:ea typeface="Noto Sans CJK KR"/>
                <a:cs typeface="Noto Sans CJK KR"/>
              </a:rPr>
              <a:t>한눈에 보기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777240" cy="47548"/>
          </a:xfrm>
          <a:prstGeom prst="rect">
            <a:avLst/>
          </a:prstGeom>
          <a:solidFill>
            <a:srgbClr val="0D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5532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46888" indent="-246888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•  </a:t>
            </a:r>
            <a:r>
              <a:rPr sz="1250" b="1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무엇:  </a:t>
            </a:r>
            <a:r>
              <a:rPr sz="125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FL에서 client별 데이터 기여도 φ_k 를 측정. IRDS(In-Run Data Shapley)를 FL + LoRA(PEFT)로 확장.</a:t>
            </a:r>
          </a:p>
          <a:p>
            <a:pPr algn="l" marL="246888" indent="-246888">
              <a:lnSpc>
                <a:spcPct val="105000"/>
              </a:lnSpc>
              <a:spcBef>
                <a:spcPts val="700"/>
              </a:spcBef>
            </a:pPr>
            <a:r>
              <a:rPr sz="125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•  </a:t>
            </a:r>
            <a:r>
              <a:rPr sz="1250" b="1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어떻게:  </a:t>
            </a:r>
            <a:r>
              <a:rPr sz="125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라운드별 검증손실 변화의 1차+2차 Taylor 닫힌형. Δw_k 만 사용 → 통신 추가비용 0.</a:t>
            </a:r>
          </a:p>
          <a:p>
            <a:pPr algn="l" marL="246888" indent="-246888">
              <a:lnSpc>
                <a:spcPct val="105000"/>
              </a:lnSpc>
              <a:spcBef>
                <a:spcPts val="700"/>
              </a:spcBef>
            </a:pPr>
            <a:r>
              <a:rPr sz="125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•  </a:t>
            </a:r>
            <a:r>
              <a:rPr sz="1250" b="1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강점:  </a:t>
            </a:r>
            <a:r>
              <a:rPr sz="125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역헤시안 없이 forward HVP(H·Δw). LLM에서 IF가 무너지는 원인(iHVP collapse)을 구조적으로 회피.</a:t>
            </a:r>
          </a:p>
          <a:p>
            <a:pPr algn="l" marL="246888" indent="-246888">
              <a:lnSpc>
                <a:spcPct val="105000"/>
              </a:lnSpc>
              <a:spcBef>
                <a:spcPts val="700"/>
              </a:spcBef>
            </a:pPr>
            <a:r>
              <a:rPr sz="125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•  </a:t>
            </a:r>
            <a:r>
              <a:rPr sz="1250" b="1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novelty:  </a:t>
            </a:r>
            <a:r>
              <a:rPr sz="125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client-level + in-run + 1·2차 Taylor + HVP 상호작용 + zero-comm + LoRA/LLM 교집합이 prior art에 비어 있음.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3716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A6474"/>
                </a:solidFill>
                <a:latin typeface="Noto Sans CJK KR"/>
                <a:ea typeface="Noto Sans CJK KR"/>
                <a:cs typeface="Noto Sans CJK KR"/>
              </a:rPr>
              <a:t>현재 위치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773936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0D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완료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79208" y="1755648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Phase 0 — CNN baseline 4종 재현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2340864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0D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완료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9208" y="2322576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Phase 0.5 — estimator + dual oracle · 전 게이트 green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907792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B07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진행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9208" y="2889504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Phase 1 — LLM 1B · 5단계 빌드+검증 · SMOKE green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474720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5A6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예정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9208" y="3456432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Phase 2 / 3 — full baseline · 실험 매트릭스 실행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532120"/>
            <a:ext cx="11057839" cy="713232"/>
          </a:xfrm>
          <a:prstGeom prst="roundRect">
            <a:avLst>
              <a:gd name="adj" fmla="val 4500"/>
            </a:avLst>
          </a:prstGeom>
          <a:solidFill>
            <a:srgbClr val="112640"/>
          </a:solidFill>
          <a:ln w="9525">
            <a:solidFill>
              <a:srgbClr val="112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07010"/>
                </a:solidFill>
                <a:latin typeface="Noto Sans CJK KR"/>
                <a:ea typeface="Noto Sans CJK KR"/>
                <a:cs typeface="Noto Sans CJK KR"/>
              </a:rPr>
              <a:t>다음 액션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1350" b="1" i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1B FULL clean run 실행 (MINI de-risk 먼저, ~5–7h) → 이후 SV baselines LLM 이식 → Phase 2/3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6419088"/>
            <a:ext cx="11057839" cy="10058"/>
          </a:xfrm>
          <a:prstGeom prst="rect">
            <a:avLst/>
          </a:prstGeom>
          <a:solidFill>
            <a:srgbClr val="D4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474"/>
                </a:solidFill>
                <a:latin typeface="Noto Sans CJK KR"/>
                <a:ea typeface="Noto Sans CJK KR"/>
                <a:cs typeface="Noto Sans CJK KR"/>
              </a:rPr>
              <a:t>Flirds · 연구 진행 보고 · 2026-06-04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474"/>
                </a:solidFill>
                <a:latin typeface="Noto Sans CJK KR"/>
                <a:ea typeface="Noto Sans CJK KR"/>
                <a:cs typeface="Noto Sans CJK KR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12640"/>
                </a:solidFill>
                <a:latin typeface="Noto Sans CJK KR"/>
                <a:ea typeface="Noto Sans CJK KR"/>
                <a:cs typeface="Noto Sans CJK KR"/>
              </a:rPr>
              <a:t>문제 정의 — FL에서 누구의 데이터가 기여했는가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777240" cy="47548"/>
          </a:xfrm>
          <a:prstGeom prst="rect">
            <a:avLst/>
          </a:prstGeom>
          <a:solidFill>
            <a:srgbClr val="0D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1105783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학습된 FL 모델에 대해 각 client(데이터 보유자)에게 기여도 φ_k 를 부여한다. 용도: 데이터 가치평가 · 저품질/free-rider 탐지 · 공정 보상 · 데이터 선택.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86000"/>
            <a:ext cx="110578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기존 방법의 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06040"/>
            <a:ext cx="3503066" cy="1371600"/>
          </a:xfrm>
          <a:prstGeom prst="roundRect">
            <a:avLst>
              <a:gd name="adj" fmla="val 4500"/>
            </a:avLst>
          </a:prstGeom>
          <a:solidFill>
            <a:srgbClr val="F1F5F9"/>
          </a:solidFill>
          <a:ln w="9525">
            <a:solidFill>
              <a:srgbClr val="CD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17388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2640"/>
                </a:solidFill>
                <a:latin typeface="Noto Sans CJK KR"/>
                <a:ea typeface="Noto Sans CJK KR"/>
                <a:cs typeface="Noto Sans CJK KR"/>
              </a:rPr>
              <a:t>Retraining 기반 Shapley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15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U(S) 평가에 2^N 재학습 필요 → LLM 스케일에서 불가능.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4314" y="2606040"/>
            <a:ext cx="3503066" cy="1371600"/>
          </a:xfrm>
          <a:prstGeom prst="roundRect">
            <a:avLst>
              <a:gd name="adj" fmla="val 4500"/>
            </a:avLst>
          </a:prstGeom>
          <a:solidFill>
            <a:srgbClr val="F1F5F9"/>
          </a:solidFill>
          <a:ln w="9525">
            <a:solidFill>
              <a:srgbClr val="CD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8906" y="2743200"/>
            <a:ext cx="317388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2640"/>
                </a:solidFill>
                <a:latin typeface="Noto Sans CJK KR"/>
                <a:ea typeface="Noto Sans CJK KR"/>
                <a:cs typeface="Noto Sans CJK KR"/>
              </a:rPr>
              <a:t>통신 / 계산 오버헤드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15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FedSV는 O(Tm²) 서버 평가, ComFedSV는 추가 all-client 라운드.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1700" y="2606040"/>
            <a:ext cx="3503066" cy="1371600"/>
          </a:xfrm>
          <a:prstGeom prst="roundRect">
            <a:avLst>
              <a:gd name="adj" fmla="val 4500"/>
            </a:avLst>
          </a:prstGeom>
          <a:solidFill>
            <a:srgbClr val="F1F5F9"/>
          </a:solidFill>
          <a:ln w="9525">
            <a:solidFill>
              <a:srgbClr val="CD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6292" y="2743200"/>
            <a:ext cx="317388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2640"/>
                </a:solidFill>
                <a:latin typeface="Noto Sans CJK KR"/>
                <a:ea typeface="Noto Sans CJK KR"/>
                <a:cs typeface="Noto Sans CJK KR"/>
              </a:rPr>
              <a:t>Gradient / IF 방법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15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heterogeneous FL서 취약(DataInf가 Fed-WildChat서 실패) · LLM서 iHVP collapse.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297680"/>
            <a:ext cx="11057839" cy="1417320"/>
          </a:xfrm>
          <a:prstGeom prst="roundRect">
            <a:avLst>
              <a:gd name="adj" fmla="val 4500"/>
            </a:avLst>
          </a:prstGeom>
          <a:solidFill>
            <a:srgbClr val="EBF6F4"/>
          </a:solidFill>
          <a:ln w="9525">
            <a:solidFill>
              <a:srgbClr val="B4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425696"/>
            <a:ext cx="10600639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766E"/>
                </a:solidFill>
                <a:latin typeface="Noto Sans CJK KR"/>
                <a:ea typeface="Noto Sans CJK KR"/>
                <a:cs typeface="Noto Sans CJK KR"/>
              </a:rPr>
              <a:t>Flirds의 접근</a:t>
            </a:r>
          </a:p>
          <a:p>
            <a:pPr algn="l" marL="246888" indent="-246888">
              <a:lnSpc>
                <a:spcPct val="105000"/>
              </a:lnSpc>
              <a:spcBef>
                <a:spcPts val="600"/>
              </a:spcBef>
            </a:pPr>
            <a:r>
              <a:rPr sz="1250" b="1" i="0">
                <a:solidFill>
                  <a:srgbClr val="0D766E"/>
                </a:solidFill>
                <a:latin typeface="Noto Sans CJK KR"/>
                <a:ea typeface="Noto Sans CJK KR"/>
                <a:cs typeface="Noto Sans CJK KR"/>
              </a:rPr>
              <a:t>•  </a:t>
            </a:r>
            <a:r>
              <a:rPr sz="125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vanilla FedAvg 위에 post-hoc로 동작 — 학습 알고리즘 변경 없음.</a:t>
            </a:r>
          </a:p>
          <a:p>
            <a:pPr algn="l" marL="246888" indent="-246888">
              <a:lnSpc>
                <a:spcPct val="105000"/>
              </a:lnSpc>
              <a:spcBef>
                <a:spcPts val="500"/>
              </a:spcBef>
            </a:pPr>
            <a:r>
              <a:rPr sz="1250" b="1" i="0">
                <a:solidFill>
                  <a:srgbClr val="0D766E"/>
                </a:solidFill>
                <a:latin typeface="Noto Sans CJK KR"/>
                <a:ea typeface="Noto Sans CJK KR"/>
                <a:cs typeface="Noto Sans CJK KR"/>
              </a:rPr>
              <a:t>•  </a:t>
            </a:r>
            <a:r>
              <a:rPr sz="125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서버가 이미 받는 Δw_k(LoRA) 만 사용 → 통신·계산 추가비용 0.</a:t>
            </a:r>
          </a:p>
          <a:p>
            <a:pPr algn="l" marL="246888" indent="-246888">
              <a:lnSpc>
                <a:spcPct val="105000"/>
              </a:lnSpc>
              <a:spcBef>
                <a:spcPts val="500"/>
              </a:spcBef>
            </a:pPr>
            <a:r>
              <a:rPr sz="1250" b="1" i="0">
                <a:solidFill>
                  <a:srgbClr val="0D766E"/>
                </a:solidFill>
                <a:latin typeface="Noto Sans CJK KR"/>
                <a:ea typeface="Noto Sans CJK KR"/>
                <a:cs typeface="Noto Sans CJK KR"/>
              </a:rPr>
              <a:t>•  </a:t>
            </a:r>
            <a:r>
              <a:rPr sz="125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forward HVP(H·Δw)만 — H⁻¹ 없음 → LLM-IF의 실패 원인 회피.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419088"/>
            <a:ext cx="11057839" cy="10058"/>
          </a:xfrm>
          <a:prstGeom prst="rect">
            <a:avLst/>
          </a:prstGeom>
          <a:solidFill>
            <a:srgbClr val="D4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474"/>
                </a:solidFill>
                <a:latin typeface="Noto Sans CJK KR"/>
                <a:ea typeface="Noto Sans CJK KR"/>
                <a:cs typeface="Noto Sans CJK KR"/>
              </a:rPr>
              <a:t>Flirds · 연구 진행 보고 · 2026-06-04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474"/>
                </a:solidFill>
                <a:latin typeface="Noto Sans CJK KR"/>
                <a:ea typeface="Noto Sans CJK KR"/>
                <a:cs typeface="Noto Sans CJK KR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12640"/>
                </a:solidFill>
                <a:latin typeface="Noto Sans CJK KR"/>
                <a:ea typeface="Noto Sans CJK KR"/>
                <a:cs typeface="Noto Sans CJK KR"/>
              </a:rPr>
              <a:t>방법 — 라운드별 손실변화의 1·2차 Taylor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777240" cy="47548"/>
          </a:xfrm>
          <a:prstGeom prst="rect">
            <a:avLst/>
          </a:prstGeom>
          <a:solidFill>
            <a:srgbClr val="0D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11057839" cy="1417320"/>
          </a:xfrm>
          <a:prstGeom prst="roundRect">
            <a:avLst>
              <a:gd name="adj" fmla="val 4500"/>
            </a:avLst>
          </a:prstGeom>
          <a:solidFill>
            <a:srgbClr val="112640"/>
          </a:solidFill>
          <a:ln w="9525">
            <a:solidFill>
              <a:srgbClr val="112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00784"/>
            <a:ext cx="1050919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φ</a:t>
            </a:r>
            <a:r>
              <a:rPr sz="1100" b="0" i="0" baseline="-250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k</a:t>
            </a:r>
            <a:r>
              <a:rPr sz="1100" b="0" i="0" baseline="300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(r)</a:t>
            </a:r>
            <a:r>
              <a:rPr sz="1700" b="0" i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  ≈  −∇ℓ(w</a:t>
            </a:r>
            <a:r>
              <a:rPr sz="1100" b="0" i="0" baseline="300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1700" b="0" i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, z</a:t>
            </a:r>
            <a:r>
              <a:rPr sz="1100" b="0" i="0" baseline="-250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val</a:t>
            </a:r>
            <a:r>
              <a:rPr sz="1700" b="0" i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) · Δw</a:t>
            </a:r>
            <a:r>
              <a:rPr sz="1100" b="0" i="0" baseline="-250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k</a:t>
            </a:r>
            <a:r>
              <a:rPr sz="1700" b="0" i="0">
                <a:solidFill>
                  <a:srgbClr val="B07010"/>
                </a:solidFill>
                <a:latin typeface="Noto Sans CJK KR"/>
                <a:ea typeface="Noto Sans CJK KR"/>
                <a:cs typeface="Noto Sans CJK KR"/>
              </a:rPr>
              <a:t>   +   ½ Δw</a:t>
            </a:r>
            <a:r>
              <a:rPr sz="1100" b="0" i="0" baseline="-25000">
                <a:solidFill>
                  <a:srgbClr val="B07010"/>
                </a:solidFill>
                <a:latin typeface="Noto Sans CJK KR"/>
                <a:ea typeface="Noto Sans CJK KR"/>
                <a:cs typeface="Noto Sans CJK KR"/>
              </a:rPr>
              <a:t>k</a:t>
            </a:r>
            <a:r>
              <a:rPr sz="1100" b="0" i="0" baseline="30000">
                <a:solidFill>
                  <a:srgbClr val="B07010"/>
                </a:solidFill>
                <a:latin typeface="Noto Sans CJK KR"/>
                <a:ea typeface="Noto Sans CJK KR"/>
                <a:cs typeface="Noto Sans CJK KR"/>
              </a:rPr>
              <a:t>T</a:t>
            </a:r>
            <a:r>
              <a:rPr sz="1700" b="0" i="0">
                <a:solidFill>
                  <a:srgbClr val="B07010"/>
                </a:solidFill>
                <a:latin typeface="Noto Sans CJK KR"/>
                <a:ea typeface="Noto Sans CJK KR"/>
                <a:cs typeface="Noto Sans CJK KR"/>
              </a:rPr>
              <a:t> H</a:t>
            </a:r>
            <a:r>
              <a:rPr sz="1100" b="0" i="0" baseline="30000">
                <a:solidFill>
                  <a:srgbClr val="B07010"/>
                </a:solidFill>
                <a:latin typeface="Noto Sans CJK KR"/>
                <a:ea typeface="Noto Sans CJK KR"/>
                <a:cs typeface="Noto Sans CJK KR"/>
              </a:rPr>
              <a:t>(val)</a:t>
            </a:r>
            <a:r>
              <a:rPr sz="1700" b="0" i="0">
                <a:solidFill>
                  <a:srgbClr val="B07010"/>
                </a:solidFill>
                <a:latin typeface="Noto Sans CJK KR"/>
                <a:ea typeface="Noto Sans CJK KR"/>
                <a:cs typeface="Noto Sans CJK KR"/>
              </a:rPr>
              <a:t>(w</a:t>
            </a:r>
            <a:r>
              <a:rPr sz="1100" b="0" i="0" baseline="30000">
                <a:solidFill>
                  <a:srgbClr val="B07010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1700" b="0" i="0">
                <a:solidFill>
                  <a:srgbClr val="B07010"/>
                </a:solidFill>
                <a:latin typeface="Noto Sans CJK KR"/>
                <a:ea typeface="Noto Sans CJK KR"/>
                <a:cs typeface="Noto Sans CJK KR"/>
              </a:rPr>
              <a:t>) ΔW</a:t>
            </a:r>
            <a:r>
              <a:rPr sz="1100" b="0" i="0" baseline="30000">
                <a:solidFill>
                  <a:srgbClr val="B07010"/>
                </a:solidFill>
                <a:latin typeface="Noto Sans CJK KR"/>
                <a:ea typeface="Noto Sans CJK KR"/>
                <a:cs typeface="Noto Sans CJK KR"/>
              </a:rPr>
              <a:t>(r)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395728"/>
            <a:ext cx="1050919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 i="0">
                <a:solidFill>
                  <a:srgbClr val="CED8E6"/>
                </a:solidFill>
                <a:latin typeface="Noto Sans CJK KR"/>
                <a:ea typeface="Noto Sans CJK KR"/>
                <a:cs typeface="Noto Sans CJK KR"/>
              </a:rPr>
              <a:t>ΔW</a:t>
            </a:r>
            <a:r>
              <a:rPr sz="850" b="0" i="0" baseline="30000">
                <a:solidFill>
                  <a:srgbClr val="CED8E6"/>
                </a:solidFill>
                <a:latin typeface="Noto Sans CJK KR"/>
                <a:ea typeface="Noto Sans CJK KR"/>
                <a:cs typeface="Noto Sans CJK KR"/>
              </a:rPr>
              <a:t>(r)</a:t>
            </a:r>
            <a:r>
              <a:rPr sz="1250" b="0" i="0">
                <a:solidFill>
                  <a:srgbClr val="CED8E6"/>
                </a:solidFill>
                <a:latin typeface="Noto Sans CJK KR"/>
                <a:ea typeface="Noto Sans CJK KR"/>
                <a:cs typeface="Noto Sans CJK KR"/>
              </a:rPr>
              <a:t> = Σ</a:t>
            </a:r>
            <a:r>
              <a:rPr sz="850" b="0" i="0" baseline="-25000">
                <a:solidFill>
                  <a:srgbClr val="CED8E6"/>
                </a:solidFill>
                <a:latin typeface="Noto Sans CJK KR"/>
                <a:ea typeface="Noto Sans CJK KR"/>
                <a:cs typeface="Noto Sans CJK KR"/>
              </a:rPr>
              <a:t>j</a:t>
            </a:r>
            <a:r>
              <a:rPr sz="1250" b="0" i="0">
                <a:solidFill>
                  <a:srgbClr val="CED8E6"/>
                </a:solidFill>
                <a:latin typeface="Noto Sans CJK KR"/>
                <a:ea typeface="Noto Sans CJK KR"/>
                <a:cs typeface="Noto Sans CJK KR"/>
              </a:rPr>
              <a:t> Δw</a:t>
            </a:r>
            <a:r>
              <a:rPr sz="850" b="0" i="0" baseline="-25000">
                <a:solidFill>
                  <a:srgbClr val="CED8E6"/>
                </a:solidFill>
                <a:latin typeface="Noto Sans CJK KR"/>
                <a:ea typeface="Noto Sans CJK KR"/>
                <a:cs typeface="Noto Sans CJK KR"/>
              </a:rPr>
              <a:t>j</a:t>
            </a:r>
            <a:r>
              <a:rPr sz="1250" b="0" i="0">
                <a:solidFill>
                  <a:srgbClr val="CED8E6"/>
                </a:solidFill>
                <a:latin typeface="Noto Sans CJK KR"/>
                <a:ea typeface="Noto Sans CJK KR"/>
                <a:cs typeface="Noto Sans CJK KR"/>
              </a:rPr>
              <a:t>  (참여 client 합)        φ</a:t>
            </a:r>
            <a:r>
              <a:rPr sz="850" b="0" i="0" baseline="-25000">
                <a:solidFill>
                  <a:srgbClr val="CED8E6"/>
                </a:solidFill>
                <a:latin typeface="Noto Sans CJK KR"/>
                <a:ea typeface="Noto Sans CJK KR"/>
                <a:cs typeface="Noto Sans CJK KR"/>
              </a:rPr>
              <a:t>k</a:t>
            </a:r>
            <a:r>
              <a:rPr sz="1250" b="0" i="0">
                <a:solidFill>
                  <a:srgbClr val="CED8E6"/>
                </a:solidFill>
                <a:latin typeface="Noto Sans CJK KR"/>
                <a:ea typeface="Noto Sans CJK KR"/>
                <a:cs typeface="Noto Sans CJK KR"/>
              </a:rPr>
              <a:t> = Σ</a:t>
            </a:r>
            <a:r>
              <a:rPr sz="850" b="0" i="0" baseline="-25000">
                <a:solidFill>
                  <a:srgbClr val="CED8E6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1250" b="0" i="0">
                <a:solidFill>
                  <a:srgbClr val="CED8E6"/>
                </a:solidFill>
                <a:latin typeface="Noto Sans CJK KR"/>
                <a:ea typeface="Noto Sans CJK KR"/>
                <a:cs typeface="Noto Sans CJK KR"/>
              </a:rPr>
              <a:t> φ</a:t>
            </a:r>
            <a:r>
              <a:rPr sz="850" b="0" i="0" baseline="-25000">
                <a:solidFill>
                  <a:srgbClr val="CED8E6"/>
                </a:solidFill>
                <a:latin typeface="Noto Sans CJK KR"/>
                <a:ea typeface="Noto Sans CJK KR"/>
                <a:cs typeface="Noto Sans CJK KR"/>
              </a:rPr>
              <a:t>k</a:t>
            </a:r>
            <a:r>
              <a:rPr sz="850" b="0" i="0" baseline="30000">
                <a:solidFill>
                  <a:srgbClr val="CED8E6"/>
                </a:solidFill>
                <a:latin typeface="Noto Sans CJK KR"/>
                <a:ea typeface="Noto Sans CJK KR"/>
                <a:cs typeface="Noto Sans CJK KR"/>
              </a:rPr>
              <a:t>(r)</a:t>
            </a:r>
            <a:r>
              <a:rPr sz="1250" b="0" i="0">
                <a:solidFill>
                  <a:srgbClr val="CED8E6"/>
                </a:solidFill>
                <a:latin typeface="Noto Sans CJK KR"/>
                <a:ea typeface="Noto Sans CJK KR"/>
                <a:cs typeface="Noto Sans CJK KR"/>
              </a:rPr>
              <a:t>  (라운드 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154680"/>
            <a:ext cx="1105783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46888" indent="-246888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•  </a:t>
            </a:r>
            <a:r>
              <a:rPr sz="1250" b="1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비용:  </a:t>
            </a:r>
            <a:r>
              <a:rPr sz="125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라운드당 비용: HVP 1회로 u := H·ΔW^(r) 계산 후 N개 내적 Δw_k·u — LoRA 차원이라 저렴.</a:t>
            </a:r>
          </a:p>
          <a:p>
            <a:pPr algn="l" marL="246888" indent="-246888">
              <a:lnSpc>
                <a:spcPct val="105000"/>
              </a:lnSpc>
              <a:spcBef>
                <a:spcPts val="700"/>
              </a:spcBef>
            </a:pPr>
            <a:r>
              <a:rPr sz="125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•  </a:t>
            </a:r>
            <a:r>
              <a:rPr sz="1250" b="1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2차항:  </a:t>
            </a:r>
            <a:r>
              <a:rPr sz="125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1차항 = 정렬(alignment), 2차항 = client 간 상호작용(곡률). 비-IID FL에서 2차항이 본질적.</a:t>
            </a:r>
          </a:p>
          <a:p>
            <a:pPr algn="l" marL="246888" indent="-246888">
              <a:lnSpc>
                <a:spcPct val="105000"/>
              </a:lnSpc>
              <a:spcBef>
                <a:spcPts val="700"/>
              </a:spcBef>
            </a:pPr>
            <a:r>
              <a:rPr sz="125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•  </a:t>
            </a:r>
            <a:r>
              <a:rPr sz="1250" b="1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안정성:  </a:t>
            </a:r>
            <a:r>
              <a:rPr sz="125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forward HVP(H·Δw)만 — H⁻¹ 절대 계산 안 함 → IF의 iHVP collapse 원인 회피.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257800"/>
            <a:ext cx="11057839" cy="658368"/>
          </a:xfrm>
          <a:prstGeom prst="roundRect">
            <a:avLst>
              <a:gd name="adj" fmla="val 4500"/>
            </a:avLst>
          </a:prstGeom>
          <a:solidFill>
            <a:srgbClr val="F1F5F9"/>
          </a:solidFill>
          <a:ln w="9525">
            <a:solidFill>
              <a:srgbClr val="CD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5358384"/>
            <a:ext cx="1069207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A6474"/>
                </a:solidFill>
                <a:latin typeface="Noto Sans CJK KR"/>
                <a:ea typeface="Noto Sans CJK KR"/>
                <a:cs typeface="Noto Sans CJK KR"/>
              </a:rPr>
              <a:t>확정: 곡률 = 참 Hessian (GGN/Fisher 변형 검증 후 기각) · 최적화 = plain SGD(momentum 0) — 이때 비로소 2차항이 1차항을 이김.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419088"/>
            <a:ext cx="11057839" cy="10058"/>
          </a:xfrm>
          <a:prstGeom prst="rect">
            <a:avLst/>
          </a:prstGeom>
          <a:solidFill>
            <a:srgbClr val="D4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474"/>
                </a:solidFill>
                <a:latin typeface="Noto Sans CJK KR"/>
                <a:ea typeface="Noto Sans CJK KR"/>
                <a:cs typeface="Noto Sans CJK KR"/>
              </a:rPr>
              <a:t>Flirds · 연구 진행 보고 · 2026-06-04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474"/>
                </a:solidFill>
                <a:latin typeface="Noto Sans CJK KR"/>
                <a:ea typeface="Noto Sans CJK KR"/>
                <a:cs typeface="Noto Sans CJK KR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12640"/>
                </a:solidFill>
                <a:latin typeface="Noto Sans CJK KR"/>
                <a:ea typeface="Noto Sans CJK KR"/>
                <a:cs typeface="Noto Sans CJK KR"/>
              </a:rPr>
              <a:t>무엇이 새로운가 — 비어 있는 교집합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777240" cy="47548"/>
          </a:xfrm>
          <a:prstGeom prst="rect">
            <a:avLst/>
          </a:prstGeom>
          <a:solidFill>
            <a:srgbClr val="0D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63040"/>
          <a:ext cx="11057836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79832"/>
                <a:gridCol w="1105783"/>
                <a:gridCol w="2322146"/>
                <a:gridCol w="1879832"/>
                <a:gridCol w="3870243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방법</a:t>
                      </a:r>
                    </a:p>
                  </a:txBody>
                  <a:tcPr marL="82296" marR="64008" marT="18288" marB="18288" anchor="ctr">
                    <a:solidFill>
                      <a:srgbClr val="112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단위</a:t>
                      </a:r>
                    </a:p>
                  </a:txBody>
                  <a:tcPr marL="82296" marR="64008" marT="18288" marB="18288" anchor="ctr">
                    <a:solidFill>
                      <a:srgbClr val="112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통신 오버헤드</a:t>
                      </a:r>
                    </a:p>
                  </a:txBody>
                  <a:tcPr marL="82296" marR="64008" marT="18288" marB="18288" anchor="ctr">
                    <a:solidFill>
                      <a:srgbClr val="112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in-run</a:t>
                      </a:r>
                    </a:p>
                  </a:txBody>
                  <a:tcPr marL="82296" marR="64008" marT="18288" marB="18288" anchor="ctr">
                    <a:solidFill>
                      <a:srgbClr val="112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비고</a:t>
                      </a:r>
                    </a:p>
                  </a:txBody>
                  <a:tcPr marL="82296" marR="64008" marT="18288" marB="18288" anchor="ctr">
                    <a:solidFill>
                      <a:srgbClr val="11264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FedSV (2020)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client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 (단 O(Tm²) 평가)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per-round 대리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federated Shapley 원조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Ripple (2026)</a:t>
                      </a:r>
                    </a:p>
                  </a:txBody>
                  <a:tcPr marL="82296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sample</a:t>
                      </a:r>
                    </a:p>
                  </a:txBody>
                  <a:tcPr marL="82296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marL="82296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yes (Jacobian)</a:t>
                      </a:r>
                    </a:p>
                  </a:txBody>
                  <a:tcPr marL="82296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최근접 경쟁자</a:t>
                      </a:r>
                    </a:p>
                  </a:txBody>
                  <a:tcPr marL="82296" marR="64008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FedIF (2025)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client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yes (1차 TracIn)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CNN 한정 · aggregation-side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FedTSV (2026)</a:t>
                      </a:r>
                    </a:p>
                  </a:txBody>
                  <a:tcPr marL="82296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client</a:t>
                      </a:r>
                    </a:p>
                  </a:txBody>
                  <a:tcPr marL="82296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+ val pass</a:t>
                      </a:r>
                    </a:p>
                  </a:txBody>
                  <a:tcPr marL="82296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yes</a:t>
                      </a:r>
                    </a:p>
                  </a:txBody>
                  <a:tcPr marL="82296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aggregation (가치평가 아님)</a:t>
                      </a:r>
                    </a:p>
                  </a:txBody>
                  <a:tcPr marL="82296" marR="64008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Flirds (본 연구)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client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yes (1·2차 Taylor)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LoRA + 2차항 + zero-comm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251960"/>
            <a:ext cx="110578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novelty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572000"/>
            <a:ext cx="1105783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46888" indent="-246888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•  </a:t>
            </a:r>
            <a:r>
              <a:rPr sz="125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교집합(client-level + in-run + 1·2차 Taylor + HVP 상호작용 + zero-comm + LoRA/LLM)을 점유한 단일 논문 없음 — 2026-06-03 재조사(내부 4 + 외부 survey 교차검증)로 확인.</a:t>
            </a:r>
          </a:p>
          <a:p>
            <a:pPr algn="l" marL="246888" indent="-246888">
              <a:lnSpc>
                <a:spcPct val="105000"/>
              </a:lnSpc>
              <a:spcBef>
                <a:spcPts val="700"/>
              </a:spcBef>
            </a:pPr>
            <a:r>
              <a:rPr sz="125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•  </a:t>
            </a:r>
            <a:r>
              <a:rPr sz="125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cross-domain valuation-fairness: 공유 val-loss Shapley의 도메인 간 공정성은 prior art서 under-addressed → 추가 novelty hook (모든 도메인 free-form 통일로 대응).</a:t>
            </a:r>
          </a:p>
          <a:p>
            <a:pPr algn="l" marL="246888" indent="-246888">
              <a:lnSpc>
                <a:spcPct val="105000"/>
              </a:lnSpc>
              <a:spcBef>
                <a:spcPts val="700"/>
              </a:spcBef>
            </a:pPr>
            <a:r>
              <a:rPr sz="125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•  </a:t>
            </a:r>
            <a:r>
              <a:rPr sz="125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FedIF/FedTSV는 aggregation-side(가중치 변경), Flirds는 valuation-side(post-hoc 가치) — 같은 입력, 다른 출력.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19088"/>
            <a:ext cx="11057839" cy="10058"/>
          </a:xfrm>
          <a:prstGeom prst="rect">
            <a:avLst/>
          </a:prstGeom>
          <a:solidFill>
            <a:srgbClr val="D4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474"/>
                </a:solidFill>
                <a:latin typeface="Noto Sans CJK KR"/>
                <a:ea typeface="Noto Sans CJK KR"/>
                <a:cs typeface="Noto Sans CJK KR"/>
              </a:rPr>
              <a:t>Flirds · 연구 진행 보고 · 2026-06-04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474"/>
                </a:solidFill>
                <a:latin typeface="Noto Sans CJK KR"/>
                <a:ea typeface="Noto Sans CJK KR"/>
                <a:cs typeface="Noto Sans CJK KR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12640"/>
                </a:solidFill>
                <a:latin typeface="Noto Sans CJK KR"/>
                <a:ea typeface="Noto Sans CJK KR"/>
                <a:cs typeface="Noto Sans CJK KR"/>
              </a:rPr>
              <a:t>이론 — 중앙집중 등가 + drift residual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777240" cy="47548"/>
          </a:xfrm>
          <a:prstGeom prst="rect">
            <a:avLst/>
          </a:prstGeom>
          <a:solidFill>
            <a:srgbClr val="0D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46888" indent="-246888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•  </a:t>
            </a:r>
            <a:r>
              <a:rPr sz="1250" b="1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① 등가:  </a:t>
            </a:r>
            <a:r>
              <a:rPr sz="125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1-step SGD에서 한 client에 속한 data-level Shapley의 합 = client-level Shapley (1·2차항 모두). → 중앙집중 1-step에서 granularity 선택은 grouping-invariant.</a:t>
            </a:r>
          </a:p>
          <a:p>
            <a:pPr algn="l" marL="246888" indent="-246888">
              <a:lnSpc>
                <a:spcPct val="115000"/>
              </a:lnSpc>
              <a:spcBef>
                <a:spcPts val="800"/>
              </a:spcBef>
            </a:pPr>
            <a:r>
              <a:rPr sz="125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•  </a:t>
            </a:r>
            <a:r>
              <a:rPr sz="1250" b="1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② FL 편차:  </a:t>
            </a:r>
            <a:r>
              <a:rPr sz="125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FL 멀티스텝: Δw_k 는 E-step 궤적의 끝점 → Taylor 전개 시 '중앙집중 등가항' + 'client drift residual' O(ηE·|H|·궤적길이) 로 분해.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246120"/>
            <a:ext cx="5391759" cy="1417320"/>
          </a:xfrm>
          <a:prstGeom prst="roundRect">
            <a:avLst>
              <a:gd name="adj" fmla="val 4500"/>
            </a:avLst>
          </a:prstGeom>
          <a:solidFill>
            <a:srgbClr val="EDF2F8"/>
          </a:solidFill>
          <a:ln w="9525">
            <a:solidFill>
              <a:srgbClr val="C6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3383280"/>
            <a:ext cx="5025999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Proposition 1</a:t>
            </a:r>
          </a:p>
          <a:p>
            <a:pPr algn="l">
              <a:lnSpc>
                <a:spcPct val="118000"/>
              </a:lnSpc>
              <a:spcBef>
                <a:spcPts val="600"/>
              </a:spcBef>
            </a:pPr>
            <a:r>
              <a:rPr sz="120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Flirds client-level SV = (중앙집중 data-level SV를 client로 합산) + drift residual. → FL의 중앙집중 IRDS로부터의 이탈을 정량화.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3246120"/>
            <a:ext cx="5391759" cy="1417320"/>
          </a:xfrm>
          <a:prstGeom prst="roundRect">
            <a:avLst>
              <a:gd name="adj" fmla="val 4500"/>
            </a:avLst>
          </a:prstGeom>
          <a:solidFill>
            <a:srgbClr val="EDF2F8"/>
          </a:solidFill>
          <a:ln w="9525">
            <a:solidFill>
              <a:srgbClr val="C6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5887" y="3383280"/>
            <a:ext cx="5025999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Proposition 2</a:t>
            </a:r>
          </a:p>
          <a:p>
            <a:pPr algn="l">
              <a:lnSpc>
                <a:spcPct val="118000"/>
              </a:lnSpc>
              <a:spcBef>
                <a:spcPts val="600"/>
              </a:spcBef>
            </a:pPr>
            <a:r>
              <a:rPr sz="120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drift residual은 라운드별 local 궤적 반경의 3차식으로 bound. E=1서 소멸, non-IID·큰 local epoch서 증가.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937760"/>
            <a:ext cx="11057839" cy="960120"/>
          </a:xfrm>
          <a:prstGeom prst="roundRect">
            <a:avLst>
              <a:gd name="adj" fmla="val 4500"/>
            </a:avLst>
          </a:prstGeom>
          <a:solidFill>
            <a:srgbClr val="EBF6F4"/>
          </a:solidFill>
          <a:ln w="9525">
            <a:solidFill>
              <a:srgbClr val="B4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5065776"/>
            <a:ext cx="1060063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D766E"/>
                </a:solidFill>
                <a:latin typeface="Noto Sans CJK KR"/>
                <a:ea typeface="Noto Sans CJK KR"/>
                <a:cs typeface="Noto Sans CJK KR"/>
              </a:rPr>
              <a:t>핵심 함의</a:t>
            </a:r>
          </a:p>
          <a:p>
            <a:pPr algn="l">
              <a:lnSpc>
                <a:spcPct val="118000"/>
              </a:lnSpc>
              <a:spcBef>
                <a:spcPts val="300"/>
              </a:spcBef>
            </a:pPr>
            <a:r>
              <a:rPr sz="120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IRDS는 "2차항이 marginal"이라 보고 — 그러나 이는 centralized per-step(미소 η)의 산물. FL의 per-round 멀티스텝이 바로 2차항이 본질적으로 작동하는 무대 (실험으로 검증).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19088"/>
            <a:ext cx="11057839" cy="10058"/>
          </a:xfrm>
          <a:prstGeom prst="rect">
            <a:avLst/>
          </a:prstGeom>
          <a:solidFill>
            <a:srgbClr val="D4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474"/>
                </a:solidFill>
                <a:latin typeface="Noto Sans CJK KR"/>
                <a:ea typeface="Noto Sans CJK KR"/>
                <a:cs typeface="Noto Sans CJK KR"/>
              </a:rPr>
              <a:t>Flirds · 연구 진행 보고 · 2026-06-04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474"/>
                </a:solidFill>
                <a:latin typeface="Noto Sans CJK KR"/>
                <a:ea typeface="Noto Sans CJK KR"/>
                <a:cs typeface="Noto Sans CJK KR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LOCKED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12640"/>
                </a:solidFill>
                <a:latin typeface="Noto Sans CJK KR"/>
                <a:ea typeface="Noto Sans CJK KR"/>
                <a:cs typeface="Noto Sans CJK KR"/>
              </a:rPr>
              <a:t>확정된 핵심 설계 결정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777240" cy="47548"/>
          </a:xfrm>
          <a:prstGeom prst="rect">
            <a:avLst/>
          </a:prstGeom>
          <a:solidFill>
            <a:srgbClr val="0D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17320"/>
          <a:ext cx="6766559" cy="35798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00630"/>
                <a:gridCol w="4465929"/>
              </a:tblGrid>
              <a:tr h="39776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항목</a:t>
                      </a:r>
                    </a:p>
                  </a:txBody>
                  <a:tcPr marL="82296" marR="64008" marT="18288" marB="18288" anchor="ctr">
                    <a:solidFill>
                      <a:srgbClr val="112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결정</a:t>
                      </a:r>
                    </a:p>
                  </a:txBody>
                  <a:tcPr marL="82296" marR="64008" marT="18288" marB="18288" anchor="ctr">
                    <a:solidFill>
                      <a:srgbClr val="112640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단위 (granularity)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client-level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서버 입력</a:t>
                      </a:r>
                    </a:p>
                  </a:txBody>
                  <a:tcPr marL="82296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Δw_k (LoRA) 만 — 추가 통계/통신 0</a:t>
                      </a:r>
                    </a:p>
                  </a:txBody>
                  <a:tcPr marL="82296" marR="64008" marT="18288" marB="18288" anchor="ctr">
                    <a:solidFill>
                      <a:srgbClr val="F1F5F9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근사 차수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1차 + 2차 Taylor, 항상 둘 다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곡률</a:t>
                      </a:r>
                    </a:p>
                  </a:txBody>
                  <a:tcPr marL="82296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참 Hessian (GGN 기각)</a:t>
                      </a:r>
                    </a:p>
                  </a:txBody>
                  <a:tcPr marL="82296" marR="64008" marT="18288" marB="18288" anchor="ctr">
                    <a:solidFill>
                      <a:srgbClr val="F1F5F9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최적화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plain SGD (momentum 0)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검증셋</a:t>
                      </a:r>
                    </a:p>
                  </a:txBody>
                  <a:tcPr marL="82296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server-side held-out · 도메인당 200 × 5 = 1000 stratified</a:t>
                      </a:r>
                    </a:p>
                  </a:txBody>
                  <a:tcPr marL="82296" marR="64008" marT="18288" marB="18288" anchor="ctr">
                    <a:solidFill>
                      <a:srgbClr val="F1F5F9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PEFT / 정규화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LoRA / participation 정규화 없음(기본)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모델</a:t>
                      </a:r>
                    </a:p>
                  </a:txBody>
                  <a:tcPr marL="82296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1B Llama-3.2 · 3B Llama-3.2 · 7B Llama-2</a:t>
                      </a:r>
                    </a:p>
                  </a:txBody>
                  <a:tcPr marL="82296" marR="64008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43800" y="1371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Dual Oracle (ground truth)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737360"/>
            <a:ext cx="4080967" cy="1417320"/>
          </a:xfrm>
          <a:prstGeom prst="roundRect">
            <a:avLst>
              <a:gd name="adj" fmla="val 4500"/>
            </a:avLst>
          </a:prstGeom>
          <a:solidFill>
            <a:srgbClr val="F1F5F9"/>
          </a:solidFill>
          <a:ln w="9525">
            <a:solidFill>
              <a:srgbClr val="CD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865376"/>
            <a:ext cx="3715207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2640"/>
                </a:solidFill>
                <a:latin typeface="Noto Sans CJK KR"/>
                <a:ea typeface="Noto Sans CJK KR"/>
                <a:cs typeface="Noto Sans CJK KR"/>
              </a:rPr>
              <a:t>(a) Exact retrain SV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U(S)=S만으로 FL 학습 (데이터가치 표준). 1B N∈{5,10} · 3B N=5 · 7B ✗(compute).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3291840"/>
            <a:ext cx="4080967" cy="1554480"/>
          </a:xfrm>
          <a:prstGeom prst="roundRect">
            <a:avLst>
              <a:gd name="adj" fmla="val 4500"/>
            </a:avLst>
          </a:prstGeom>
          <a:solidFill>
            <a:srgbClr val="F1F5F9"/>
          </a:solidFill>
          <a:ln w="9525">
            <a:solidFill>
              <a:srgbClr val="CD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3419856"/>
            <a:ext cx="3715207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2640"/>
                </a:solidFill>
                <a:latin typeface="Noto Sans CJK KR"/>
                <a:ea typeface="Noto Sans CJK KR"/>
                <a:cs typeface="Noto Sans CJK KR"/>
              </a:rPr>
              <a:t>(b) IRDS-定 in-run SV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Flirds-correct oracle. cross-silo N=10 exact enum(1024 subset) · cross-device N=100 MC. 비용 2^N·R·|val|·seq → N5↔N10 = 32× · fp32 필수.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4983480"/>
            <a:ext cx="4080967" cy="914400"/>
          </a:xfrm>
          <a:prstGeom prst="roundRect">
            <a:avLst>
              <a:gd name="adj" fmla="val 4500"/>
            </a:avLst>
          </a:prstGeom>
          <a:solidFill>
            <a:srgbClr val="112640"/>
          </a:solidFill>
          <a:ln w="9525">
            <a:solidFill>
              <a:srgbClr val="112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5084064"/>
            <a:ext cx="3715207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원본 lock (conv4) + N1–N4 / Q1–Q3 / ④⑤ 까지 설계 전부 동결 — 구현 중 새 정보 없는 한 재론 안 함.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419088"/>
            <a:ext cx="11057839" cy="10058"/>
          </a:xfrm>
          <a:prstGeom prst="rect">
            <a:avLst/>
          </a:prstGeom>
          <a:solidFill>
            <a:srgbClr val="D4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474"/>
                </a:solidFill>
                <a:latin typeface="Noto Sans CJK KR"/>
                <a:ea typeface="Noto Sans CJK KR"/>
                <a:cs typeface="Noto Sans CJK KR"/>
              </a:rPr>
              <a:t>Flirds · 연구 진행 보고 · 2026-06-04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474"/>
                </a:solidFill>
                <a:latin typeface="Noto Sans CJK KR"/>
                <a:ea typeface="Noto Sans CJK KR"/>
                <a:cs typeface="Noto Sans CJK KR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PROGRESS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12640"/>
                </a:solidFill>
                <a:latin typeface="Noto Sans CJK KR"/>
                <a:ea typeface="Noto Sans CJK KR"/>
                <a:cs typeface="Noto Sans CJK KR"/>
              </a:rPr>
              <a:t>진행 현황 ① — Phase 0 / 0.5 완료 (CNN)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777240" cy="47548"/>
          </a:xfrm>
          <a:prstGeom prst="rect">
            <a:avLst/>
          </a:prstGeom>
          <a:solidFill>
            <a:srgbClr val="0D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44752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0D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완료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14173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12640"/>
                </a:solidFill>
                <a:latin typeface="Noto Sans CJK KR"/>
                <a:ea typeface="Noto Sans CJK KR"/>
                <a:cs typeface="Noto Sans CJK KR"/>
              </a:rPr>
              <a:t>Phase 0 — FL-Shapley baseline 4종 self-build 재현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11057836" cy="7680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64459"/>
                <a:gridCol w="2764459"/>
                <a:gridCol w="2764459"/>
                <a:gridCol w="2764459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GTG-Shapley</a:t>
                      </a:r>
                    </a:p>
                  </a:txBody>
                  <a:tcPr marL="82296" marR="64008" marT="18288" marB="18288" anchor="ctr">
                    <a:solidFill>
                      <a:srgbClr val="1E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FedSV</a:t>
                      </a:r>
                    </a:p>
                  </a:txBody>
                  <a:tcPr marL="82296" marR="64008" marT="18288" marB="18288" anchor="ctr">
                    <a:solidFill>
                      <a:srgbClr val="1E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ComFedSV</a:t>
                      </a:r>
                    </a:p>
                  </a:txBody>
                  <a:tcPr marL="82296" marR="64008" marT="18288" marB="18288" anchor="ctr">
                    <a:solidFill>
                      <a:srgbClr val="1E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Ripple</a:t>
                      </a:r>
                    </a:p>
                  </a:txBody>
                  <a:tcPr marL="82296" marR="64008" marT="18288" marB="18288" anchor="ctr">
                    <a:solidFill>
                      <a:srgbClr val="1E4E7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recon cosine 0.99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perm-MC 0.998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Spearman {1.0,.96,.85,.84}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noisy-AUROC 1.0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2670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474"/>
                </a:solidFill>
                <a:latin typeface="Noto Sans CJK KR"/>
                <a:ea typeface="Noto Sans CJK KR"/>
                <a:cs typeface="Noto Sans CJK KR"/>
              </a:rPr>
              <a:t>Ripple 속도이득 62× vs AFedSV+ / 49× vs FedSV (ground-truth-SV 지표 없음 → task-driven 검증).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127248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0D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완료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3099816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12640"/>
                </a:solidFill>
                <a:latin typeface="Noto Sans CJK KR"/>
                <a:ea typeface="Noto Sans CJK KR"/>
                <a:cs typeface="Noto Sans CJK KR"/>
              </a:rPr>
              <a:t>Phase 0.5 — Flirds estimator + dual oracle · 전 sanity gate green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2044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46888" indent="-246888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•  </a:t>
            </a:r>
            <a:r>
              <a:rPr sz="125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estimator ≈ (b) in-run oracle: Spearman 1.0 (3-seed 1+2차 0.96 &gt; 1차 0.92).</a:t>
            </a:r>
          </a:p>
          <a:p>
            <a:pPr algn="l" marL="246888" indent="-246888">
              <a:lnSpc>
                <a:spcPct val="105000"/>
              </a:lnSpc>
              <a:spcBef>
                <a:spcPts val="700"/>
              </a:spcBef>
            </a:pPr>
            <a:r>
              <a:rPr sz="125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•  </a:t>
            </a:r>
            <a:r>
              <a:rPr sz="125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noisy-client AUROC 1.0 · (b) Shapley efficiency = 0, symmetry = 0 (exact).</a:t>
            </a:r>
          </a:p>
          <a:p>
            <a:pPr algn="l" marL="246888" indent="-246888">
              <a:lnSpc>
                <a:spcPct val="105000"/>
              </a:lnSpc>
              <a:spcBef>
                <a:spcPts val="700"/>
              </a:spcBef>
            </a:pPr>
            <a:r>
              <a:rPr sz="125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•  </a:t>
            </a:r>
            <a:r>
              <a:rPr sz="125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HVP jvp-vs-double-backward 9.8e-6 · N=2 singleton 3e-3 · 재현성 bitwise-0.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074920"/>
            <a:ext cx="11057839" cy="841248"/>
          </a:xfrm>
          <a:prstGeom prst="roundRect">
            <a:avLst>
              <a:gd name="adj" fmla="val 4500"/>
            </a:avLst>
          </a:prstGeom>
          <a:solidFill>
            <a:srgbClr val="EBF6F4"/>
          </a:solidFill>
          <a:ln w="9525">
            <a:solidFill>
              <a:srgbClr val="B4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175504"/>
            <a:ext cx="1060063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D766E"/>
                </a:solidFill>
                <a:latin typeface="Noto Sans CJK KR"/>
                <a:ea typeface="Noto Sans CJK KR"/>
                <a:cs typeface="Noto Sans CJK KR"/>
              </a:rPr>
              <a:t>결정 (데이터로 확인)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15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2차항 = 참 Hessian · momentum 제거(plain SGD) 시 2차항이 1차항을 이김 → "FL per-round가 2차항의 무대"라는 가설을 CNN에서 실증.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419088"/>
            <a:ext cx="11057839" cy="10058"/>
          </a:xfrm>
          <a:prstGeom prst="rect">
            <a:avLst/>
          </a:prstGeom>
          <a:solidFill>
            <a:srgbClr val="D4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474"/>
                </a:solidFill>
                <a:latin typeface="Noto Sans CJK KR"/>
                <a:ea typeface="Noto Sans CJK KR"/>
                <a:cs typeface="Noto Sans CJK KR"/>
              </a:rPr>
              <a:t>Flirds · 연구 진행 보고 · 2026-06-04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474"/>
                </a:solidFill>
                <a:latin typeface="Noto Sans CJK KR"/>
                <a:ea typeface="Noto Sans CJK KR"/>
                <a:cs typeface="Noto Sans CJK KR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PROGRESS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12640"/>
                </a:solidFill>
                <a:latin typeface="Noto Sans CJK KR"/>
                <a:ea typeface="Noto Sans CJK KR"/>
                <a:cs typeface="Noto Sans CJK KR"/>
              </a:rPr>
              <a:t>진행 현황 ② — Phase 1 (LLM 1B) 거의 완료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777240" cy="47548"/>
          </a:xfrm>
          <a:prstGeom prst="rect">
            <a:avLst/>
          </a:prstGeom>
          <a:solidFill>
            <a:srgbClr val="0D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474"/>
                </a:solidFill>
                <a:latin typeface="Noto Sans CJK KR"/>
                <a:ea typeface="Noto Sans CJK KR"/>
                <a:cs typeface="Noto Sans CJK KR"/>
              </a:rPr>
              <a:t>estimator/oracle 무변경. 5단계 모두 빌드 + 검증 (real Llama-3.2-1B 궤적).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92224"/>
            <a:ext cx="310896" cy="274320"/>
          </a:xfrm>
          <a:prstGeom prst="roundRect">
            <a:avLst>
              <a:gd name="adj" fmla="val 50000"/>
            </a:avLst>
          </a:prstGeom>
          <a:solidFill>
            <a:srgbClr val="0D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755648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backend-agnostic estimator/oracle + partial-participation + per-layer 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75564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CNN bit-identical 회귀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267712"/>
            <a:ext cx="310896" cy="274320"/>
          </a:xfrm>
          <a:prstGeom prst="roundRect">
            <a:avLst>
              <a:gd name="adj" fmla="val 50000"/>
            </a:avLst>
          </a:prstGeom>
          <a:solidFill>
            <a:srgbClr val="0D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231136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LLM backend + FL loop (TRL SFTTrainer + forced SGD)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23113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1B est≈oracle 1.70e-6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743200"/>
            <a:ext cx="310896" cy="274320"/>
          </a:xfrm>
          <a:prstGeom prst="roundRect">
            <a:avLst>
              <a:gd name="adj" fmla="val 50000"/>
            </a:avLst>
          </a:prstGeom>
          <a:solidFill>
            <a:srgbClr val="0D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706624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5-domain free-form data layer + val micro-batching + per-domain norm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70662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chunked==single 3.8e-8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18688"/>
            <a:ext cx="310896" cy="274320"/>
          </a:xfrm>
          <a:prstGeom prst="roundRect">
            <a:avLst>
              <a:gd name="adj" fmla="val 50000"/>
            </a:avLst>
          </a:prstGeom>
          <a:solidFill>
            <a:srgbClr val="0D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182112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② corruptor: answer_swap(noisy) + free_rider(zero/random)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1821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free-rider φ = 정확히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694176"/>
            <a:ext cx="310896" cy="274320"/>
          </a:xfrm>
          <a:prstGeom prst="roundRect">
            <a:avLst>
              <a:gd name="adj" fmla="val 50000"/>
            </a:avLst>
          </a:prstGeom>
          <a:solidFill>
            <a:srgbClr val="0D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365760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#7 first-clean-run 인프라 (eval · run_logger · orchestrator)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657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SMOKE 1.6e-7 · AUROC 1.0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224528"/>
            <a:ext cx="11057839" cy="786384"/>
          </a:xfrm>
          <a:prstGeom prst="roundRect">
            <a:avLst>
              <a:gd name="adj" fmla="val 4500"/>
            </a:avLst>
          </a:prstGeom>
          <a:solidFill>
            <a:srgbClr val="F1F5F9"/>
          </a:solidFill>
          <a:ln w="9525">
            <a:solidFill>
              <a:srgbClr val="CD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315968"/>
            <a:ext cx="10692079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12640"/>
                </a:solidFill>
                <a:latin typeface="Noto Sans CJK KR"/>
                <a:ea typeface="Noto Sans CJK KR"/>
                <a:cs typeface="Noto Sans CJK KR"/>
              </a:rPr>
              <a:t>3 LLM musts (CNN엔 없던 것)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10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eager attention(forward-AD) · FL state = named_parameters key · embedding require-grad hook clear (functorch ↔ HF).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120640"/>
            <a:ext cx="11057839" cy="804672"/>
          </a:xfrm>
          <a:prstGeom prst="roundRect">
            <a:avLst>
              <a:gd name="adj" fmla="val 4500"/>
            </a:avLst>
          </a:prstGeom>
          <a:solidFill>
            <a:srgbClr val="112640"/>
          </a:solidFill>
          <a:ln w="9525">
            <a:solidFill>
              <a:srgbClr val="112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221224"/>
            <a:ext cx="106920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07010"/>
                </a:solidFill>
                <a:latin typeface="Noto Sans CJK KR"/>
                <a:ea typeface="Noto Sans CJK KR"/>
                <a:cs typeface="Noto Sans CJK KR"/>
              </a:rPr>
              <a:t>남은 1액션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1250" b="1" i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FULL scale run 실행 — N=5, R≈30, 3 seed, ORACLE_B(N=5), ~5–7h (MINI de-risk 먼저).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419088"/>
            <a:ext cx="11057839" cy="10058"/>
          </a:xfrm>
          <a:prstGeom prst="rect">
            <a:avLst/>
          </a:prstGeom>
          <a:solidFill>
            <a:srgbClr val="D4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474"/>
                </a:solidFill>
                <a:latin typeface="Noto Sans CJK KR"/>
                <a:ea typeface="Noto Sans CJK KR"/>
                <a:cs typeface="Noto Sans CJK KR"/>
              </a:rPr>
              <a:t>Flirds · 연구 진행 보고 · 2026-06-04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474"/>
                </a:solidFill>
                <a:latin typeface="Noto Sans CJK KR"/>
                <a:ea typeface="Noto Sans CJK KR"/>
                <a:cs typeface="Noto Sans CJK KR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DATA ·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12640"/>
                </a:solidFill>
                <a:latin typeface="Noto Sans CJK KR"/>
                <a:ea typeface="Noto Sans CJK KR"/>
                <a:cs typeface="Noto Sans CJK KR"/>
              </a:rPr>
              <a:t>데이터셋 &amp; 평가 프로토콜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777240" cy="47548"/>
          </a:xfrm>
          <a:prstGeom prst="rect">
            <a:avLst/>
          </a:prstGeom>
          <a:solidFill>
            <a:srgbClr val="0D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2640"/>
                </a:solidFill>
                <a:latin typeface="Noto Sans CJK KR"/>
                <a:ea typeface="Noto Sans CJK KR"/>
                <a:cs typeface="Noto Sans CJK KR"/>
              </a:rPr>
              <a:t>Cross-silo 5-domain — 전부 free-form instruction→response (공유 val-loss Shapley 공정성)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91640"/>
          <a:ext cx="11057837" cy="731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26940"/>
                <a:gridCol w="2100989"/>
                <a:gridCol w="1990411"/>
                <a:gridCol w="1548097"/>
                <a:gridCol w="1990411"/>
                <a:gridCol w="2100989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domain</a:t>
                      </a:r>
                    </a:p>
                  </a:txBody>
                  <a:tcPr marL="82296" marR="64008" marT="18288" marB="18288" anchor="ctr">
                    <a:solidFill>
                      <a:srgbClr val="1E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medical</a:t>
                      </a:r>
                    </a:p>
                  </a:txBody>
                  <a:tcPr marL="82296" marR="64008" marT="18288" marB="18288" anchor="ctr">
                    <a:solidFill>
                      <a:srgbClr val="1E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legal</a:t>
                      </a:r>
                    </a:p>
                  </a:txBody>
                  <a:tcPr marL="82296" marR="64008" marT="18288" marB="18288" anchor="ctr">
                    <a:solidFill>
                      <a:srgbClr val="1E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finance</a:t>
                      </a:r>
                    </a:p>
                  </a:txBody>
                  <a:tcPr marL="82296" marR="64008" marT="18288" marB="18288" anchor="ctr">
                    <a:solidFill>
                      <a:srgbClr val="1E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math</a:t>
                      </a:r>
                    </a:p>
                  </a:txBody>
                  <a:tcPr marL="82296" marR="64008" marT="18288" marB="18288" anchor="ctr">
                    <a:solidFill>
                      <a:srgbClr val="1E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general</a:t>
                      </a:r>
                    </a:p>
                  </a:txBody>
                  <a:tcPr marL="82296" marR="64008" marT="18288" marB="18288" anchor="ctr">
                    <a:solidFill>
                      <a:srgbClr val="1E4E7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dataset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med flashcards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ibunescu QA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FiQA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AQUA-RAT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Dolly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2505456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46888" indent="-246888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•  </a:t>
            </a:r>
            <a:r>
              <a:rPr sz="115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크기: 도메인당 train 12k / val 200 / test 2k (상호 disjoint) · cross-device: Fed-WildChat + FedHDS (N=100, K=10).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108960"/>
            <a:ext cx="1105783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평가 — utility ≠ downstream 분리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401568"/>
            <a:ext cx="1105783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46888" indent="-246888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•  </a:t>
            </a:r>
            <a:r>
              <a:rPr sz="115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utility = val-loss (estimator/oracle가 소비) ≠ downstream = per-domain ROUGE-L + math(AQUA) EM.</a:t>
            </a:r>
          </a:p>
          <a:p>
            <a:pPr algn="l" marL="246888" indent="-246888">
              <a:lnSpc>
                <a:spcPct val="105000"/>
              </a:lnSpc>
              <a:spcBef>
                <a:spcPts val="700"/>
              </a:spcBef>
            </a:pPr>
            <a:r>
              <a:rPr sz="115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•  </a:t>
            </a:r>
            <a:r>
              <a:rPr sz="115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selection-convergence: φ→top-K→retrain vs full/random (MATES 템플릿). caveat: heterogeneous FL서 selection이 random에 질 수 있음 — 넘어야 할 bar.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17720"/>
            <a:ext cx="11057839" cy="1280160"/>
          </a:xfrm>
          <a:prstGeom prst="roundRect">
            <a:avLst>
              <a:gd name="adj" fmla="val 4500"/>
            </a:avLst>
          </a:prstGeom>
          <a:solidFill>
            <a:srgbClr val="F1F5F9"/>
          </a:solidFill>
          <a:ln w="9525">
            <a:solidFill>
              <a:srgbClr val="CD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4736592"/>
            <a:ext cx="10600639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2640"/>
                </a:solidFill>
                <a:latin typeface="Noto Sans CJK KR"/>
                <a:ea typeface="Noto Sans CJK KR"/>
                <a:cs typeface="Noto Sans CJK KR"/>
              </a:rPr>
              <a:t>보고 엄밀성 (Protocol)</a:t>
            </a:r>
          </a:p>
          <a:p>
            <a:pPr algn="l" marL="246888" indent="-246888">
              <a:lnSpc>
                <a:spcPct val="105000"/>
              </a:lnSpc>
              <a:spcBef>
                <a:spcPts val="500"/>
              </a:spcBef>
            </a:pPr>
            <a:r>
              <a:rPr sz="115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•  </a:t>
            </a:r>
            <a:r>
              <a:rPr sz="115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수치: bf16 train / fp32 eval + fp32 내적 · ≥ 3 seed mean±std · 95% bootstrap CI.</a:t>
            </a:r>
          </a:p>
          <a:p>
            <a:pPr algn="l" marL="246888" indent="-246888">
              <a:lnSpc>
                <a:spcPct val="105000"/>
              </a:lnSpc>
              <a:spcBef>
                <a:spcPts val="400"/>
              </a:spcBef>
            </a:pPr>
            <a:r>
              <a:rPr sz="115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•  </a:t>
            </a:r>
            <a:r>
              <a:rPr sz="115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sanity gate: E=1 ⇒ residual≈0 · N=2 ⇒ singleton SV = φ_k · 재현성 bitwise.</a:t>
            </a:r>
          </a:p>
          <a:p>
            <a:pPr algn="l" marL="246888" indent="-246888">
              <a:lnSpc>
                <a:spcPct val="105000"/>
              </a:lnSpc>
              <a:spcBef>
                <a:spcPts val="400"/>
              </a:spcBef>
            </a:pPr>
            <a:r>
              <a:rPr sz="115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•  </a:t>
            </a:r>
            <a:r>
              <a:rPr sz="115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추적: local run-dir (config + git SHA + env hash + per-round φ parquet), W&amp;B 미사용.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19088"/>
            <a:ext cx="11057839" cy="10058"/>
          </a:xfrm>
          <a:prstGeom prst="rect">
            <a:avLst/>
          </a:prstGeom>
          <a:solidFill>
            <a:srgbClr val="D4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474"/>
                </a:solidFill>
                <a:latin typeface="Noto Sans CJK KR"/>
                <a:ea typeface="Noto Sans CJK KR"/>
                <a:cs typeface="Noto Sans CJK KR"/>
              </a:rPr>
              <a:t>Flirds · 연구 진행 보고 · 2026-06-04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474"/>
                </a:solidFill>
                <a:latin typeface="Noto Sans CJK KR"/>
                <a:ea typeface="Noto Sans CJK KR"/>
                <a:cs typeface="Noto Sans CJK KR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EXPERIMENT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12640"/>
                </a:solidFill>
                <a:latin typeface="Noto Sans CJK KR"/>
                <a:ea typeface="Noto Sans CJK KR"/>
                <a:cs typeface="Noto Sans CJK KR"/>
              </a:rPr>
              <a:t>실험 계획 — Section 3 (18 항목)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777240" cy="47548"/>
          </a:xfrm>
          <a:prstGeom prst="rect">
            <a:avLst/>
          </a:prstGeom>
          <a:solidFill>
            <a:srgbClr val="0D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★★★ Spine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3736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baseline 10종 + detection 2(FLDetector·STD-DAGMM) · dual oracle (a)/(b) · Ripple head-to-head + 이론적 reduction 시도.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39572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★★ 특성화 / ablation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670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α-sweep × E-sweep drift 매트릭스(16셀) · Q2 variants(3×3) · ②③ 특성화 · 적대적 stress · non-IID valuation bias.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32841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★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602736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7B instruction-tuning bench (LESS · FedDQC 직접 비교).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315968"/>
            <a:ext cx="11057839" cy="914400"/>
          </a:xfrm>
          <a:prstGeom prst="roundRect">
            <a:avLst>
              <a:gd name="adj" fmla="val 4500"/>
            </a:avLst>
          </a:prstGeom>
          <a:solidFill>
            <a:srgbClr val="FCF6E9"/>
          </a:solidFill>
          <a:ln w="9525">
            <a:solidFill>
              <a:srgbClr val="E2C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4425696"/>
            <a:ext cx="1060063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07010"/>
                </a:solidFill>
                <a:latin typeface="Noto Sans CJK KR"/>
                <a:ea typeface="Noto Sans CJK KR"/>
                <a:cs typeface="Noto Sans CJK KR"/>
              </a:rPr>
              <a:t>◆ 차별화 실험 (flagship 후보)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15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PGD / direction-aligned poison: 1차항으로 못 잡는 공격을 2차(곡률)항이 분리하는가? — FedIF의 blind spot, Flirds-1st-only와 대조하여 "2차 &gt; 1차"를 직접 입증.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349240"/>
            <a:ext cx="11057839" cy="566928"/>
          </a:xfrm>
          <a:prstGeom prst="roundRect">
            <a:avLst>
              <a:gd name="adj" fmla="val 4500"/>
            </a:avLst>
          </a:prstGeom>
          <a:solidFill>
            <a:srgbClr val="112640"/>
          </a:solidFill>
          <a:ln w="9525">
            <a:solidFill>
              <a:srgbClr val="112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539496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매트릭스: 1B / 3B / 7B 전 셀 (3 seed mean±std + 95% CI). est-vs-oracle fidelity는 비용 때문에 N으로 capped (N5↔N10 = 32×, fp32).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419088"/>
            <a:ext cx="11057839" cy="10058"/>
          </a:xfrm>
          <a:prstGeom prst="rect">
            <a:avLst/>
          </a:prstGeom>
          <a:solidFill>
            <a:srgbClr val="D4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474"/>
                </a:solidFill>
                <a:latin typeface="Noto Sans CJK KR"/>
                <a:ea typeface="Noto Sans CJK KR"/>
                <a:cs typeface="Noto Sans CJK KR"/>
              </a:rPr>
              <a:t>Flirds · 연구 진행 보고 · 2026-06-04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474"/>
                </a:solidFill>
                <a:latin typeface="Noto Sans CJK KR"/>
                <a:ea typeface="Noto Sans CJK KR"/>
                <a:cs typeface="Noto Sans CJK KR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NEXT ·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12640"/>
                </a:solidFill>
                <a:latin typeface="Noto Sans CJK KR"/>
                <a:ea typeface="Noto Sans CJK KR"/>
                <a:cs typeface="Noto Sans CJK KR"/>
              </a:rPr>
              <a:t>다음 단계 &amp;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777240" cy="47548"/>
          </a:xfrm>
          <a:prstGeom prst="rect">
            <a:avLst/>
          </a:prstGeom>
          <a:solidFill>
            <a:srgbClr val="0D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다음 단계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01368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B07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즉시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7" y="1783080"/>
            <a:ext cx="4434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1B FULL clean run (N=5, R≈30, 3 seed, ~5–7h) — MINI de-risk 먼저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368296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이후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7" y="2350008"/>
            <a:ext cx="4434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SV baselines LLM 이식 (GTG/FedSV/ComFedSV/Ripple)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35224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5A6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2916936"/>
            <a:ext cx="4434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full baseline + Data Banzhaf + ShapleyFL + detection + 3B/7B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02152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5A6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7" y="3483864"/>
            <a:ext cx="4434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실험 매트릭스 실행 + Ripple 이론 reduction → 논문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4E79"/>
                </a:solidFill>
                <a:latin typeface="Noto Sans CJK KR"/>
                <a:ea typeface="Noto Sans CJK KR"/>
                <a:cs typeface="Noto Sans CJK KR"/>
              </a:rPr>
              <a:t>한계 (정직하게 보고)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783080"/>
            <a:ext cx="5166360" cy="1207008"/>
          </a:xfrm>
          <a:prstGeom prst="roundRect">
            <a:avLst>
              <a:gd name="adj" fmla="val 4500"/>
            </a:avLst>
          </a:prstGeom>
          <a:solidFill>
            <a:srgbClr val="F1F5F9"/>
          </a:solidFill>
          <a:ln w="9525">
            <a:solidFill>
              <a:srgbClr val="CD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1892807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12640"/>
                </a:solidFill>
                <a:latin typeface="Noto Sans CJK KR"/>
                <a:ea typeface="Noto Sans CJK KR"/>
                <a:cs typeface="Noto Sans CJK KR"/>
              </a:rPr>
              <a:t>Privacy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10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서버가 개별 Δw_k 를 봐야 함 → secure aggregation과 비호환. client-level 가치평가의 본질적 한계 (고칠 결함 아님).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3118104"/>
            <a:ext cx="5166360" cy="1207008"/>
          </a:xfrm>
          <a:prstGeom prst="roundRect">
            <a:avLst>
              <a:gd name="adj" fmla="val 4500"/>
            </a:avLst>
          </a:prstGeom>
          <a:solidFill>
            <a:srgbClr val="F1F5F9"/>
          </a:solidFill>
          <a:ln w="9525">
            <a:solidFill>
              <a:srgbClr val="CD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3227832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12640"/>
                </a:solidFill>
                <a:latin typeface="Noto Sans CJK KR"/>
                <a:ea typeface="Noto Sans CJK KR"/>
                <a:cs typeface="Noto Sans CJK KR"/>
              </a:rPr>
              <a:t>noise vs OOD-good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10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signed value 안에서 분리하는 FL 방법은 없음 (detector들 non-IID서 붕괴) → characterized limitation으로 보류.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4453128"/>
            <a:ext cx="5166360" cy="1207008"/>
          </a:xfrm>
          <a:prstGeom prst="roundRect">
            <a:avLst>
              <a:gd name="adj" fmla="val 4500"/>
            </a:avLst>
          </a:prstGeom>
          <a:solidFill>
            <a:srgbClr val="F1F5F9"/>
          </a:solidFill>
          <a:ln w="9525">
            <a:solidFill>
              <a:srgbClr val="CD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4562856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12640"/>
                </a:solidFill>
                <a:latin typeface="Noto Sans CJK KR"/>
                <a:ea typeface="Noto Sans CJK KR"/>
                <a:cs typeface="Noto Sans CJK KR"/>
              </a:rPr>
              <a:t>non-IID bias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100" b="0" i="0">
                <a:solidFill>
                  <a:srgbClr val="0F172A"/>
                </a:solidFill>
                <a:latin typeface="Noto Sans CJK KR"/>
                <a:ea typeface="Noto Sans CJK KR"/>
                <a:cs typeface="Noto Sans CJK KR"/>
              </a:rPr>
              <a:t>FL-Shapley가 maverick/희귀도메인 client를 과소평가 → α-sweep 필수 측정 의무.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19088"/>
            <a:ext cx="11057839" cy="10058"/>
          </a:xfrm>
          <a:prstGeom prst="rect">
            <a:avLst/>
          </a:prstGeom>
          <a:solidFill>
            <a:srgbClr val="D4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474"/>
                </a:solidFill>
                <a:latin typeface="Noto Sans CJK KR"/>
                <a:ea typeface="Noto Sans CJK KR"/>
                <a:cs typeface="Noto Sans CJK KR"/>
              </a:rPr>
              <a:t>Flirds · 연구 진행 보고 · 2026-06-04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474"/>
                </a:solidFill>
                <a:latin typeface="Noto Sans CJK KR"/>
                <a:ea typeface="Noto Sans CJK KR"/>
                <a:cs typeface="Noto Sans CJK KR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