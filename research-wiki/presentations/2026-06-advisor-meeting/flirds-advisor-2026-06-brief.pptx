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2047875"/>
            <a:ext cx="11049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 i="0">
                <a:solidFill>
                  <a:srgbClr val="1A1A1A"/>
                </a:solidFill>
                <a:latin typeface="Malgun Gothic"/>
              </a:rPr>
              <a:t>Flirds 진행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2762250"/>
            <a:ext cx="11049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80" b="0" i="0">
                <a:solidFill>
                  <a:srgbClr val="555555"/>
                </a:solidFill>
                <a:latin typeface="Malgun Gothic"/>
              </a:rPr>
              <a:t>Client-level In-Run Data Shapley for Federated LLM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105150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555555"/>
                </a:solidFill>
                <a:latin typeface="Malgun Gothic"/>
              </a:rPr>
              <a:t>2026-06-12 · Yonghee Choi · 요약판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3771900"/>
            <a:ext cx="8382000" cy="975360"/>
          </a:xfrm>
          <a:prstGeom prst="rect">
            <a:avLst/>
          </a:prstGeom>
          <a:noFill/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3886200"/>
            <a:ext cx="8039100" cy="746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1" i="0">
                <a:solidFill>
                  <a:srgbClr val="1A1A1A"/>
                </a:solidFill>
                <a:latin typeface="Malgun Gothic"/>
              </a:rPr>
              <a:t>표기 규약</a:t>
            </a:r>
          </a:p>
          <a:p>
            <a:pPr>
              <a:spcBef>
                <a:spcPts val="300"/>
              </a:spcBef>
            </a:pPr>
            <a:r>
              <a:rPr sz="1090" b="1" i="0">
                <a:solidFill>
                  <a:srgbClr val="1A1A1A"/>
                </a:solidFill>
                <a:latin typeface="Malgun Gothic"/>
              </a:rPr>
              <a:t>ⓐ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구현+smoke (값 coarse) ·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실측 (설정 병기) · </a:t>
            </a:r>
            <a:r>
              <a:rPr sz="1090" b="1" i="0">
                <a:solidFill>
                  <a:srgbClr val="1A1A1A"/>
                </a:solidFill>
                <a:latin typeface="Malgun Gothic"/>
              </a:rPr>
              <a:t>ⓒ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설계만, 미실행</a:t>
            </a:r>
            <a:br/>
            <a:r>
              <a:rPr sz="1090" b="0" i="0">
                <a:solidFill>
                  <a:srgbClr val="1A1A1A"/>
                </a:solidFill>
                <a:latin typeface="Malgun Gothic"/>
              </a:rPr>
              <a:t> </a:t>
            </a:r>
            <a:r>
              <a:rPr sz="1090" b="0" i="1">
                <a:solidFill>
                  <a:srgbClr val="999999"/>
                </a:solidFill>
                <a:latin typeface="Malgun Gothic"/>
              </a:rPr>
              <a:t>기울임 회색</a:t>
            </a:r>
            <a:r>
              <a:rPr sz="1090" b="0" i="0">
                <a:solidFill>
                  <a:srgbClr val="1A1A1A"/>
                </a:solidFill>
                <a:latin typeface="Malgun Gothic"/>
              </a:rPr>
              <a:t> = 잔여 셀(device100 poison · α=0.5 anchor · 7B) 확정 대기. 상세 근거는 상세판 데크 참조.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§1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문제와 선행 연구의 빈 부분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369219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server가 보는 것은 Δw</a:t>
            </a:r>
            <a:r>
              <a:rPr sz="1310" b="0" i="0" baseline="-25000">
                <a:solidFill>
                  <a:srgbClr val="1A1A1A"/>
                </a:solidFill>
                <a:latin typeface="Malgun Gothic"/>
              </a:rPr>
              <a:t>k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, n</a:t>
            </a:r>
            <a:r>
              <a:rPr sz="1310" b="0" i="0" baseline="-25000">
                <a:solidFill>
                  <a:srgbClr val="1A1A1A"/>
                </a:solidFill>
                <a:latin typeface="Malgun Gothic"/>
              </a:rPr>
              <a:t>k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뿐 →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post-hoc · 재학습 0 · 추가 통신 0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으로 client 기여도 φ</a:t>
            </a:r>
            <a:r>
              <a:rPr sz="1310" b="0" i="0" baseline="-25000">
                <a:solidFill>
                  <a:srgbClr val="1A1A1A"/>
                </a:solidFill>
                <a:latin typeface="Malgun Gothic"/>
              </a:rPr>
              <a:t>k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용도: ① corrupt/free-rider 식별 ② selection(상위 client 재학습)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2133600"/>
          <a:ext cx="11049000" cy="2626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6660"/>
                <a:gridCol w="7292340"/>
              </a:tblGrid>
              <a:tr h="328374"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선행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retrain Shapley (G&amp;Z '19)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재학습 비용 — </a:t>
                      </a:r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126분</a:t>
                      </a:r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 </a:t>
                      </a:r>
                      <a:r>
                        <a:rPr sz="950" b="0" i="0">
                          <a:solidFill>
                            <a:srgbClr val="555555"/>
                          </a:solidFill>
                          <a:latin typeface="Malgun Gothic"/>
                        </a:rPr>
                        <a:t>(1B N=5 fp32 ⓑ)</a:t>
                      </a:r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, N=10 ≈ 2–5일 </a:t>
                      </a:r>
                      <a:r>
                        <a:rPr sz="950" b="0" i="0">
                          <a:solidFill>
                            <a:srgbClr val="555555"/>
                          </a:solidFill>
                          <a:latin typeface="Malgun Gothic"/>
                        </a:rPr>
                        <a:t>(추정, ⓒ)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FL-SV 계열 ('20–'23)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coalition/MC 비용 · 전부 CNN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Influence Functions ('17)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iHVP(H</a:t>
                      </a:r>
                      <a:r>
                        <a:rPr sz="1160" b="0" i="0" baseline="30000">
                          <a:solidFill>
                            <a:srgbClr val="1A1A1A"/>
                          </a:solidFill>
                          <a:latin typeface="Malgun Gothic"/>
                        </a:rPr>
                        <a:t>−1</a:t>
                      </a:r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v) 역산 — 불안정·고비용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IRDS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centralized · per-step · sample-level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Ripple (AAAI '26)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sample-level · CNN · 2차는 cross-round 전파(클라 상호작용 항 없음)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FedIF ('25)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순수 1차 · aggregation 변경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FedTSV (ECC '26)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0차 기하 · aggregation 물건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500" y="4855845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10" b="1" i="0">
                <a:solidFill>
                  <a:srgbClr val="1A1A1A"/>
                </a:solidFill>
                <a:latin typeface="Malgun Gothic"/>
              </a:rPr>
              <a:t>빈 교집합: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client-level · in-run · closed-form 1+2차 · HVP 상호작용항 · 통신 0 · LoRA/LLM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(서술적 서베이 근거)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§1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알고리즘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369219"/>
            <a:ext cx="11049000" cy="776288"/>
          </a:xfrm>
          <a:prstGeom prst="rect">
            <a:avLst/>
          </a:prstGeom>
          <a:solidFill>
            <a:srgbClr val="FAFAFA"/>
          </a:solidFill>
          <a:ln w="9525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1483519"/>
            <a:ext cx="10706100" cy="547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20" b="0" i="0">
                <a:solidFill>
                  <a:srgbClr val="1A1A1A"/>
                </a:solidFill>
                <a:latin typeface="Cambria"/>
              </a:rPr>
              <a:t> φ</a:t>
            </a:r>
            <a:r>
              <a:rPr sz="1720" b="0" i="0" baseline="-25000">
                <a:solidFill>
                  <a:srgbClr val="1A1A1A"/>
                </a:solidFill>
                <a:latin typeface="Cambria"/>
              </a:rPr>
              <a:t>k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 = Σ</a:t>
            </a:r>
            <a:r>
              <a:rPr sz="1720" b="0" i="0" baseline="-25000">
                <a:solidFill>
                  <a:srgbClr val="1A1A1A"/>
                </a:solidFill>
                <a:latin typeface="Cambria"/>
              </a:rPr>
              <a:t>r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 p</a:t>
            </a:r>
            <a:r>
              <a:rPr sz="1720" b="0" i="0" baseline="-25000">
                <a:solidFill>
                  <a:srgbClr val="1A1A1A"/>
                </a:solidFill>
                <a:latin typeface="Cambria"/>
              </a:rPr>
              <a:t>k</a:t>
            </a:r>
            <a:r>
              <a:rPr sz="17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 [ ⟨g</a:t>
            </a:r>
            <a:r>
              <a:rPr sz="17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, Δw</a:t>
            </a:r>
            <a:r>
              <a:rPr sz="1720" b="0" i="0" baseline="-25000">
                <a:solidFill>
                  <a:srgbClr val="1A1A1A"/>
                </a:solidFill>
                <a:latin typeface="Cambria"/>
              </a:rPr>
              <a:t>k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⟩ + ½ ⟨Δw</a:t>
            </a:r>
            <a:r>
              <a:rPr sz="1720" b="0" i="0" baseline="-25000">
                <a:solidFill>
                  <a:srgbClr val="1A1A1A"/>
                </a:solidFill>
                <a:latin typeface="Cambria"/>
              </a:rPr>
              <a:t>k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, u</a:t>
            </a:r>
            <a:r>
              <a:rPr sz="17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⟩ ], u</a:t>
            </a:r>
            <a:r>
              <a:rPr sz="17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 = H</a:t>
            </a:r>
            <a:r>
              <a:rPr sz="17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 ΔW</a:t>
            </a:r>
            <a:r>
              <a:rPr sz="1720" b="0" i="0" baseline="30000">
                <a:solidFill>
                  <a:srgbClr val="1A1A1A"/>
                </a:solidFill>
                <a:latin typeface="Cambria"/>
              </a:rPr>
              <a:t>r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 </a:t>
            </a:r>
            <a:r>
              <a:rPr sz="1720" b="0" i="0">
                <a:solidFill>
                  <a:srgbClr val="1A1A1A"/>
                </a:solidFill>
                <a:latin typeface="Cambria"/>
              </a:rPr>
              <a:t> </a:t>
            </a:r>
          </a:p>
          <a:p>
            <a:pPr algn="ctr">
              <a:spcBef>
                <a:spcPts val="450"/>
              </a:spcBef>
            </a:pPr>
            <a:r>
              <a:rPr sz="1050" b="0" i="0">
                <a:solidFill>
                  <a:srgbClr val="555555"/>
                </a:solidFill>
                <a:latin typeface="Malgun Gothic"/>
              </a:rPr>
              <a:t>frozen FedAvg 궤적만 입력 · g</a:t>
            </a:r>
            <a:r>
              <a:rPr sz="1050" b="0" i="0" baseline="30000">
                <a:solidFill>
                  <a:srgbClr val="555555"/>
                </a:solidFill>
                <a:latin typeface="Malgun Gothic"/>
              </a:rPr>
              <a:t>r</a:t>
            </a:r>
            <a:r>
              <a:rPr sz="1050" b="0" i="0">
                <a:solidFill>
                  <a:srgbClr val="555555"/>
                </a:solidFill>
                <a:latin typeface="Malgun Gothic"/>
              </a:rPr>
              <a:t> = ∇ val-loss · val-loss를 내리면 φ &lt;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259806"/>
            <a:ext cx="5334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round당 HVP 1회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— forward H·v, H</a:t>
            </a:r>
            <a:r>
              <a:rPr sz="1500" b="0" i="0" baseline="30000">
                <a:solidFill>
                  <a:srgbClr val="1A1A1A"/>
                </a:solidFill>
                <a:latin typeface="Malgun Gothic"/>
              </a:rPr>
              <a:t>−1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불사용, true Hessian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비용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N-독립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↔ in-run oracle 2</a:t>
            </a:r>
            <a:r>
              <a:rPr sz="1500" b="0" i="0" baseline="30000">
                <a:solidFill>
                  <a:srgbClr val="1A1A1A"/>
                </a:solidFill>
                <a:latin typeface="Malgun Gothic"/>
              </a:rPr>
              <a:t>N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·R forward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Flirds-1st(2차 off): 35s — coalition 계열(~530s) 대비 ≈15×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259806"/>
            <a:ext cx="5334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free-rider φ = 0 exact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(구조적; 실측 매 seed 0 ⓑ)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2차의 근거: FL per-round Δw 큼 — CNN 0.962 &gt; 0.924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ⓑ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; momentum서 역전 → plain SGD 고정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제약: fp32 · eager attention · LoRA-subspace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§2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실험 프레임 — 질문 → 실험 →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407319"/>
          <a:ext cx="11049000" cy="3262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4700"/>
                <a:gridCol w="4419600"/>
                <a:gridCol w="3314700"/>
              </a:tblGrid>
              <a:tr h="349091"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실험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349091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Shapley 계산이 옳은가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dual-oracle 삼중 비교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 +1.000 </a:t>
                      </a:r>
                      <a:r>
                        <a:rPr sz="1050" b="0" i="0">
                          <a:solidFill>
                            <a:srgbClr val="555555"/>
                          </a:solidFill>
                          <a:latin typeface="Malgun Gothic"/>
                        </a:rPr>
                        <a:t>(1B N=5 fp32 3-seed)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091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기존 방법 대비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같은 궤적 9-method (+FedIF)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 3-seed (FedIF 포함)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882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위협을 식별하나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2 regime × 4 threat + detector 4종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 silo5·3B·device100 · </a:t>
                      </a:r>
                      <a:r>
                        <a:rPr sz="1280" b="0" i="1">
                          <a:solidFill>
                            <a:srgbClr val="999999"/>
                          </a:solidFill>
                          <a:latin typeface="Malgun Gothic"/>
                        </a:rPr>
                        <a:t>poison 2셀 잔여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091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N=100서 성립하나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per-round exact 분해 + α-sweep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sweep 12셀 </a:t>
                      </a:r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 · </a:t>
                      </a:r>
                      <a:r>
                        <a:rPr sz="1280" b="0" i="1">
                          <a:solidFill>
                            <a:srgbClr val="999999"/>
                          </a:solidFill>
                          <a:latin typeface="Malgun Gothic"/>
                        </a:rPr>
                        <a:t>anchor 3셀 잔여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091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실용 가치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selection run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 3-seed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882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scale 유지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1B → 3B → 7B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1B </a:t>
                      </a:r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 · 3B 4-threat </a:t>
                      </a:r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ⓑ</a:t>
                      </a:r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(1-seed) · 7B </a:t>
                      </a:r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091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무변별 해소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N=10 retrain oracle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ⓒ</a:t>
                      </a:r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 연기 — 논의 ②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§2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방법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369219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7508C"/>
                </a:solidFill>
                <a:latin typeface="Malgun Gothic"/>
              </a:rPr>
              <a:t>dual-oracle — 검증은 같은 게임(val-loss)으로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47349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retrain(val-loss) = in-run oracle = estimator —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Spearman +1.000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ⓑ (1B N=5 fp32 3-seed, lr 2종)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· 3B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(1-seed)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: estimator +1.000 유지, retrain↔in-run +0.900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retrain-ROUGE는 발산(+0.4 / −0.9) = 다른 게임 → val-loss가 옳은 검증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65346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7508C"/>
                </a:solidFill>
                <a:latin typeface="Malgun Gothic"/>
              </a:rPr>
              <a:t>baseline 9종 — 같은 frozen 궤적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043476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noisy/FR: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전 방법 +1.000 동률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(N=5 near-additive)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→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"같은 랭킹을 더 싸게"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runtime: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35s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(1st·FedIF) ·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107s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(Flirds) · 164s(loss-heur) · ~530s(GTG·FedSV·Banzhaf·ShapleyFL·oracle) · ~4515s(Ripple, 별도 세션)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free-rider φ=0 exact: Flirds·oracle·Banzhaf·loss-heur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(GTG·FedSV는 ≠0)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· FedIF(정규화 1차): noisy/FR AUROC 1.0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ⓑ(silo5 재실행 3-seed)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73454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7508C"/>
                </a:solidFill>
                <a:latin typeface="Malgun Gothic"/>
              </a:rPr>
              <a:t>selection — 검출을 성능으로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051584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noisy+FR 정확히 드롭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ⓑ (3-seed, 양 lr 일관)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· vs full 항상 우세 · vs random cross-seed 우세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(noisy AUROC lr 반전 있어도 결론 불변)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§2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위협 매트릭스 — 2 regime × 4 threat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407319"/>
          <a:ext cx="11049000" cy="1313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7840"/>
                <a:gridCol w="6408420"/>
                <a:gridCol w="2872740"/>
              </a:tblGrid>
              <a:tr h="328374"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위협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정의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matched detector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noisy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answer_swap — 정직하지만 나쁜 데이터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FedDQC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free-rider </a:t>
                      </a:r>
                      <a:r>
                        <a:rPr sz="950" b="0" i="0">
                          <a:solidFill>
                            <a:srgbClr val="555555"/>
                          </a:solidFill>
                          <a:latin typeface="Malgun Gothic"/>
                        </a:rPr>
                        <a:t>(2모드)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zero: Δw=0 · random: benign-std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STD-DAGMM · FLTrust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poison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backdoor (trigger + γ-scaled replacement)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FLDetector · FLTrust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500" y="2816066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0" b="0" i="0">
                <a:solidFill>
                  <a:srgbClr val="555555"/>
                </a:solidFill>
                <a:latin typeface="Malgun Gothic"/>
              </a:rPr>
              <a:t>라벨은 AUROC 채점 key — method 입력 아님(순환 아님). 결과: silo5 3-seed 재실행본 ⓑ (FedIF 포함, 8d364cc)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130010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noisy / free-rider: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전 방법 AUROC 1.0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(Sp 예외: FedIF 0.90–0.93 · FedSV FR-random 0.933)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poison(ASR=1.00) = 동률 첫 붕괴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raw 1차만 0.000 회피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· 2차 0.917±0.118 · 정규화 1차(FedIF·FLTrust)·exact 계열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1.0</a:t>
            </a:r>
            <a:br/>
            <a:r>
              <a:rPr sz="1310" b="0" i="0">
                <a:solidFill>
                  <a:srgbClr val="1A1A1A"/>
                </a:solidFill>
                <a:latin typeface="Malgun Gothic"/>
              </a:rPr>
              <a:t>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2차는 이전 동일 config run서 0.417±0.425(run간 분산, 원인 규명 중) · 3B(1-seed)는 1차·2차 모두 0.000 회피 · exact 계열 = oracle·loss-heur·Banzhaf·ShapleyFL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detector: poison — FLDetector·FLTrust·FedDQC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1.0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, STD-DAGMM 0.75 · FR-zero STD-DAGMM 0.250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실패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· noisy FedDQC 0.917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5099304"/>
            <a:ext cx="11049000" cy="7239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5194554"/>
            <a:ext cx="107823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0" i="0">
                <a:solidFill>
                  <a:srgbClr val="1A1A1A"/>
                </a:solidFill>
                <a:latin typeface="Malgun Gothic"/>
              </a:rPr>
              <a:t>Flirds = noisy + free-rider는 잡는다. backdoor는 raw 1차 회피·2차 불안정 → 정규화 1차·secant·matched detector가 보완 </a:t>
            </a:r>
            <a:r>
              <a:rPr sz="1110" b="0" i="0">
                <a:solidFill>
                  <a:srgbClr val="555555"/>
                </a:solidFill>
                <a:latin typeface="Malgun Gothic"/>
              </a:rPr>
              <a:t>(채택은 논의 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§2 실험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scale-up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369219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7508C"/>
                </a:solidFill>
                <a:latin typeface="Malgun Gothic"/>
              </a:rPr>
              <a:t>cross-device N=100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47349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per-round exact 분해 ≡ 2</a:t>
            </a:r>
            <a:r>
              <a:rPr sz="1500" b="0" i="0" baseline="30000">
                <a:solidFill>
                  <a:srgbClr val="1A1A1A"/>
                </a:solidFill>
                <a:latin typeface="Malgun Gothic"/>
              </a:rPr>
              <a:t>N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(Δφ≈3e-16 ⓑ)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· oracle ~11h/4-GPU →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α=0.5 anchor만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, 나머지는 Flirds proxy-truth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α-sweep 12셀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ⓑ(3-seed)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: free-rider — Flirds 계열 전 α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AUROC 1.000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· noisy — 0.57–0.77 약함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(matched FedDQC 0.96–1.0이 보완)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anchor: Flirds vs oracle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+1.000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ⓑ (1B, 1-seed smoke)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· φ=0 exact 유지 · </a:t>
            </a:r>
            <a:r>
              <a:rPr sz="1500" b="0" i="1">
                <a:solidFill>
                  <a:srgbClr val="999999"/>
                </a:solidFill>
                <a:latin typeface="Malgun Gothic"/>
              </a:rPr>
              <a:t>anchor 3셀 + poison 2셀 잔여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09499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7508C"/>
                </a:solidFill>
                <a:latin typeface="Malgun Gothic"/>
              </a:rPr>
              <a:t>model ladder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87629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1B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→ 3B 4-threat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ⓑ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(1-seed)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: noisy/FR valuation 전부 1.0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(detector 예외: STD-DAGMM 0.25/0.00, FedDQC 0.75)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,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poison은 1차·2차 모두 0.000 회피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→ 7B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ⓒ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· 전부 fp32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44879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7508C"/>
                </a:solidFill>
                <a:latin typeface="Malgun Gothic"/>
              </a:rPr>
              <a:t>N=10 retrain oracle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023009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재학습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64×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≈ 2–5일/1-GPU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(추정)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→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ⓒ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연기 — 투자 판단(논의 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§3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남은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369219"/>
            <a:ext cx="533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7508C"/>
                </a:solidFill>
                <a:latin typeface="Malgun Gothic"/>
              </a:rPr>
              <a:t>방법 내재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647349"/>
            <a:ext cx="5334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Taylor 절단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clean-preserving backdoor 회피(tangent 맹점)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plain SGD 강제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AdamW 비호환(최대 일반성 제약)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fp32 강제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신호 &lt; bf16 정밀도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적용 범위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eager · LoRA-subspace · vanilla FedAvg 한정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단일 val-loss 게임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val 오염 미고려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1369219"/>
            <a:ext cx="533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7508C"/>
                </a:solidFill>
                <a:latin typeface="Malgun Gothic"/>
              </a:rPr>
              <a:t>증거력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1647349"/>
            <a:ext cx="5334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N=5 무변별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유일한 분리(poison)가 Flirds에 불리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noisy AUROC lr 반전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lr 미확정(논의 ③)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N=100 noisy 약함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0.57–0.77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(FedDQC 보완)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1-seed 항목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3B tier · anchor 미실행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proxy-truth 순환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off-anchor truth = Flirds 자신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poison 인위성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별도 config서만 ASR&gt;0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최약 공격자만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stealthy·DBA·advanced FR 제외</a:t>
            </a:r>
          </a:p>
          <a:p>
            <a:pPr marL="133350" indent="-133350">
              <a:spcAft>
                <a:spcPts val="750"/>
              </a:spcAft>
            </a:pPr>
            <a:r>
              <a:rPr sz="131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detector 개조 confound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 — 원형 ablation 부재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§4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① 진행 중 + main 트랙 보강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369219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real grid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— 20/25셀 완료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(8d364cc)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· 잔여: device100 poison 2 + α=0.5 anchor 3 + 7B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poison 2차 거동 규명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— 1B run 분산 + 3B 회피 · 기실행 궤적 재분석(비용 ~0) —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최우선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two-sided |φ| 산출물화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· orientation·lr 양쪽 보고 규약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2차항 결정 실험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— PGD/direction-aligned poison </a:t>
            </a:r>
            <a:r>
              <a:rPr sz="1230" b="0" i="0">
                <a:solidFill>
                  <a:srgbClr val="555555"/>
                </a:solidFill>
                <a:latin typeface="Malgun Gothic"/>
              </a:rPr>
              <a:t>(FedIF 공인 blind spot)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advanced free-rider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(Lin II/III) ·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원형 ablation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+ bootstrap CI</a:t>
            </a:r>
          </a:p>
          <a:p>
            <a:pPr marL="133350" indent="-133350">
              <a:spcAft>
                <a:spcPts val="750"/>
              </a:spcAft>
            </a:pPr>
            <a:r>
              <a:rPr sz="1500" b="0" i="0">
                <a:solidFill>
                  <a:srgbClr val="555555"/>
                </a:solidFill>
                <a:latin typeface="Malgun Gothic"/>
              </a:rPr>
              <a:t>–  </a:t>
            </a:r>
            <a:r>
              <a:rPr sz="1500" b="1" i="0">
                <a:solidFill>
                  <a:srgbClr val="1A1A1A"/>
                </a:solidFill>
                <a:latin typeface="Malgun Gothic"/>
              </a:rPr>
              <a:t>N=10 retrain oracle</a:t>
            </a:r>
            <a:r>
              <a:rPr sz="1500" b="0" i="0">
                <a:solidFill>
                  <a:srgbClr val="1A1A1A"/>
                </a:solidFill>
                <a:latin typeface="Malgun Gothic"/>
              </a:rPr>
              <a:t> — 투자 판단(논의 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§4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② 추가 실험 Track C/D — 표준 세팅 비교 (설계 확정 ⓒ)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369219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10" b="0" i="0">
                <a:solidFill>
                  <a:srgbClr val="1A1A1A"/>
                </a:solidFill>
                <a:latin typeface="Malgun Gothic"/>
              </a:rPr>
              <a:t>동기: main 실험은 선행과 직접 비교가 어렵다 → 선행 다수의 </a:t>
            </a:r>
            <a:r>
              <a:rPr sz="1310" b="1" i="0">
                <a:solidFill>
                  <a:srgbClr val="1A1A1A"/>
                </a:solidFill>
                <a:latin typeface="Malgun Gothic"/>
              </a:rPr>
              <a:t>일반 학습 세팅</a:t>
            </a:r>
            <a:r>
              <a:rPr sz="1310" b="0" i="0">
                <a:solidFill>
                  <a:srgbClr val="1A1A1A"/>
                </a:solidFill>
                <a:latin typeface="Malgun Gothic"/>
              </a:rPr>
              <a:t>으로 비교 트랙 추가 </a:t>
            </a:r>
            <a:r>
              <a:rPr sz="1080" b="0" i="0">
                <a:solidFill>
                  <a:srgbClr val="555555"/>
                </a:solidFill>
                <a:latin typeface="Malgun Gothic"/>
              </a:rPr>
              <a:t>(선행 13편 프로토콜 조사 기반)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1769269"/>
          <a:ext cx="11049000" cy="1855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4900"/>
                <a:gridCol w="3756660"/>
                <a:gridCol w="6187440"/>
              </a:tblGrid>
              <a:tr h="328374"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트랙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세팅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핵심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C1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CNN cross-silo, N=10 full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fidelity &amp; cost — </a:t>
                      </a:r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(a)+(b) 듀얼 oracle</a:t>
                      </a:r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, GTG 5-시나리오, 9-method + Ripple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2449"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C2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CNN cross-device, N=100 </a:t>
                      </a:r>
                      <a:r>
                        <a:rPr sz="950" b="0" i="0">
                          <a:solidFill>
                            <a:srgbClr val="555555"/>
                          </a:solidFill>
                          <a:latin typeface="Malgun Gothic"/>
                        </a:rPr>
                        <a:t>(메인)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일반 성능 — </a:t>
                      </a:r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개입 3종 × 3 파티션 × 4 위협</a:t>
                      </a:r>
                      <a:br/>
                      <a:r>
                        <a:rPr sz="950" b="0" i="0">
                          <a:solidFill>
                            <a:srgbClr val="555555"/>
                          </a:solidFill>
                          <a:latin typeface="Malgun Gothic"/>
                        </a:rPr>
                        <a:t>개입: 가중집계(곱셈형 w∝n·s 메인) · selection · bottom-q%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C3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(비용 0)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cross-seed 안정성 — Banzhaf·Volatility 처방 응답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8374">
                <a:tc>
                  <a:txBody>
                    <a:bodyPr wrap="square"/>
                    <a:lstStyle/>
                    <a:p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D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LLM, Alpaca-GPT4 20k IID N=5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표준 세팅 — answer_swap 50% → 필터링 재학습 → </a:t>
                      </a:r>
                      <a:r>
                        <a:rPr sz="1160" b="1" i="0">
                          <a:solidFill>
                            <a:srgbClr val="1A1A1A"/>
                          </a:solidFill>
                          <a:latin typeface="Malgun Gothic"/>
                        </a:rPr>
                        <a:t>MMLU</a:t>
                      </a:r>
                      <a:r>
                        <a:rPr sz="1160" b="0" i="0">
                          <a:solidFill>
                            <a:srgbClr val="1A1A1A"/>
                          </a:solidFill>
                          <a:latin typeface="Malgun Gothic"/>
                        </a:rPr>
                        <a:t> </a:t>
                      </a:r>
                      <a:r>
                        <a:rPr sz="950" b="0" i="0">
                          <a:solidFill>
                            <a:srgbClr val="555555"/>
                          </a:solidFill>
                          <a:latin typeface="Malgun Gothic"/>
                        </a:rPr>
                        <a:t>(전부 API-free; 7B=Llama-2)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500" y="3720465"/>
            <a:ext cx="11049000" cy="95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80" b="0" i="0">
                <a:solidFill>
                  <a:srgbClr val="555555"/>
                </a:solidFill>
                <a:latin typeface="Malgun Gothic"/>
              </a:rPr>
              <a:t>조사에서 본 공백: fidelity+학습개선 동시 커버 없음 · (a)+(b) 듀얼 oracle 없음 · LLM-scale FL valuation 직접 경쟁자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45720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0" b="0" i="0">
                <a:solidFill>
                  <a:srgbClr val="17508C"/>
                </a:solidFill>
                <a:latin typeface="Malgun Gothic"/>
              </a:rPr>
              <a:t>§5 논의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88181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50" b="1" i="0">
                <a:solidFill>
                  <a:srgbClr val="1A1A1A"/>
                </a:solidFill>
                <a:latin typeface="Malgun Gothic"/>
              </a:rPr>
              <a:t>결정이 필요한 항목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69194"/>
            <a:ext cx="11049000" cy="1143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407319"/>
          <a:ext cx="11049000" cy="17454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4700"/>
                <a:gridCol w="7734300"/>
              </a:tblGrid>
              <a:tr h="349091"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선택지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349091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① threat-matrix headline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"noisy+FR은 잡고 backdoor엔 회피(detector 보완)" 채택 여부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091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② N=10 retrain oracle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2–5일/1-GPU vs 샤딩 구축(11–22h) vs detection-only 차선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091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③ real grid lr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2e-5 vs 1e-3/3e-3 — noisy 결론이 갈림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9091"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④ Ripple 차별화 문구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"2차 없음" → </a:t>
                      </a:r>
                      <a:r>
                        <a:rPr sz="1280" b="1" i="0">
                          <a:solidFill>
                            <a:srgbClr val="1A1A1A"/>
                          </a:solidFill>
                          <a:latin typeface="Malgun Gothic"/>
                        </a:rPr>
                        <a:t>"다른 종류의 2차"</a:t>
                      </a:r>
                      <a:r>
                        <a:rPr sz="1280" b="0" i="0">
                          <a:solidFill>
                            <a:srgbClr val="1A1A1A"/>
                          </a:solidFill>
                          <a:latin typeface="Malgun Gothic"/>
                        </a:rPr>
                        <a:t>로 교체 승인</a:t>
                      </a:r>
                    </a:p>
                  </a:txBody>
                  <a:tcPr marL="95250" marR="95250" marT="47625" marB="47625">
                    <a:lnL w="9525" cap="flat">
                      <a:solidFill>
                        <a:srgbClr val="C8C8C8"/>
                      </a:solidFill>
                    </a:lnL>
                    <a:lnR w="9525" cap="flat">
                      <a:solidFill>
                        <a:srgbClr val="C8C8C8"/>
                      </a:solidFill>
                    </a:lnR>
                    <a:lnT w="9525" cap="flat">
                      <a:solidFill>
                        <a:srgbClr val="C8C8C8"/>
                      </a:solidFill>
                    </a:lnT>
                    <a:lnB w="9525" cap="flat">
                      <a:solidFill>
                        <a:srgbClr val="C8C8C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500" y="6572250"/>
            <a:ext cx="6667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60" b="0" i="0">
                <a:solidFill>
                  <a:srgbClr val="888888"/>
                </a:solidFill>
                <a:latin typeface="Malgun Gothic"/>
              </a:rPr>
              <a:t>Flirds 진행 보고 (요약판) · 2026-06-12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0" y="6572250"/>
            <a:ext cx="1143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60" b="0" i="0">
                <a:solidFill>
                  <a:srgbClr val="888888"/>
                </a:solidFill>
                <a:latin typeface="Malgun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