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047875"/>
            <a:ext cx="111252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 i="0">
                <a:solidFill>
                  <a:srgbClr val="1A1A1A"/>
                </a:solidFill>
                <a:latin typeface="Malgun Gothic"/>
              </a:rPr>
              <a:t>Flirds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2762250"/>
            <a:ext cx="11125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80" b="0" i="0">
                <a:solidFill>
                  <a:srgbClr val="555555"/>
                </a:solidFill>
                <a:latin typeface="Malgun Gothic"/>
              </a:rPr>
              <a:t>Client-level In-Run Data Shapley for Federated LLM 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3105150"/>
            <a:ext cx="111252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555555"/>
                </a:solidFill>
                <a:latin typeface="Malgun Gothic"/>
              </a:rPr>
              <a:t>2026-06-12 · Yonghee Choi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3771900"/>
            <a:ext cx="8382000" cy="1196340"/>
          </a:xfrm>
          <a:prstGeom prst="rect">
            <a:avLst/>
          </a:prstGeom>
          <a:noFill/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850" y="3886200"/>
            <a:ext cx="8039100" cy="967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1" i="0">
                <a:solidFill>
                  <a:srgbClr val="1A1A1A"/>
                </a:solidFill>
                <a:latin typeface="Malgun Gothic"/>
              </a:rPr>
              <a:t>표기 규약 (자료 전체 공통)</a:t>
            </a:r>
          </a:p>
          <a:p>
            <a:pPr>
              <a:spcBef>
                <a:spcPts val="300"/>
              </a:spcBef>
            </a:pPr>
            <a:r>
              <a:rPr sz="1090" b="1" i="0">
                <a:solidFill>
                  <a:srgbClr val="1A1A1A"/>
                </a:solidFill>
                <a:latin typeface="Malgun Gothic"/>
              </a:rPr>
              <a:t>ⓐ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구현 완료 + smoke 통과 (값은 coarse) ·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ⓑ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실측 (설정 병기) ·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ⓒ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설계 확정, 미실행</a:t>
            </a:r>
            <a:br/>
            <a:r>
              <a:rPr sz="1090" b="0" i="0">
                <a:solidFill>
                  <a:srgbClr val="1A1A1A"/>
                </a:solidFill>
                <a:latin typeface="Malgun Gothic"/>
              </a:rPr>
              <a:t> 모든 정량 주장에 설정(모델 / N / regime / seed / config)을 병기한다.</a:t>
            </a:r>
            <a:br/>
            <a:r>
              <a:rPr sz="1090" b="0" i="0">
                <a:solidFill>
                  <a:srgbClr val="1A1A1A"/>
                </a:solidFill>
                <a:latin typeface="Malgun Gothic"/>
              </a:rPr>
              <a:t> </a:t>
            </a:r>
            <a:r>
              <a:rPr sz="1090" b="0" i="1">
                <a:solidFill>
                  <a:srgbClr val="999999"/>
                </a:solidFill>
                <a:latin typeface="Malgun Gothic"/>
              </a:rPr>
              <a:t>기울임 회색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= 잔여 셀 확정 대기(device100 poison 2셀 · α=0.5 anchor 3셀 · 7B) — 확정 시 갱신.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5722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 i="0">
                <a:solidFill>
                  <a:srgbClr val="888888"/>
                </a:solidFill>
                <a:latin typeface="Malgun Gothic"/>
              </a:rPr>
              <a:t>Flirds 진행 보고 · 2026-06-12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72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60" b="0" i="0">
                <a:solidFill>
                  <a:srgbClr val="888888"/>
                </a:solidFill>
                <a:latin typeface="Malgun Gothic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419100"/>
            <a:ext cx="11125200" cy="1866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17508C"/>
                </a:solidFill>
                <a:latin typeface="Malgun Gothic"/>
              </a:rPr>
              <a:t>§1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37222"/>
            <a:ext cx="11125200" cy="3600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20" b="1" i="0">
                <a:solidFill>
                  <a:srgbClr val="1A1A1A"/>
                </a:solidFill>
                <a:latin typeface="Malgun Gothic"/>
              </a:rPr>
              <a:t>문제 설정과 선행 연구의 빈 부분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079659"/>
            <a:ext cx="11125200" cy="1143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" y="1241584"/>
            <a:ext cx="111252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FedAvg에서 server가 보는 것은 round별 client update Δw</a:t>
            </a:r>
            <a:r>
              <a:rPr sz="1090" b="0" i="0" baseline="-25000">
                <a:solidFill>
                  <a:srgbClr val="1A1A1A"/>
                </a:solidFill>
                <a:latin typeface="Malgun Gothic"/>
              </a:rPr>
              <a:t>k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와 데이터 수 n</a:t>
            </a:r>
            <a:r>
              <a:rPr sz="1090" b="0" i="0" baseline="-25000">
                <a:solidFill>
                  <a:srgbClr val="1A1A1A"/>
                </a:solidFill>
                <a:latin typeface="Malgun Gothic"/>
              </a:rPr>
              <a:t>k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뿐 — raw data에는 접근할 수 없다.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목표: 학습 종료 후 post-hoc으로,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재학습 0 · 추가 통신 0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으로 client별 기여도 φ</a:t>
            </a:r>
            <a:r>
              <a:rPr sz="1090" b="0" i="0" baseline="-25000">
                <a:solidFill>
                  <a:srgbClr val="1A1A1A"/>
                </a:solidFill>
                <a:latin typeface="Malgun Gothic"/>
              </a:rPr>
              <a:t>k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를 산출.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용도: ① value semantics — corrupt/free-rider client가 낮은 값을 받는가 ② selection — 상위 client만으로 재학습하면 성능이 좋아지는가.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975723"/>
            <a:ext cx="11125200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1" i="0">
                <a:solidFill>
                  <a:srgbClr val="17508C"/>
                </a:solidFill>
                <a:latin typeface="Malgun Gothic"/>
              </a:rPr>
              <a:t>선행 연구가 놓쳐온 부분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2278142"/>
          <a:ext cx="11125200" cy="27146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48812"/>
                <a:gridCol w="7676388"/>
              </a:tblGrid>
              <a:tr h="294322">
                <a:tc>
                  <a:txBody>
                    <a:bodyPr wrap="square"/>
                    <a:lstStyle/>
                    <a:p>
                      <a:r>
                        <a:rPr sz="1010" b="1" i="0">
                          <a:solidFill>
                            <a:srgbClr val="1A1A1A"/>
                          </a:solidFill>
                          <a:latin typeface="Malgun Gothic"/>
                        </a:rPr>
                        <a:t>선행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0" b="1" i="0">
                          <a:solidFill>
                            <a:srgbClr val="1A1A1A"/>
                          </a:solidFill>
                          <a:latin typeface="Malgun Gothic"/>
                        </a:rPr>
                        <a:t>남는 한계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</a:tr>
              <a:tr h="294322"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retrain Shapley (Ghorbani &amp; Zou 2019)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coalition마다 재학습. 실측 1B N=5 fp32 </a:t>
                      </a:r>
                      <a:r>
                        <a:rPr sz="1010" b="1" i="0">
                          <a:solidFill>
                            <a:srgbClr val="1A1A1A"/>
                          </a:solidFill>
                          <a:latin typeface="Malgun Gothic"/>
                        </a:rPr>
                        <a:t>126분</a:t>
                      </a:r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 </a:t>
                      </a:r>
                      <a:r>
                        <a:rPr sz="1010" b="1" i="0">
                          <a:solidFill>
                            <a:srgbClr val="1A1A1A"/>
                          </a:solidFill>
                          <a:latin typeface="Malgun Gothic"/>
                        </a:rPr>
                        <a:t>ⓑ</a:t>
                      </a:r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; N=10은 ≈2–5일/1-GPU 추정(실행 </a:t>
                      </a:r>
                      <a:r>
                        <a:rPr sz="1010" b="1" i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) — LLM-FL에 비용 부적합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FL-SV 계열 (FedSV '20 · GTG '21 · ComFedSV '21 · ShapleyFL '23)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retrain-free지만 coalition 재구성/MC 비용. 실험은 전부 CNN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4322"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Influence Functions (Koh &amp; Liang 2017)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iHVP(H</a:t>
                      </a:r>
                      <a:r>
                        <a:rPr sz="1010" b="0" i="0" baseline="30000">
                          <a:solidFill>
                            <a:srgbClr val="1A1A1A"/>
                          </a:solidFill>
                          <a:latin typeface="Malgun Gothic"/>
                        </a:rPr>
                        <a:t>−1</a:t>
                      </a:r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v) 반복 역산 — 불안정·고비용(LLM 적용 한계 보고)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4322"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IRDS (In-Run Data Shapley)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in-run Shapley의 직접 조상이나 </a:t>
                      </a:r>
                      <a:r>
                        <a:rPr sz="1010" b="1" i="0">
                          <a:solidFill>
                            <a:srgbClr val="1A1A1A"/>
                          </a:solidFill>
                          <a:latin typeface="Malgun Gothic"/>
                        </a:rPr>
                        <a:t>centralized · per-step · sample-level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Ripple Shapley (AAAI '26)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federated in-run 선점. sample-level · CNN; 2차는 local-data Hessian의 cross-round 전파 — within-round client 상호작용 항 없음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4322"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FedIF (2025)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client-level 순수 1차(TracIn). 2차 명시 회피, CNN, aggregation 변경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4322"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FedTSV (ECC '26)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0차 기하 근접 utility. aggregation 방법(평가 회계 아님), 서버 val-train 추가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3400" y="5088017"/>
            <a:ext cx="111252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90" b="0" i="0">
                <a:solidFill>
                  <a:srgbClr val="1A1A1A"/>
                </a:solidFill>
                <a:latin typeface="Malgun Gothic"/>
              </a:rPr>
              <a:t>비어 있는 교집합(6축):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client-level · in-run · closed-form 1+2차 Taylor · HVP client-interaction 항 · 추가 통신 0 · LoRA/LLM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(post-hoc/aggregation 무변경은 별도 축). </a:t>
            </a:r>
            <a:r>
              <a:rPr sz="1090" b="0" i="0">
                <a:solidFill>
                  <a:srgbClr val="555555"/>
                </a:solidFill>
                <a:latin typeface="Malgun Gothic"/>
              </a:rPr>
              <a:t>이 비점유 주장의 근거는 서술적 서베이이며 코드 수준 검증은 아니다.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5722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 i="0">
                <a:solidFill>
                  <a:srgbClr val="888888"/>
                </a:solidFill>
                <a:latin typeface="Malgun Gothic"/>
              </a:rPr>
              <a:t>Flirds 진행 보고 · 2026-06-12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72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60" b="0" i="0">
                <a:solidFill>
                  <a:srgbClr val="888888"/>
                </a:solidFill>
                <a:latin typeface="Malgun Gothic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419100"/>
            <a:ext cx="11125200" cy="1866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17508C"/>
                </a:solidFill>
                <a:latin typeface="Malgun Gothic"/>
              </a:rPr>
              <a:t>§1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37222"/>
            <a:ext cx="11125200" cy="3600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20" b="1" i="0">
                <a:solidFill>
                  <a:srgbClr val="1A1A1A"/>
                </a:solidFill>
                <a:latin typeface="Malgun Gothic"/>
              </a:rPr>
              <a:t>알고리즘 — 수식·비용 / 성질·제약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079659"/>
            <a:ext cx="11125200" cy="1143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" y="1241584"/>
            <a:ext cx="539115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입력: frozen FedAvg 궤적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logs = [(w</a:t>
            </a:r>
            <a:r>
              <a:rPr sz="1090" b="1" i="0" baseline="-25000">
                <a:solidFill>
                  <a:srgbClr val="1A1A1A"/>
                </a:solidFill>
                <a:latin typeface="Malgun Gothic"/>
              </a:rPr>
              <a:t>r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, deltas_map)]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만. estimator는 model·task를 직접 보지 않는다(loss_fn·pkeys 주입).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99260"/>
            <a:ext cx="5391150" cy="704850"/>
          </a:xfrm>
          <a:prstGeom prst="rect">
            <a:avLst/>
          </a:prstGeom>
          <a:solidFill>
            <a:srgbClr val="FAFAFA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1813560"/>
            <a:ext cx="5048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20" b="0" i="0">
                <a:solidFill>
                  <a:srgbClr val="1A1A1A"/>
                </a:solidFill>
                <a:latin typeface="Cambria"/>
              </a:rPr>
              <a:t> φ</a:t>
            </a:r>
            <a:r>
              <a:rPr sz="1420" b="0" i="0" baseline="-25000">
                <a:solidFill>
                  <a:srgbClr val="1A1A1A"/>
                </a:solidFill>
                <a:latin typeface="Cambria"/>
              </a:rPr>
              <a:t>k</a:t>
            </a:r>
            <a:r>
              <a:rPr sz="1420" b="0" i="0">
                <a:solidFill>
                  <a:srgbClr val="1A1A1A"/>
                </a:solidFill>
                <a:latin typeface="Cambria"/>
              </a:rPr>
              <a:t> = Σ</a:t>
            </a:r>
            <a:r>
              <a:rPr sz="1420" b="0" i="0" baseline="-25000">
                <a:solidFill>
                  <a:srgbClr val="1A1A1A"/>
                </a:solidFill>
                <a:latin typeface="Cambria"/>
              </a:rPr>
              <a:t>r</a:t>
            </a:r>
            <a:r>
              <a:rPr sz="1420" b="0" i="0">
                <a:solidFill>
                  <a:srgbClr val="1A1A1A"/>
                </a:solidFill>
                <a:latin typeface="Cambria"/>
              </a:rPr>
              <a:t> p</a:t>
            </a:r>
            <a:r>
              <a:rPr sz="1420" b="0" i="0" baseline="-25000">
                <a:solidFill>
                  <a:srgbClr val="1A1A1A"/>
                </a:solidFill>
                <a:latin typeface="Cambria"/>
              </a:rPr>
              <a:t>k</a:t>
            </a:r>
            <a:r>
              <a:rPr sz="1420" b="0" i="0" baseline="30000">
                <a:solidFill>
                  <a:srgbClr val="1A1A1A"/>
                </a:solidFill>
                <a:latin typeface="Cambria"/>
              </a:rPr>
              <a:t>r</a:t>
            </a:r>
            <a:r>
              <a:rPr sz="1420" b="0" i="0">
                <a:solidFill>
                  <a:srgbClr val="1A1A1A"/>
                </a:solidFill>
                <a:latin typeface="Cambria"/>
              </a:rPr>
              <a:t> [ ⟨g</a:t>
            </a:r>
            <a:r>
              <a:rPr sz="1420" b="0" i="0" baseline="30000">
                <a:solidFill>
                  <a:srgbClr val="1A1A1A"/>
                </a:solidFill>
                <a:latin typeface="Cambria"/>
              </a:rPr>
              <a:t>r</a:t>
            </a:r>
            <a:r>
              <a:rPr sz="1420" b="0" i="0">
                <a:solidFill>
                  <a:srgbClr val="1A1A1A"/>
                </a:solidFill>
                <a:latin typeface="Cambria"/>
              </a:rPr>
              <a:t>, Δw</a:t>
            </a:r>
            <a:r>
              <a:rPr sz="1420" b="0" i="0" baseline="-25000">
                <a:solidFill>
                  <a:srgbClr val="1A1A1A"/>
                </a:solidFill>
                <a:latin typeface="Cambria"/>
              </a:rPr>
              <a:t>k</a:t>
            </a:r>
            <a:r>
              <a:rPr sz="1420" b="0" i="0">
                <a:solidFill>
                  <a:srgbClr val="1A1A1A"/>
                </a:solidFill>
                <a:latin typeface="Cambria"/>
              </a:rPr>
              <a:t>⟩ + ½ ⟨Δw</a:t>
            </a:r>
            <a:r>
              <a:rPr sz="1420" b="0" i="0" baseline="-25000">
                <a:solidFill>
                  <a:srgbClr val="1A1A1A"/>
                </a:solidFill>
                <a:latin typeface="Cambria"/>
              </a:rPr>
              <a:t>k</a:t>
            </a:r>
            <a:r>
              <a:rPr sz="1420" b="0" i="0">
                <a:solidFill>
                  <a:srgbClr val="1A1A1A"/>
                </a:solidFill>
                <a:latin typeface="Cambria"/>
              </a:rPr>
              <a:t>, u</a:t>
            </a:r>
            <a:r>
              <a:rPr sz="1420" b="0" i="0" baseline="30000">
                <a:solidFill>
                  <a:srgbClr val="1A1A1A"/>
                </a:solidFill>
                <a:latin typeface="Cambria"/>
              </a:rPr>
              <a:t>r</a:t>
            </a:r>
            <a:r>
              <a:rPr sz="1420" b="0" i="0">
                <a:solidFill>
                  <a:srgbClr val="1A1A1A"/>
                </a:solidFill>
                <a:latin typeface="Cambria"/>
              </a:rPr>
              <a:t>⟩ ], u</a:t>
            </a:r>
            <a:r>
              <a:rPr sz="1420" b="0" i="0" baseline="30000">
                <a:solidFill>
                  <a:srgbClr val="1A1A1A"/>
                </a:solidFill>
                <a:latin typeface="Cambria"/>
              </a:rPr>
              <a:t>r</a:t>
            </a:r>
            <a:r>
              <a:rPr sz="1420" b="0" i="0">
                <a:solidFill>
                  <a:srgbClr val="1A1A1A"/>
                </a:solidFill>
                <a:latin typeface="Cambria"/>
              </a:rPr>
              <a:t> = H</a:t>
            </a:r>
            <a:r>
              <a:rPr sz="1420" b="0" i="0" baseline="30000">
                <a:solidFill>
                  <a:srgbClr val="1A1A1A"/>
                </a:solidFill>
                <a:latin typeface="Cambria"/>
              </a:rPr>
              <a:t>r</a:t>
            </a:r>
            <a:r>
              <a:rPr sz="1420" b="0" i="0">
                <a:solidFill>
                  <a:srgbClr val="1A1A1A"/>
                </a:solidFill>
                <a:latin typeface="Cambria"/>
              </a:rPr>
              <a:t> ΔW</a:t>
            </a:r>
            <a:r>
              <a:rPr sz="1420" b="0" i="0" baseline="30000">
                <a:solidFill>
                  <a:srgbClr val="1A1A1A"/>
                </a:solidFill>
                <a:latin typeface="Cambria"/>
              </a:rPr>
              <a:t>r</a:t>
            </a:r>
            <a:r>
              <a:rPr sz="1420" b="0" i="0">
                <a:solidFill>
                  <a:srgbClr val="1A1A1A"/>
                </a:solidFill>
                <a:latin typeface="Cambria"/>
              </a:rPr>
              <a:t> </a:t>
            </a:r>
            <a:r>
              <a:rPr sz="1420" b="0" i="0">
                <a:solidFill>
                  <a:srgbClr val="1A1A1A"/>
                </a:solidFill>
                <a:latin typeface="Cambria"/>
              </a:rPr>
              <a:t> </a:t>
            </a:r>
          </a:p>
          <a:p>
            <a:pPr algn="ctr">
              <a:spcBef>
                <a:spcPts val="450"/>
              </a:spcBef>
            </a:pPr>
            <a:r>
              <a:rPr sz="980" b="0" i="0">
                <a:solidFill>
                  <a:srgbClr val="555555"/>
                </a:solidFill>
                <a:latin typeface="Malgun Gothic"/>
              </a:rPr>
              <a:t>g</a:t>
            </a:r>
            <a:r>
              <a:rPr sz="980" b="0" i="0" baseline="30000">
                <a:solidFill>
                  <a:srgbClr val="555555"/>
                </a:solidFill>
                <a:latin typeface="Malgun Gothic"/>
              </a:rPr>
              <a:t>r</a:t>
            </a:r>
            <a:r>
              <a:rPr sz="980" b="0" i="0">
                <a:solidFill>
                  <a:srgbClr val="555555"/>
                </a:solidFill>
                <a:latin typeface="Malgun Gothic"/>
              </a:rPr>
              <a:t> = ∇ val-loss, p</a:t>
            </a:r>
            <a:r>
              <a:rPr sz="980" b="0" i="0" baseline="-25000">
                <a:solidFill>
                  <a:srgbClr val="555555"/>
                </a:solidFill>
                <a:latin typeface="Malgun Gothic"/>
              </a:rPr>
              <a:t>k</a:t>
            </a:r>
            <a:r>
              <a:rPr sz="980" b="0" i="0" baseline="30000">
                <a:solidFill>
                  <a:srgbClr val="555555"/>
                </a:solidFill>
                <a:latin typeface="Malgun Gothic"/>
              </a:rPr>
              <a:t>r</a:t>
            </a:r>
            <a:r>
              <a:rPr sz="980" b="0" i="0">
                <a:solidFill>
                  <a:srgbClr val="555555"/>
                </a:solidFill>
                <a:latin typeface="Malgun Gothic"/>
              </a:rPr>
              <a:t> = n</a:t>
            </a:r>
            <a:r>
              <a:rPr sz="980" b="0" i="0" baseline="-25000">
                <a:solidFill>
                  <a:srgbClr val="555555"/>
                </a:solidFill>
                <a:latin typeface="Malgun Gothic"/>
              </a:rPr>
              <a:t>k</a:t>
            </a:r>
            <a:r>
              <a:rPr sz="980" b="0" i="0">
                <a:solidFill>
                  <a:srgbClr val="555555"/>
                </a:solidFill>
                <a:latin typeface="Malgun Gothic"/>
              </a:rPr>
              <a:t> / Σ</a:t>
            </a:r>
            <a:r>
              <a:rPr sz="980" b="0" i="0" baseline="-25000">
                <a:solidFill>
                  <a:srgbClr val="555555"/>
                </a:solidFill>
                <a:latin typeface="Malgun Gothic"/>
              </a:rPr>
              <a:t>j∈P</a:t>
            </a:r>
            <a:r>
              <a:rPr sz="980" b="0" i="0" baseline="-25000">
                <a:solidFill>
                  <a:srgbClr val="555555"/>
                </a:solidFill>
                <a:latin typeface="Malgun Gothic"/>
              </a:rPr>
              <a:t>r</a:t>
            </a:r>
            <a:r>
              <a:rPr sz="980" b="0" i="0">
                <a:solidFill>
                  <a:srgbClr val="555555"/>
                </a:solidFill>
                <a:latin typeface="Malgun Gothic"/>
              </a:rPr>
              <a:t> n</a:t>
            </a:r>
            <a:r>
              <a:rPr sz="980" b="0" i="0" baseline="-25000">
                <a:solidFill>
                  <a:srgbClr val="555555"/>
                </a:solidFill>
                <a:latin typeface="Malgun Gothic"/>
              </a:rPr>
              <a:t>j</a:t>
            </a:r>
            <a:r>
              <a:rPr sz="980" b="0" i="0">
                <a:solidFill>
                  <a:srgbClr val="555555"/>
                </a:solidFill>
                <a:latin typeface="Malgun Gothic"/>
              </a:rPr>
              <a:t>. val-loss를 내리면 φ</a:t>
            </a:r>
            <a:r>
              <a:rPr sz="980" b="0" i="0" baseline="-25000">
                <a:solidFill>
                  <a:srgbClr val="555555"/>
                </a:solidFill>
                <a:latin typeface="Malgun Gothic"/>
              </a:rPr>
              <a:t>k</a:t>
            </a:r>
            <a:r>
              <a:rPr sz="980" b="0" i="0">
                <a:solidFill>
                  <a:srgbClr val="555555"/>
                </a:solidFill>
                <a:latin typeface="Malgun Gothic"/>
              </a:rPr>
              <a:t> &lt; 0 (더 가치 있음).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518410"/>
            <a:ext cx="539115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round당 HVP 정확히 1회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— 2차항이 u</a:t>
            </a:r>
            <a:r>
              <a:rPr sz="1090" b="0" i="0" baseline="30000">
                <a:solidFill>
                  <a:srgbClr val="1A1A1A"/>
                </a:solidFill>
                <a:latin typeface="Malgun Gothic"/>
              </a:rPr>
              <a:t>r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하나와 |P</a:t>
            </a:r>
            <a:r>
              <a:rPr sz="1090" b="0" i="0" baseline="-25000">
                <a:solidFill>
                  <a:srgbClr val="1A1A1A"/>
                </a:solidFill>
                <a:latin typeface="Malgun Gothic"/>
              </a:rPr>
              <a:t>r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|개 내적으로 붕괴. forward H·v(jvp∘grad)만 사용, H</a:t>
            </a:r>
            <a:r>
              <a:rPr sz="1090" b="0" i="0" baseline="30000">
                <a:solidFill>
                  <a:srgbClr val="1A1A1A"/>
                </a:solidFill>
                <a:latin typeface="Malgun Gothic"/>
              </a:rPr>
              <a:t>−1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불사용. true Hessian(GGN/Fisher는 CNN 시험 후 기각).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비용: estimator = R회 HVP + N·R 내적(N-독립) ↔ in-run oracle = 2</a:t>
            </a:r>
            <a:r>
              <a:rPr sz="1090" b="0" i="0" baseline="30000">
                <a:solidFill>
                  <a:srgbClr val="1A1A1A"/>
                </a:solidFill>
                <a:latin typeface="Malgun Gothic"/>
              </a:rPr>
              <a:t>N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·R·val forward.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Flirds-1st(2차 off): ~35s — coalition 계열(~530s) 대비 ≈15×, Flirds(107s) 대비 ~3× 저렴.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7450" y="1241584"/>
            <a:ext cx="5391150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1" i="0">
                <a:solidFill>
                  <a:srgbClr val="17508C"/>
                </a:solidFill>
                <a:latin typeface="Malgun Gothic"/>
              </a:rPr>
              <a:t>구조적 성질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7450" y="1505903"/>
            <a:ext cx="539115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free-rider φ = 정확히 0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— Δw=0이면 모든 내적이 0(구조적). 실측 매 seed exact 0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ⓑ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(1B N=5 3-seed).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7450" y="2096929"/>
            <a:ext cx="5391150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1" i="0">
                <a:solidFill>
                  <a:srgbClr val="17508C"/>
                </a:solidFill>
                <a:latin typeface="Malgun Gothic"/>
              </a:rPr>
              <a:t>2차항이 FL에서 의미를 갖는 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7450" y="2361248"/>
            <a:ext cx="539115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IRDS는 centralized per-step(작은 η)에서 2차가 거의 무의미하다고 보고. FL의 per-round Δw는 multi-step 누적이라 크다.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CNN 실측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ⓑ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: plain SGD에서 1+2차 Spearman 0.962 &gt; 1차 0.924; momentum=0.9에서는 역전(0.73 &lt; 0.81) → 전 실험 plain SGD mom=0 고정.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7450" y="3390900"/>
            <a:ext cx="5391150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1" i="0">
                <a:solidFill>
                  <a:srgbClr val="17508C"/>
                </a:solidFill>
                <a:latin typeface="Malgun Gothic"/>
              </a:rPr>
              <a:t>운영 제약 (그대로 보고)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7450" y="3655219"/>
            <a:ext cx="539115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fp32 필수 — utility(=loss 차) ~1e-3 &lt; bf16 정밀도 ~8e-3.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eager attention 필수(forward-mode AD) · LoRA-subspace 한정 valuation.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5722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 i="0">
                <a:solidFill>
                  <a:srgbClr val="888888"/>
                </a:solidFill>
                <a:latin typeface="Malgun Gothic"/>
              </a:rPr>
              <a:t>Flirds 진행 보고 · 2026-06-12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72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60" b="0" i="0">
                <a:solidFill>
                  <a:srgbClr val="888888"/>
                </a:solidFill>
                <a:latin typeface="Malgun Gothic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419100"/>
            <a:ext cx="11125200" cy="1866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17508C"/>
                </a:solidFill>
                <a:latin typeface="Malgun Gothic"/>
              </a:rPr>
              <a:t>§2 실험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37222"/>
            <a:ext cx="11125200" cy="3600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20" b="1" i="0">
                <a:solidFill>
                  <a:srgbClr val="1A1A1A"/>
                </a:solidFill>
                <a:latin typeface="Malgun Gothic"/>
              </a:rPr>
              <a:t>실험 프레임 — 질문 → 실험 → 상태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079659"/>
            <a:ext cx="11125200" cy="1143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" y="1241584"/>
            <a:ext cx="111252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40" b="0" i="0">
                <a:solidFill>
                  <a:srgbClr val="555555"/>
                </a:solidFill>
                <a:latin typeface="Malgun Gothic"/>
              </a:rPr>
              <a:t>7개 질문에 실험을 대응시켰다. 상세 결과는 다음 3장.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613821"/>
          <a:ext cx="11125200" cy="26546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37560"/>
                <a:gridCol w="4227576"/>
                <a:gridCol w="3560064"/>
              </a:tblGrid>
              <a:tr h="307658"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A1A1A"/>
                          </a:solidFill>
                          <a:latin typeface="Malgun Gothic"/>
                        </a:rPr>
                        <a:t>질문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A1A1A"/>
                          </a:solidFill>
                          <a:latin typeface="Malgun Gothic"/>
                        </a:rPr>
                        <a:t>실험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A1A1A"/>
                          </a:solidFill>
                          <a:latin typeface="Malgun Gothic"/>
                        </a:rPr>
                        <a:t>현재 상태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</a:tr>
              <a:tr h="307658"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Shapley 계산이 옳은가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dual-oracle 삼중 비교 (retrain = in-run = estimator)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A1A1A"/>
                          </a:solidFill>
                          <a:latin typeface="Malgun Gothic"/>
                        </a:rPr>
                        <a:t>ⓑ</a:t>
                      </a:r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 +1.000 (1B N=5 fp32 3-seed)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7658"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기존 방법 대비 무엇이 나은가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같은 frozen 궤적 위 9-method 비교 (+FedIF)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A1A1A"/>
                          </a:solidFill>
                          <a:latin typeface="Malgun Gothic"/>
                        </a:rPr>
                        <a:t>ⓑ</a:t>
                      </a:r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 phase1 + silo5 재실행 3-seed (FedIF 포함)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15"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위협을 식별하는가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2 regime × 4 threat + matched detector 4종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A1A1A"/>
                          </a:solidFill>
                          <a:latin typeface="Malgun Gothic"/>
                        </a:rPr>
                        <a:t>ⓑ</a:t>
                      </a:r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 silo5·3B·device100 sweep · </a:t>
                      </a:r>
                      <a:r>
                        <a:rPr sz="1090" b="0" i="1">
                          <a:solidFill>
                            <a:srgbClr val="999999"/>
                          </a:solidFill>
                          <a:latin typeface="Malgun Gothic"/>
                        </a:rPr>
                        <a:t>poison 2셀 잔여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7658"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N=100에서 성립하는가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per-round exact 분해 + α-sweep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sweep 12셀 </a:t>
                      </a:r>
                      <a:r>
                        <a:rPr sz="1090" b="1" i="0">
                          <a:solidFill>
                            <a:srgbClr val="1A1A1A"/>
                          </a:solidFill>
                          <a:latin typeface="Malgun Gothic"/>
                        </a:rPr>
                        <a:t>ⓑ</a:t>
                      </a:r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 3-seed · </a:t>
                      </a:r>
                      <a:r>
                        <a:rPr sz="1090" b="0" i="1">
                          <a:solidFill>
                            <a:srgbClr val="999999"/>
                          </a:solidFill>
                          <a:latin typeface="Malgun Gothic"/>
                        </a:rPr>
                        <a:t>α=0.5 anchor 3셀 잔여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7658"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실용 가치가 있는가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selection run (top-k 재학습)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A1A1A"/>
                          </a:solidFill>
                          <a:latin typeface="Malgun Gothic"/>
                        </a:rPr>
                        <a:t>ⓑ</a:t>
                      </a:r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 3-seed, 양 lr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7658"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scale에서 유지되는가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1B → 3B → 7B ladder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1B </a:t>
                      </a:r>
                      <a:r>
                        <a:rPr sz="1090" b="1" i="0">
                          <a:solidFill>
                            <a:srgbClr val="1A1A1A"/>
                          </a:solidFill>
                          <a:latin typeface="Malgun Gothic"/>
                        </a:rPr>
                        <a:t>ⓑ</a:t>
                      </a:r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 · 3B 4-threat </a:t>
                      </a:r>
                      <a:r>
                        <a:rPr sz="1090" b="1" i="0">
                          <a:solidFill>
                            <a:srgbClr val="1A1A1A"/>
                          </a:solidFill>
                          <a:latin typeface="Malgun Gothic"/>
                        </a:rPr>
                        <a:t>ⓑ</a:t>
                      </a:r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(1-seed) · 7B </a:t>
                      </a:r>
                      <a:r>
                        <a:rPr sz="1090" b="1" i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7658"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N=5 near-additive 무변별 해소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N=10 retrain oracle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 연기(비용) — 논의 항목 ②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3400" y="65722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 i="0">
                <a:solidFill>
                  <a:srgbClr val="888888"/>
                </a:solidFill>
                <a:latin typeface="Malgun Gothic"/>
              </a:rPr>
              <a:t>Flirds 진행 보고 · 2026-06-12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72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60" b="0" i="0">
                <a:solidFill>
                  <a:srgbClr val="888888"/>
                </a:solidFill>
                <a:latin typeface="Malgun Gothic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419100"/>
            <a:ext cx="11125200" cy="1866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17508C"/>
                </a:solidFill>
                <a:latin typeface="Malgun Gothic"/>
              </a:rPr>
              <a:t>§2 실험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37222"/>
            <a:ext cx="11125200" cy="3600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20" b="1" i="0">
                <a:solidFill>
                  <a:srgbClr val="1A1A1A"/>
                </a:solidFill>
                <a:latin typeface="Malgun Gothic"/>
              </a:rPr>
              <a:t>방법 검증 — dual-oracle · baseline 비교 ·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079659"/>
            <a:ext cx="11125200" cy="1143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" y="1241584"/>
            <a:ext cx="11125200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1" i="0">
                <a:solidFill>
                  <a:srgbClr val="17508C"/>
                </a:solidFill>
                <a:latin typeface="Malgun Gothic"/>
              </a:rPr>
              <a:t>dual-oracle 검증 — 왜 val-loss인가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505903"/>
            <a:ext cx="111252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검증은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같은 게임(val-loss)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이어야 한다: estimator는 val-loss의 Taylor. ROUGE는 미분 불가(estimator-ROUGE 자체가 불가) + answer_swap의 도메인 포맷에 속는다 — retrain-ROUGE는 실제로 발산(+0.4 @1B / −0.9 @3B). retrain coalition val-loss 차(~0.005–0.02)는 bf16 정밀도(~0.009)에 묻혀 fp32 필수.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결과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ⓑ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: retrain(val-loss) = in-run oracle = estimator,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Spearman +1.000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(1B N=5 fp32 3-seed, lr 2종). 3B(1-seed): estimator +1.000 유지, retrain vs in-run +0.900(clean-client 1-swap ≈ 재학습 noise).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535555"/>
            <a:ext cx="11125200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1" i="0">
                <a:solidFill>
                  <a:srgbClr val="17508C"/>
                </a:solidFill>
                <a:latin typeface="Malgun Gothic"/>
              </a:rPr>
              <a:t>같은 궤적 위 baseline 비교 (9-method + FedIF)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799874"/>
            <a:ext cx="111252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ⓑ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phase1(1B N=5 silo5 3-seed, lr 1e-3·3e-3): noisy/free-rider에서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전 방법 Spearman +1.000 동률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(N=5 near-additive) → 주장은 "더 정확"이 아니라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"같은 랭킹을 더 싸게"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. silo5 재실행본(3-seed, 8d364cc)도 동률 재확인.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런타임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ⓑ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: Flirds-1st 35s · FedIF 35s · Flirds 107s · loss-heur 164s · GTG/FedSV/Banzhaf/ShapleyFL/(b) oracle ~530s · Ripple ~4515s(별도 세션; eigsh flaky로 자동 비교에서 분리).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free-rider φ exact-0: Flirds·oracle·Banzhaf·loss-heur. GTG·FedSV는 within-subset renorm으로 ≠0. FedIF(정규화 1차)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ⓑ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: noisy/FR AUROC 1.0, Spearman 0.90–0.93(silo5 재실행 3-seed).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4268152"/>
            <a:ext cx="11125200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1" i="0">
                <a:solidFill>
                  <a:srgbClr val="17508C"/>
                </a:solidFill>
                <a:latin typeface="Malgun Gothic"/>
              </a:rPr>
              <a:t>selection run — 검출을 성능으로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4532471"/>
            <a:ext cx="111252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ⓑ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(1B N=5 3-seed, 양 lr): noisy+free-rider를 정확히 드롭(keep {2,3,4} 전 seed·양 lr 일관). vs full 항상 우세; vs random은 cross-seed 우세(seed0은 random도 clean set 선택 → tie).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nuance: noisy AUROC는 lr에 따라 반전(1e-3: 0.75/1.0 ↔ 3e-3: 1.0/0.75) — selection 결론은 양 lr 동일.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5722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 i="0">
                <a:solidFill>
                  <a:srgbClr val="888888"/>
                </a:solidFill>
                <a:latin typeface="Malgun Gothic"/>
              </a:rPr>
              <a:t>Flirds 진행 보고 · 2026-06-12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72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60" b="0" i="0">
                <a:solidFill>
                  <a:srgbClr val="888888"/>
                </a:solidFill>
                <a:latin typeface="Malgun Gothic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419100"/>
            <a:ext cx="11125200" cy="1866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17508C"/>
                </a:solidFill>
                <a:latin typeface="Malgun Gothic"/>
              </a:rPr>
              <a:t>§2 실험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37222"/>
            <a:ext cx="11125200" cy="3600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20" b="1" i="0">
                <a:solidFill>
                  <a:srgbClr val="1A1A1A"/>
                </a:solidFill>
                <a:latin typeface="Malgun Gothic"/>
              </a:rPr>
              <a:t>위협 매트릭스 — 2 regime × 4 threat + matched detector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079659"/>
            <a:ext cx="11125200" cy="1143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" y="1241584"/>
            <a:ext cx="111252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oracle 일치는 "Shapley 계산이 맞다"까지만 증명 — corrupt→low value(semantics)는 별도 검증 + 전용 detector 대비 경쟁 bar.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라벨은 AUROC 채점 key일 뿐 method 입력이 아니다(순환 아님)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737360"/>
          <a:ext cx="11125200" cy="1177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7528"/>
                <a:gridCol w="6897624"/>
                <a:gridCol w="2670048"/>
              </a:tblGrid>
              <a:tr h="294322">
                <a:tc>
                  <a:txBody>
                    <a:bodyPr wrap="square"/>
                    <a:lstStyle/>
                    <a:p>
                      <a:r>
                        <a:rPr sz="1010" b="1" i="0">
                          <a:solidFill>
                            <a:srgbClr val="1A1A1A"/>
                          </a:solidFill>
                          <a:latin typeface="Malgun Gothic"/>
                        </a:rPr>
                        <a:t>위협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0" b="1" i="0">
                          <a:solidFill>
                            <a:srgbClr val="1A1A1A"/>
                          </a:solidFill>
                          <a:latin typeface="Malgun Gothic"/>
                        </a:rPr>
                        <a:t>정의 (출처)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0" b="1" i="0">
                          <a:solidFill>
                            <a:srgbClr val="1A1A1A"/>
                          </a:solidFill>
                          <a:latin typeface="Malgun Gothic"/>
                        </a:rPr>
                        <a:t>matched detector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</a:tr>
              <a:tr h="294322"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noisy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answer_swap — 정직하지만 나쁜 데이터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FedDQC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4322"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free-rider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Δw=0 또는 benign-std random (Lin 2019)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STD-DAGMM · FLTrust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4322"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poison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backdoor — Xu 2023 trigger + Bagdasaryan 2020 γ-scaled replacement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0" b="0" i="0">
                          <a:solidFill>
                            <a:srgbClr val="1A1A1A"/>
                          </a:solidFill>
                          <a:latin typeface="Malgun Gothic"/>
                        </a:rPr>
                        <a:t>FLDetector · FLTrust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3400" y="3009900"/>
            <a:ext cx="11125200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1" i="0">
                <a:solidFill>
                  <a:srgbClr val="17508C"/>
                </a:solidFill>
                <a:latin typeface="Malgun Gothic"/>
              </a:rPr>
              <a:t>결과 — silo5 4-threat 3-seed 재실행본 </a:t>
            </a:r>
            <a:r>
              <a:rPr sz="1120" b="1" i="0">
                <a:solidFill>
                  <a:srgbClr val="17508C"/>
                </a:solidFill>
                <a:latin typeface="Malgun Gothic"/>
              </a:rPr>
              <a:t>ⓑ</a:t>
            </a:r>
            <a:r>
              <a:rPr sz="1120" b="1" i="0">
                <a:solidFill>
                  <a:srgbClr val="17508C"/>
                </a:solidFill>
                <a:latin typeface="Malgun Gothic"/>
              </a:rPr>
              <a:t> </a:t>
            </a:r>
            <a:r>
              <a:rPr sz="1120" b="1" i="0">
                <a:solidFill>
                  <a:srgbClr val="555555"/>
                </a:solidFill>
                <a:latin typeface="Malgun Gothic"/>
              </a:rPr>
              <a:t>(FedIF 포함 · run-dir 영속화, 8d364cc)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274219"/>
            <a:ext cx="111252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noisy / free-rider: valuation 전 방법 AUROC 1.0; Spearman 동률(예외: FedIF 0.90–0.93 · FedSV FR-random 0.933±0.047).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poison(ASR=1.00 전 seed, working-backdoor config) = 동률의 첫 붕괴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—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raw 1차(Flirds-1st)만 AUROC 0.000 완전 회피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. Flirds-2차 0.917±0.118(seed별 0.75/1.0/1.0; 단 이전 동일 config run은 0.417±0.425 — run간 비결정성, 원인 규명 중). 정규화 1차(FedIF·FLTrust)와 exact 계열(oracle·loss-heur·Banzhaf·ShapleyFL)은 AUROC 1.0; Spearman은 GTG +0.867 · FedSV +0.367로 열화.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detector: poison — FLDetector·FLTrust·FedDQC 1.0, STD-DAGMM 0.75±0.204 · noisy — FedDQC 0.917±0.118, FLDetector 0.75(off-threat), STD-DAGMM 0.417±0.312 · FR-zero — STD-DAGMM 0.250±0.204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실패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(matched threat 실패, 진단 필요), FedDQC 0.75 · FR-random — STD-DAGMM·FLDetector 1.0.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4723448"/>
            <a:ext cx="11125200" cy="638175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750" y="4818698"/>
            <a:ext cx="10858500" cy="4476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0" i="0">
                <a:solidFill>
                  <a:srgbClr val="1A1A1A"/>
                </a:solidFill>
                <a:latin typeface="Malgun Gothic"/>
              </a:rPr>
              <a:t>현재 데이터 기준 정리: Flirds는 noisy + free-rider를 잡는다. clean-preserving backdoor는 raw 1차가 일관 회피하고, 2차는 1B서 0.917±0.118(run 분산)·3B(1-seed)서는 0.000 — 정규화 1차(FedIF·FLTrust)·loss-heur·FLDetector·FedDQC가 보완(전부 1.0). </a:t>
            </a:r>
            <a:r>
              <a:rPr sz="1120" b="0" i="0">
                <a:solidFill>
                  <a:srgbClr val="555555"/>
                </a:solidFill>
                <a:latin typeface="Malgun Gothic"/>
              </a:rPr>
              <a:t>(headline 채택은 논의 항목 ①)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5722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 i="0">
                <a:solidFill>
                  <a:srgbClr val="888888"/>
                </a:solidFill>
                <a:latin typeface="Malgun Gothic"/>
              </a:rPr>
              <a:t>Flirds 진행 보고 · 2026-06-12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72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60" b="0" i="0">
                <a:solidFill>
                  <a:srgbClr val="888888"/>
                </a:solidFill>
                <a:latin typeface="Malgun Gothic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419100"/>
            <a:ext cx="11125200" cy="1866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17508C"/>
                </a:solidFill>
                <a:latin typeface="Malgun Gothic"/>
              </a:rPr>
              <a:t>§2 실험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37222"/>
            <a:ext cx="11125200" cy="3600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20" b="1" i="0">
                <a:solidFill>
                  <a:srgbClr val="1A1A1A"/>
                </a:solidFill>
                <a:latin typeface="Malgun Gothic"/>
              </a:rPr>
              <a:t>scale-up — cross-device N=100 · 1B→7B · N=10 연기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079659"/>
            <a:ext cx="11125200" cy="1143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" y="1241584"/>
            <a:ext cx="11125200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1" i="0">
                <a:solidFill>
                  <a:srgbClr val="17508C"/>
                </a:solidFill>
                <a:latin typeface="Malgun Gothic"/>
              </a:rPr>
              <a:t>cross-device N=100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505903"/>
            <a:ext cx="111252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설계: per-client Dirichlet(α) 도메인 혼합(Option B), K=10/round, α ∈ {0, 0.01, 0.1, 0.5, 5.0}, per_client=300.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oracle: per-round exact 분해 Σ</a:t>
            </a:r>
            <a:r>
              <a:rPr sz="1090" b="0" i="0" baseline="-25000">
                <a:solidFill>
                  <a:srgbClr val="1A1A1A"/>
                </a:solidFill>
                <a:latin typeface="Malgun Gothic"/>
              </a:rPr>
              <a:t>r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2</a:t>
            </a:r>
            <a:r>
              <a:rPr sz="1090" b="0" i="0" baseline="30000">
                <a:solidFill>
                  <a:srgbClr val="1A1A1A"/>
                </a:solidFill>
                <a:latin typeface="Malgun Gothic"/>
              </a:rPr>
              <a:t>|P</a:t>
            </a:r>
            <a:r>
              <a:rPr sz="1090" b="0" i="0" baseline="-25000">
                <a:solidFill>
                  <a:srgbClr val="1A1A1A"/>
                </a:solidFill>
                <a:latin typeface="Malgun Gothic"/>
              </a:rPr>
              <a:t>r</a:t>
            </a:r>
            <a:r>
              <a:rPr sz="1090" b="0" i="0" baseline="30000">
                <a:solidFill>
                  <a:srgbClr val="1A1A1A"/>
                </a:solidFill>
                <a:latin typeface="Malgun Gothic"/>
              </a:rPr>
              <a:t>|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≡ 2</a:t>
            </a:r>
            <a:r>
              <a:rPr sz="1090" b="0" i="0" baseline="30000">
                <a:solidFill>
                  <a:srgbClr val="1A1A1A"/>
                </a:solidFill>
                <a:latin typeface="Malgun Gothic"/>
              </a:rPr>
              <a:t>N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(Δφ≈3e-16 검증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ⓑ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). 그래도 771ms/forward(fp32, B200) → ~11h/4-GPU: in-run oracle은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α=0.5 anchor 1점만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, off-anchor는 Flirds proxy-truth(자기 오류는 검출 불가 — 한계로 명시).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α-sweep 12셀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ⓑ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(α∈{0, 0.01, 0.1, 5.0} × noisy/FR-zero/FR-random, 3-seed): free-rider — Flirds·Flirds-1st·loss-heur·FLTrust 전 α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AUROC 1.000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(FedIF 0.98–0.99) · noisy — cheap valuation 0.57–0.77로 약함, matched FedDQC 0.96–1.0이 보완 · 1차=2차=loss-heur 랭킹 동일(proxy-truth Sp 1.000) · ComFedSV 0.39–0.45 실패, STD-DAGMM 0.51–0.96 불안정.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anchor: Flirds vs per-round oracle Spearman +1.000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ⓑ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(1B, 1-seed smoke) · free-rider φ=0 exact 유지 · </a:t>
            </a:r>
            <a:r>
              <a:rPr sz="1090" b="0" i="1">
                <a:solidFill>
                  <a:srgbClr val="999999"/>
                </a:solidFill>
                <a:latin typeface="Malgun Gothic"/>
              </a:rPr>
              <a:t>α=0.5 anchor 3셀(oracle 동반) + device100 poison 2셀 잔여.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3412808"/>
            <a:ext cx="11125200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1" i="0">
                <a:solidFill>
                  <a:srgbClr val="17508C"/>
                </a:solidFill>
                <a:latin typeface="Malgun Gothic"/>
              </a:rPr>
              <a:t>scale ladder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677126"/>
            <a:ext cx="111252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1B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ⓑ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완료 · 3B 4-threat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ⓑ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(1-seed, (b)oracle 동반): noisy/FR valuation 전 방법 AUROC 1.0(detector 예외: STD-DAGMM noisy 0.25·FR-zero 0.00·FR-random 1.0, FedDQC FR 0.75), Flirds vs (b) Sp +1.000(FedIF 0.600) —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poison(ASR=1.0)은 Flirds 1차·2차 모두 AUROC 0.000 회피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(loss-heur·FedIF·FLTrust·FLDetector·FedDQC는 1.0) · 7B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ⓒ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(경로 구현됨, 미실행). 전부 fp32.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4468416"/>
            <a:ext cx="11125200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1" i="0">
                <a:solidFill>
                  <a:srgbClr val="17508C"/>
                </a:solidFill>
                <a:latin typeface="Malgun Gothic"/>
              </a:rPr>
              <a:t>N=10 retrain oracle — 연기 사유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4732734"/>
            <a:ext cx="111252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ⓒ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재학습 코얼리션-스텝 5120 vs N=5의 80(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64×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) + eval 32× ≈ 2–5일/1-GPU 추정 → multi-GPU coalition 샤딩 필요. N=5 near-additive 무변별을 직접 해소하는 유일한 증거라 투자 판단 필요(논의 항목 ②).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5722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 i="0">
                <a:solidFill>
                  <a:srgbClr val="888888"/>
                </a:solidFill>
                <a:latin typeface="Malgun Gothic"/>
              </a:rPr>
              <a:t>Flirds 진행 보고 · 2026-06-12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72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60" b="0" i="0">
                <a:solidFill>
                  <a:srgbClr val="888888"/>
                </a:solidFill>
                <a:latin typeface="Malgun Gothic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419100"/>
            <a:ext cx="11125200" cy="1866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17508C"/>
                </a:solidFill>
                <a:latin typeface="Malgun Gothic"/>
              </a:rPr>
              <a:t>§3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37222"/>
            <a:ext cx="11125200" cy="3600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20" b="1" i="0">
                <a:solidFill>
                  <a:srgbClr val="1A1A1A"/>
                </a:solidFill>
                <a:latin typeface="Malgun Gothic"/>
              </a:rPr>
              <a:t>남은 문제 — 방법 내재 / 증거력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079659"/>
            <a:ext cx="11125200" cy="1143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" y="1241584"/>
            <a:ext cx="5391150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1" i="0">
                <a:solidFill>
                  <a:srgbClr val="17508C"/>
                </a:solidFill>
                <a:latin typeface="Malgun Gothic"/>
              </a:rPr>
              <a:t>방법 내재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505903"/>
            <a:ext cx="539115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Taylor 절단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— clean-preserving backdoor의 γ-update가 clean val-loss를 내림 → tangent는 most-helpful로 오판, exact secant는 잡음. 2차 회복은 1B서 부분적(run 분산)·3B(1-seed)서는 부재. 전개반경 진단 코드 부재.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plain SGD mom=0 강제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— AdamW 실무와 비호환. momentum에서 2차 역효과 기관측. 가장 큰 일반성 제약.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fp32 강제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— 신호(~1e-3) &lt; bf16 정밀도(~8e-3) 자체가 본질 제약. bf16 배포 궤적 valuation 불가.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적용 범위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— eager attention 필수 · LoRA-subspace 한정 · vanilla FedAvg 한정(robust/secure aggregation 비호환) · 개별 Δw 노출 전제.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단일 server val-loss 게임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— val 오염·편향 미고려(민감도 실험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ⓒ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7450" y="1241584"/>
            <a:ext cx="5391150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1" i="0">
                <a:solidFill>
                  <a:srgbClr val="17508C"/>
                </a:solidFill>
                <a:latin typeface="Malgun Gothic"/>
              </a:rPr>
              <a:t>증거력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7450" y="1505903"/>
            <a:ext cx="539115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N=5 near-additive 무변별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— noisy/FR은 전 방법 동률. 유일한 분리는 poison인데 Flirds에 불리한 방향.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noisy AUROC lr 반전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— real grid lr 선택이 noisy 결론을 결정(미확정, 논의 ③).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N=100 noisy 약함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— cheap valuation 0.57–0.77(전 α, 3-seed); matched FedDQC 0.96–1.0이 보완.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1-seed 항목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— 3B(dual-oracle +0.900 · 4-threat tier); α=0.5 anchor 미실행; FedDQC per-domain IRA 분석.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proxy-truth 순환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— α-sweep off-anchor의 truth가 Flirds 자신.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poison 인위성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— working-backdoor config(lr 2e-3 · batch 8 · epochs 5 · frac 0.8) 별도 invocation에서만 ASR&gt;0; per_client 40→300은 공격 성립 위한 조정.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최약 공격자만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— stealthy 불가(‖Δ‖=40× benign), DBA 제외, free-rider easy 모드만.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detector 개조 confound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— FLTrust signed-cosine(강화) · STD-DAGMM hash+pooling(약화 가능) — 원형 ablation 부재.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문서 드리프트 전력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— 독립 검증 세션이 4건 교정. 본 자료는 교정값 채택.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5722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 i="0">
                <a:solidFill>
                  <a:srgbClr val="888888"/>
                </a:solidFill>
                <a:latin typeface="Malgun Gothic"/>
              </a:rPr>
              <a:t>Flirds 진행 보고 · 2026-06-12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72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60" b="0" i="0">
                <a:solidFill>
                  <a:srgbClr val="888888"/>
                </a:solidFill>
                <a:latin typeface="Malgun Gothic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419100"/>
            <a:ext cx="11125200" cy="1866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17508C"/>
                </a:solidFill>
                <a:latin typeface="Malgun Gothic"/>
              </a:rPr>
              <a:t>§4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37222"/>
            <a:ext cx="11125200" cy="3600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20" b="1" i="0">
                <a:solidFill>
                  <a:srgbClr val="1A1A1A"/>
                </a:solidFill>
                <a:latin typeface="Malgun Gothic"/>
              </a:rPr>
              <a:t>① 진행 중 + main 트랙 보강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079659"/>
            <a:ext cx="11125200" cy="1143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" y="1241584"/>
            <a:ext cx="11125200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1" i="0">
                <a:solidFill>
                  <a:srgbClr val="17508C"/>
                </a:solidFill>
                <a:latin typeface="Malgun Gothic"/>
              </a:rPr>
              <a:t>진행 중 — real grid (cost-tiered stage-gate)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505903"/>
            <a:ext cx="111252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완료: silo5 재실행 · device100 sweep 12셀 · 3B 4-threat (20/25셀, 8d364cc). 잔여: device100 poison 2셀 + α=0.5 anchor 3셀 + 7B. poison은 working-backdoor config 별도 invocation.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096929"/>
            <a:ext cx="11125200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1" i="0">
                <a:solidFill>
                  <a:srgbClr val="17508C"/>
                </a:solidFill>
                <a:latin typeface="Malgun Gothic"/>
              </a:rPr>
              <a:t>무비용 분석 (기실행 데이터 재분석)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361248"/>
            <a:ext cx="111252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poison Flirds-2차 거동 규명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— 1B run간 분산(0.417↔0.917) + 3B(1-seed) 완전 회피. per-round φ 분해 재분석(비용 ~0). 2차항 novelty의 사활처 —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최우선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two-sided |φ| 점수 표준 산출물화("φ-extreme, not φ-high") + orientation 사전고정 · lr 양쪽 보고 규약 명문화.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3190637"/>
            <a:ext cx="11125200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1" i="0">
                <a:solidFill>
                  <a:srgbClr val="17508C"/>
                </a:solidFill>
                <a:latin typeface="Malgun Gothic"/>
              </a:rPr>
              <a:t>논문 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3454956"/>
            <a:ext cx="111252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2차항 결정 실험 — PGD/direction-aligned poison(FedIF가 논문에서 인정한 blind spot)에서 1차 vs 2차 분리; Ripple "2차 종류" 차별화와 결합.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advanced free-rider(Lin Attack II/III) — val-loss를 내리는 적대 update의 free-rider 축 확인.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원형 ablation 3건(ReLU-FLTrust · per-round STD-DAGMM · Ripple 저자코드) + STD-DAGMM FR-zero 진단 + bootstrap CI.</a:t>
            </a:r>
          </a:p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N=10 retrain oracle — 투자 판단(논의 항목 ②).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5722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 i="0">
                <a:solidFill>
                  <a:srgbClr val="888888"/>
                </a:solidFill>
                <a:latin typeface="Malgun Gothic"/>
              </a:rPr>
              <a:t>Flirds 진행 보고 · 2026-06-12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72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60" b="0" i="0">
                <a:solidFill>
                  <a:srgbClr val="888888"/>
                </a:solidFill>
                <a:latin typeface="Malgun Gothic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419100"/>
            <a:ext cx="11125200" cy="1866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17508C"/>
                </a:solidFill>
                <a:latin typeface="Malgun Gothic"/>
              </a:rPr>
              <a:t>§4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37222"/>
            <a:ext cx="11125200" cy="3600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20" b="1" i="0">
                <a:solidFill>
                  <a:srgbClr val="1A1A1A"/>
                </a:solidFill>
                <a:latin typeface="Malgun Gothic"/>
              </a:rPr>
              <a:t>② 추가 실험 Track C/D — 표준 세팅 비교 (06-12 설계 확정 ⓒ, 구현 착수)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079659"/>
            <a:ext cx="11125200" cy="1143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" y="1241584"/>
            <a:ext cx="111252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동기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: main 실험(LLM + 도메인 silo + detection)은 선행과 직접 비교가 어렵다 → 선행 다수가 쓰는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일반 학습 세팅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(CNN · IID/label-skew · fidelity/수렴/정확도)의 비교 트랙 추가. 선행 13편의 실험 프로토콜 조사 기반 설계.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699260"/>
            <a:ext cx="11125200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1" i="0">
                <a:solidFill>
                  <a:srgbClr val="17508C"/>
                </a:solidFill>
                <a:latin typeface="Malgun Gothic"/>
              </a:rPr>
              <a:t>C1 — fidelity &amp; cost (cross-silo CNN)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963579"/>
            <a:ext cx="111252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MNIST+LeNet5 / CIFAR-10+FedSVCNN, N=10 full participation, GTG 5-시나리오(graded label-flip ladder 포함), GT =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(a) 2</a:t>
            </a:r>
            <a:r>
              <a:rPr sz="1090" b="1" i="0" baseline="30000">
                <a:solidFill>
                  <a:srgbClr val="1A1A1A"/>
                </a:solidFill>
                <a:latin typeface="Malgun Gothic"/>
              </a:rPr>
              <a:t>10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 retrain + (b) exact in-run 듀얼 oracle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, Spearman/Kendall + GTG 거리 metric + wall-clock, 3–5 seed, 9-method + Ripple(eigsh guard).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554605"/>
            <a:ext cx="11125200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1" i="0">
                <a:solidFill>
                  <a:srgbClr val="17508C"/>
                </a:solidFill>
                <a:latin typeface="Malgun Gothic"/>
              </a:rPr>
              <a:t>C2 — 일반 성능 (cross-device CNN; 추가분의 메인)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818924"/>
            <a:ext cx="111252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N=100, C=0.1, T=100–150 · 파티션 {IID, Dir(1), 2-shard} × 위협 {clean, label-flip(ρ,τ), free-rider, grad-noise} ·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개입 3종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: 가중집계(곱셈형 w∝n·s 메인[고유 규칙] + 대체형[FedIF/ShapleyFL 관례] + additive λ=0.5[Ripple 관례]) · selection(S-FedAvg식) · bottom-q% 제외(FedSV식) · 평가: AUROC + 최종 acc±seed + acc-vs-round + rounds-to-target. C1→C2 stage-gate.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3610213"/>
            <a:ext cx="11125200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1" i="0">
                <a:solidFill>
                  <a:srgbClr val="17508C"/>
                </a:solidFill>
                <a:latin typeface="Malgun Gothic"/>
              </a:rPr>
              <a:t>C3 — stability (보고 축, 비용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3874532"/>
            <a:ext cx="111252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C1/C2 다시드에서 cross-seed Spearman + top/bottom-k% 일관성(Banzhaf 프로토콜 · Volatility 처방 응답).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4265295"/>
            <a:ext cx="11125200" cy="21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1" i="0">
                <a:solidFill>
                  <a:srgbClr val="17508C"/>
                </a:solidFill>
                <a:latin typeface="Malgun Gothic"/>
              </a:rPr>
              <a:t>D — LLM 표준 세팅 (전부 API-free)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4529614"/>
            <a:ext cx="111252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300"/>
              </a:spcAft>
            </a:pPr>
            <a:r>
              <a:rPr sz="109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D-메인: Alpaca-GPT4 20k IID, N=5, answer_swap 50%(FedDQC convention) → AUROC/Spearman vs (b) +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φ-bottom 필터링 재학습 → MMLU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(random-q% 대조). 옵션: FedDQC Table-1 미러(FiQA·AQUA) · FedHDS Dolly 미러(200 클라). 모델 1B/3B = Llama-3.2, 7B = Llama-2-7b(FL-LLM 문헌 표준).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4987290"/>
            <a:ext cx="111252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90" b="0" i="0">
                <a:solidFill>
                  <a:srgbClr val="555555"/>
                </a:solidFill>
                <a:latin typeface="Malgun Gothic"/>
              </a:rPr>
              <a:t>조사에서 본 공백: fidelity+학습개선 동시 커버 논문 없음 · (a)+(b) 듀얼 oracle 없음 · LLM-scale FL valuation 직접 경쟁자 없음.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5722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 i="0">
                <a:solidFill>
                  <a:srgbClr val="888888"/>
                </a:solidFill>
                <a:latin typeface="Malgun Gothic"/>
              </a:rPr>
              <a:t>Flirds 진행 보고 · 2026-06-12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72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60" b="0" i="0">
                <a:solidFill>
                  <a:srgbClr val="888888"/>
                </a:solidFill>
                <a:latin typeface="Malgun Gothic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419100"/>
            <a:ext cx="11125200" cy="1866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17508C"/>
                </a:solidFill>
                <a:latin typeface="Malgun Gothic"/>
              </a:rPr>
              <a:t>§5 논의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637222"/>
            <a:ext cx="11125200" cy="3600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20" b="1" i="0">
                <a:solidFill>
                  <a:srgbClr val="1A1A1A"/>
                </a:solidFill>
                <a:latin typeface="Malgun Gothic"/>
              </a:rPr>
              <a:t>결정이 필요한 항목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079659"/>
            <a:ext cx="11125200" cy="1143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400" y="1279684"/>
          <a:ext cx="11125200" cy="21183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92552"/>
                <a:gridCol w="8232648"/>
              </a:tblGrid>
              <a:tr h="307658"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A1A1A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A1A1A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</a:tr>
              <a:tr h="501015"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① threat-matrix headline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"noisy+free-rider는 잡고, clean-preserving backdoor에는 회피됨(matched detector 보완)" — real config 재확인 후 채택 여부.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15"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② N=10 retrain oracle 투자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2–5일/1-GPU vs multi-GPU 샤딩 구축(11–22h) vs 차선: cross-silo N=10 detection-only(retrain 불요 — 단 near-additive 직접 해소는 아님).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7658"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③ real grid lr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2e-5(plan, fine-tune scale) vs 1e-3/3e-3(비교 실험용). noisy AUROC 방향이 lr에 따라 갈림.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15"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④ Ripple 차별화 문구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A1A1A"/>
                          </a:solidFill>
                          <a:latin typeface="Malgun Gothic"/>
                        </a:rPr>
                        <a:t>"2차 없음"(반박 위험) → "다른 종류의 2차: local-data Hessian의 cross-round 전파, within-round client-interaction 항 부재"로 교체 승인.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3400" y="65722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 i="0">
                <a:solidFill>
                  <a:srgbClr val="888888"/>
                </a:solidFill>
                <a:latin typeface="Malgun Gothic"/>
              </a:rPr>
              <a:t>Flirds 진행 보고 · 2026-06-12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72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60" b="0" i="0">
                <a:solidFill>
                  <a:srgbClr val="888888"/>
                </a:solidFill>
                <a:latin typeface="Malgun Gothic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