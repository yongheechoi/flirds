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7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126" y="10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104131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 dirty="0" err="1">
                <a:solidFill>
                  <a:srgbClr val="FFFFFF"/>
                </a:solidFill>
                <a:latin typeface="+mj-lt"/>
                <a:ea typeface="NanumGothic"/>
              </a:rPr>
              <a:t>Flirds</a:t>
            </a:r>
            <a:endParaRPr sz="6600" b="1" i="0" dirty="0">
              <a:solidFill>
                <a:srgbClr val="FFFFFF"/>
              </a:solidFill>
              <a:latin typeface="+mj-lt"/>
              <a:ea typeface="Nanum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" y="2971800"/>
            <a:ext cx="10515600" cy="5180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 dirty="0">
                <a:solidFill>
                  <a:srgbClr val="CADCFC"/>
                </a:solidFill>
                <a:ea typeface="NanumGothic"/>
              </a:rPr>
              <a:t>Federated</a:t>
            </a:r>
            <a:r>
              <a:rPr sz="3200" b="1" i="0" dirty="0">
                <a:solidFill>
                  <a:srgbClr val="CADCFC"/>
                </a:solidFill>
                <a:latin typeface="NanumGothic"/>
                <a:ea typeface="NanumGothic"/>
              </a:rPr>
              <a:t> Learning + In-Run Data Shapley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852160"/>
            <a:ext cx="10515600" cy="57964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 dirty="0">
                <a:solidFill>
                  <a:srgbClr val="CADCFC"/>
                </a:solidFill>
                <a:ea typeface="NanumGothic"/>
              </a:rPr>
              <a:t>2026-06-30</a:t>
            </a:r>
            <a:endParaRPr lang="en-US" b="1" i="0" dirty="0">
              <a:solidFill>
                <a:srgbClr val="CADCFC"/>
              </a:solidFill>
              <a:ea typeface="NanumGothic"/>
            </a:endParaRPr>
          </a:p>
          <a:p>
            <a:pPr algn="l">
              <a:lnSpc>
                <a:spcPct val="100000"/>
              </a:lnSpc>
            </a:pPr>
            <a:r>
              <a:rPr lang="en-US" b="1" i="0" dirty="0">
                <a:solidFill>
                  <a:srgbClr val="CADCFC"/>
                </a:solidFill>
                <a:ea typeface="NanumGothic"/>
              </a:rPr>
              <a:t>Edge AI Lab </a:t>
            </a:r>
            <a:r>
              <a:rPr lang="ko-KR" altLang="en-US" b="1" i="0" dirty="0">
                <a:solidFill>
                  <a:srgbClr val="CADCFC"/>
                </a:solidFill>
                <a:ea typeface="NanumGothic"/>
              </a:rPr>
              <a:t>최용희</a:t>
            </a:r>
            <a:endParaRPr b="1" i="0" dirty="0">
              <a:solidFill>
                <a:srgbClr val="CADCFC"/>
              </a:solidFill>
              <a:ea typeface="Nanum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Motivation &amp;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484632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 dirty="0" err="1">
                <a:solidFill>
                  <a:srgbClr val="33475B"/>
                </a:solidFill>
                <a:ea typeface="NanumGothic"/>
              </a:rPr>
              <a:t>필요성</a:t>
            </a:r>
            <a:endParaRPr sz="2800" b="1" i="0" dirty="0">
              <a:solidFill>
                <a:srgbClr val="33475B"/>
              </a:solidFill>
              <a:ea typeface="Nanum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4846320" cy="18024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dirty="0">
                <a:solidFill>
                  <a:srgbClr val="1F2A37"/>
                </a:solidFill>
                <a:ea typeface="NanumGothic"/>
              </a:rPr>
              <a:t>•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기여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비례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보상·인센티브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분배</a:t>
            </a:r>
            <a:endParaRPr sz="2000" b="1" i="0" dirty="0">
              <a:solidFill>
                <a:srgbClr val="1F2A37"/>
              </a:solidFill>
              <a:ea typeface="NanumGothic"/>
            </a:endParaRPr>
          </a:p>
          <a:p>
            <a:pPr algn="l">
              <a:lnSpc>
                <a:spcPct val="125000"/>
              </a:lnSpc>
            </a:pPr>
            <a:r>
              <a:rPr b="0" i="0" dirty="0">
                <a:solidFill>
                  <a:srgbClr val="222222"/>
                </a:solidFill>
                <a:ea typeface="NanumGothic"/>
              </a:rPr>
              <a:t>  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데이터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시장·연합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컨소시엄의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핵심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동기</a:t>
            </a:r>
            <a:endParaRPr lang="en-US" b="0" i="0" dirty="0">
              <a:solidFill>
                <a:srgbClr val="222222"/>
              </a:solidFill>
              <a:ea typeface="NanumGothic"/>
            </a:endParaRPr>
          </a:p>
          <a:p>
            <a:pPr algn="l">
              <a:lnSpc>
                <a:spcPct val="125000"/>
              </a:lnSpc>
            </a:pPr>
            <a:endParaRPr lang="en-US" dirty="0">
              <a:solidFill>
                <a:srgbClr val="222222"/>
              </a:solidFill>
              <a:ea typeface="NanumGothic"/>
            </a:endParaRPr>
          </a:p>
          <a:p>
            <a:pPr>
              <a:lnSpc>
                <a:spcPct val="125000"/>
              </a:lnSpc>
            </a:pPr>
            <a:r>
              <a:rPr lang="en-US" altLang="ko-KR" sz="2000" b="1" dirty="0">
                <a:solidFill>
                  <a:srgbClr val="1F2A37"/>
                </a:solidFill>
                <a:ea typeface="NanumGothic"/>
              </a:rPr>
              <a:t>• </a:t>
            </a:r>
            <a:r>
              <a:rPr lang="ko-KR" altLang="en-US" sz="2000" b="1" dirty="0">
                <a:solidFill>
                  <a:srgbClr val="1F2A37"/>
                </a:solidFill>
                <a:ea typeface="NanumGothic"/>
              </a:rPr>
              <a:t>불량 클라이언트 식별</a:t>
            </a:r>
            <a:r>
              <a:rPr lang="en-US" altLang="ko-KR" sz="2000" b="1" dirty="0">
                <a:solidFill>
                  <a:srgbClr val="1F2A37"/>
                </a:solidFill>
                <a:ea typeface="NanumGothic"/>
              </a:rPr>
              <a:t>·</a:t>
            </a:r>
            <a:r>
              <a:rPr lang="ko-KR" altLang="en-US" sz="2000" b="1" dirty="0">
                <a:solidFill>
                  <a:srgbClr val="1F2A37"/>
                </a:solidFill>
                <a:ea typeface="NanumGothic"/>
              </a:rPr>
              <a:t>가중</a:t>
            </a:r>
            <a:r>
              <a:rPr lang="en-US" altLang="ko-KR" sz="2000" b="1" dirty="0">
                <a:solidFill>
                  <a:srgbClr val="1F2A37"/>
                </a:solidFill>
                <a:ea typeface="NanumGothic"/>
              </a:rPr>
              <a:t>·</a:t>
            </a:r>
            <a:r>
              <a:rPr lang="ko-KR" altLang="en-US" sz="2000" b="1" dirty="0">
                <a:solidFill>
                  <a:srgbClr val="1F2A37"/>
                </a:solidFill>
                <a:ea typeface="NanumGothic"/>
              </a:rPr>
              <a:t>배제</a:t>
            </a:r>
          </a:p>
          <a:p>
            <a:pPr>
              <a:lnSpc>
                <a:spcPct val="125000"/>
              </a:lnSpc>
            </a:pPr>
            <a:r>
              <a:rPr lang="ko-KR" altLang="en-US" dirty="0">
                <a:solidFill>
                  <a:srgbClr val="222222"/>
                </a:solidFill>
                <a:ea typeface="NanumGothic"/>
              </a:rPr>
              <a:t>   라벨 오류</a:t>
            </a:r>
            <a:r>
              <a:rPr lang="en-US" altLang="ko-KR" dirty="0">
                <a:solidFill>
                  <a:srgbClr val="222222"/>
                </a:solidFill>
                <a:ea typeface="NanumGothic"/>
              </a:rPr>
              <a:t>·</a:t>
            </a:r>
            <a:r>
              <a:rPr lang="ko-KR" altLang="en-US" dirty="0">
                <a:solidFill>
                  <a:srgbClr val="222222"/>
                </a:solidFill>
                <a:ea typeface="NanumGothic"/>
              </a:rPr>
              <a:t>노이즈</a:t>
            </a:r>
            <a:r>
              <a:rPr lang="en-US" altLang="ko-KR" dirty="0">
                <a:solidFill>
                  <a:srgbClr val="222222"/>
                </a:solidFill>
                <a:ea typeface="NanumGothic"/>
              </a:rPr>
              <a:t>·</a:t>
            </a:r>
            <a:r>
              <a:rPr lang="en-US" altLang="ko-KR" dirty="0" err="1">
                <a:solidFill>
                  <a:srgbClr val="222222"/>
                </a:solidFill>
                <a:ea typeface="NanumGothic"/>
              </a:rPr>
              <a:t>free-rider·backdoor</a:t>
            </a:r>
            <a:r>
              <a:rPr lang="ko-KR" altLang="en-US" dirty="0">
                <a:solidFill>
                  <a:srgbClr val="222222"/>
                </a:solidFill>
                <a:ea typeface="NanumGothic"/>
              </a:rPr>
              <a:t> 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78308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2057400"/>
            <a:ext cx="4754880" cy="45653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 dirty="0" err="1">
                <a:solidFill>
                  <a:srgbClr val="2C5F2D"/>
                </a:solidFill>
                <a:ea typeface="NanumGothic"/>
              </a:rPr>
              <a:t>문제</a:t>
            </a:r>
            <a:r>
              <a:rPr sz="2800" b="1" i="0" dirty="0">
                <a:solidFill>
                  <a:srgbClr val="2C5F2D"/>
                </a:solidFill>
                <a:ea typeface="NanumGothic"/>
              </a:rPr>
              <a:t> </a:t>
            </a:r>
            <a:r>
              <a:rPr sz="2800" b="1" i="0" dirty="0" err="1">
                <a:solidFill>
                  <a:srgbClr val="2C5F2D"/>
                </a:solidFill>
                <a:ea typeface="NanumGothic"/>
              </a:rPr>
              <a:t>정의</a:t>
            </a:r>
            <a:endParaRPr sz="2800" b="1" i="0" dirty="0">
              <a:solidFill>
                <a:srgbClr val="2C5F2D"/>
              </a:solidFill>
              <a:ea typeface="Nanum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83680" y="2788920"/>
            <a:ext cx="4754880" cy="13605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1" i="0" dirty="0">
                <a:solidFill>
                  <a:srgbClr val="1F2A37"/>
                </a:solidFill>
                <a:ea typeface="NanumGothic"/>
              </a:rPr>
              <a:t>•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FL에서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데이터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기여도를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평가</a:t>
            </a:r>
            <a:endParaRPr sz="2000" b="1" i="0" dirty="0">
              <a:solidFill>
                <a:srgbClr val="1F2A37"/>
              </a:solidFill>
              <a:ea typeface="NanumGothic"/>
            </a:endParaRPr>
          </a:p>
          <a:p>
            <a:pPr algn="l">
              <a:lnSpc>
                <a:spcPct val="150000"/>
              </a:lnSpc>
            </a:pPr>
            <a:r>
              <a:rPr sz="2000" b="1" i="0" dirty="0">
                <a:solidFill>
                  <a:srgbClr val="1F2A37"/>
                </a:solidFill>
                <a:ea typeface="NanumGothic"/>
              </a:rPr>
              <a:t>•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클라이언트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단위로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평가</a:t>
            </a:r>
            <a:endParaRPr sz="2000" b="1" i="0" dirty="0">
              <a:solidFill>
                <a:srgbClr val="1F2A37"/>
              </a:solidFill>
              <a:ea typeface="NanumGothic"/>
            </a:endParaRPr>
          </a:p>
          <a:p>
            <a:pPr algn="l">
              <a:lnSpc>
                <a:spcPct val="150000"/>
              </a:lnSpc>
            </a:pPr>
            <a:r>
              <a:rPr sz="2000" b="1" i="0" dirty="0">
                <a:solidFill>
                  <a:srgbClr val="1F2A37"/>
                </a:solidFill>
                <a:ea typeface="NanumGothic"/>
              </a:rPr>
              <a:t>• Shapley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value를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정확하고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효율적으로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추정</a:t>
            </a:r>
            <a:endParaRPr sz="2000" b="1" i="0" dirty="0">
              <a:solidFill>
                <a:srgbClr val="1F2A37"/>
              </a:solidFill>
              <a:ea typeface="NanumGoth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Data Shapley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/>
              <p:cNvSpPr txBox="1"/>
              <p:nvPr/>
            </p:nvSpPr>
            <p:spPr>
              <a:xfrm>
                <a:off x="914400" y="3383280"/>
                <a:ext cx="10332720" cy="641201"/>
              </a:xfrm>
              <a:prstGeom prst="rect">
                <a:avLst/>
              </a:prstGeom>
              <a:noFill/>
            </p:spPr>
            <p:txBody>
              <a:bodyPr wrap="square" lIns="25400" tIns="12700" rIns="25400" bIns="12700" anchor="t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lang="en-US" sz="2000" dirty="0">
                    <a:solidFill>
                      <a:srgbClr val="222222"/>
                    </a:solidFill>
                    <a:ea typeface="NanumGothic"/>
                  </a:rPr>
                  <a:t>Shapley value(</a:t>
                </a:r>
                <a:r>
                  <a:rPr lang="el-GR" sz="2000" dirty="0">
                    <a:solidFill>
                      <a:srgbClr val="222222"/>
                    </a:solidFill>
                    <a:ea typeface="NanumGothic"/>
                  </a:rPr>
                  <a:t>Φ</a:t>
                </a:r>
                <a:r>
                  <a:rPr lang="en-US" sz="2000" dirty="0">
                    <a:solidFill>
                      <a:srgbClr val="222222"/>
                    </a:solidFill>
                    <a:ea typeface="NanumGothic"/>
                  </a:rPr>
                  <a:t>) 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=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모든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조합에서의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한계기여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∪{</m:t>
                    </m:r>
                    <m:r>
                      <a:rPr lang="ko-KR" altLang="en-US" i="1" dirty="0" err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})−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의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평균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.</a:t>
                </a:r>
                <a:endParaRPr lang="en-US" sz="2000" b="0" i="0" dirty="0">
                  <a:solidFill>
                    <a:srgbClr val="222222"/>
                  </a:solidFill>
                  <a:ea typeface="NanumGothic"/>
                </a:endParaRPr>
              </a:p>
              <a:p>
                <a:pPr algn="ctr">
                  <a:lnSpc>
                    <a:spcPct val="100000"/>
                  </a:lnSpc>
                </a:pP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U</a:t>
                </a:r>
                <a:r>
                  <a:rPr lang="en-US" sz="2000" b="0" i="0" dirty="0">
                    <a:solidFill>
                      <a:srgbClr val="222222"/>
                    </a:solidFill>
                    <a:ea typeface="NanumGothic"/>
                  </a:rPr>
                  <a:t>tility(U)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=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S로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학습한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모델의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검증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 </a:t>
                </a:r>
                <a:r>
                  <a:rPr sz="2000" b="0" i="0" dirty="0" err="1">
                    <a:solidFill>
                      <a:srgbClr val="222222"/>
                    </a:solidFill>
                    <a:ea typeface="NanumGothic"/>
                  </a:rPr>
                  <a:t>성능</a:t>
                </a:r>
                <a:r>
                  <a:rPr sz="2000" b="0" i="0" dirty="0">
                    <a:solidFill>
                      <a:srgbClr val="222222"/>
                    </a:solidFill>
                    <a:ea typeface="NanumGothic"/>
                  </a:rPr>
                  <a:t>.</a:t>
                </a:r>
              </a:p>
            </p:txBody>
          </p:sp>
        </mc:Choice>
        <mc:Fallback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3383280"/>
                <a:ext cx="10332720" cy="641201"/>
              </a:xfrm>
              <a:prstGeom prst="rect">
                <a:avLst/>
              </a:prstGeom>
              <a:blipFill>
                <a:blip r:embed="rId2"/>
                <a:stretch>
                  <a:fillRect t="-14286" b="-228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/>
          <p:cNvSpPr/>
          <p:nvPr/>
        </p:nvSpPr>
        <p:spPr>
          <a:xfrm>
            <a:off x="2194560" y="4297680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TextBox 5"/>
          <p:cNvSpPr txBox="1"/>
          <p:nvPr/>
        </p:nvSpPr>
        <p:spPr>
          <a:xfrm>
            <a:off x="2468880" y="4526280"/>
            <a:ext cx="7223760" cy="83099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1" i="0" dirty="0" err="1">
                <a:solidFill>
                  <a:srgbClr val="B85042"/>
                </a:solidFill>
                <a:ea typeface="NanumGothic"/>
              </a:rPr>
              <a:t>한계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: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부분집합마다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모델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재학습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필요</a:t>
            </a:r>
            <a:r>
              <a:rPr sz="2400" b="1" i="0" dirty="0">
                <a:solidFill>
                  <a:srgbClr val="B85042"/>
                </a:solidFill>
                <a:ea typeface="NanumGothic"/>
              </a:rPr>
              <a:t> → 2ⁿ </a:t>
            </a:r>
            <a:r>
              <a:rPr sz="2400" b="1" i="0" dirty="0" err="1">
                <a:solidFill>
                  <a:srgbClr val="B85042"/>
                </a:solidFill>
                <a:ea typeface="NanumGothic"/>
              </a:rPr>
              <a:t>비용</a:t>
            </a:r>
            <a:endParaRPr sz="2400" b="1" i="0" dirty="0">
              <a:solidFill>
                <a:srgbClr val="B85042"/>
              </a:solidFill>
              <a:ea typeface="NanumGothic"/>
            </a:endParaRPr>
          </a:p>
          <a:p>
            <a:pPr algn="ctr">
              <a:lnSpc>
                <a:spcPct val="13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대형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모델에선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비현실적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→ In-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Run으로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해결</a:t>
            </a:r>
            <a:endParaRPr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4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36EDC02-26FC-843A-81F9-80F94E032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126" y="1868353"/>
            <a:ext cx="10850489" cy="7430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F24B4A5-AB78-ABE9-E350-B0A5C50AAD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620" y="2644610"/>
            <a:ext cx="1669163" cy="376320"/>
          </a:xfrm>
          <a:prstGeom prst="rect">
            <a:avLst/>
          </a:prstGeom>
        </p:spPr>
      </p:pic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0252E635-1949-32CA-6FBE-D49337C0590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51793" y="2632743"/>
            <a:ext cx="188160" cy="1610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In-Run Data Shapley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3949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 dirty="0" err="1">
                <a:solidFill>
                  <a:srgbClr val="1F2A37"/>
                </a:solidFill>
                <a:ea typeface="NanumGothic"/>
              </a:rPr>
              <a:t>재학습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없이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,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실제로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진행된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한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학습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과정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안에서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스텝별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기여를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400" b="1" i="0" dirty="0" err="1">
                <a:solidFill>
                  <a:srgbClr val="1F2A37"/>
                </a:solidFill>
                <a:ea typeface="NanumGothic"/>
              </a:rPr>
              <a:t>누적한다</a:t>
            </a:r>
            <a:r>
              <a:rPr sz="2400" b="1" i="0" dirty="0">
                <a:solidFill>
                  <a:srgbClr val="1F2A37"/>
                </a:solidFill>
                <a:ea typeface="NanumGothic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640" y="4172416"/>
            <a:ext cx="10332720" cy="33342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 dirty="0" err="1">
                <a:solidFill>
                  <a:srgbClr val="222222"/>
                </a:solidFill>
                <a:ea typeface="NanumGothic"/>
              </a:rPr>
              <a:t>스텝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t의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lang="ko-KR" altLang="en-US" sz="2000" dirty="0">
                <a:solidFill>
                  <a:srgbClr val="222222"/>
                </a:solidFill>
                <a:ea typeface="NanumGothic"/>
              </a:rPr>
              <a:t>기여도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를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학습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전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구간에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걸쳐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합산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. 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비용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≈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학습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1회.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5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A27B7AD-BC6B-0C2B-F9D0-E629BAF15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678" y="2960158"/>
            <a:ext cx="4914644" cy="6425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Taylor Expansion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193481"/>
            <a:ext cx="11338560" cy="32932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 dirty="0" err="1">
                <a:solidFill>
                  <a:srgbClr val="3C4654"/>
                </a:solidFill>
                <a:ea typeface="NanumGothic"/>
              </a:rPr>
              <a:t>스텝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효용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변화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U(θₜ₊₁)−U(θₜ) 를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데이터에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대해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Taylor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전개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→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스텝별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3C4654"/>
                </a:solidFill>
                <a:ea typeface="NanumGothic"/>
              </a:rPr>
              <a:t>닫힌형</a:t>
            </a:r>
            <a:r>
              <a:rPr sz="2000" b="0" i="0" dirty="0">
                <a:solidFill>
                  <a:srgbClr val="3C4654"/>
                </a:solidFill>
                <a:ea typeface="NanumGothic"/>
              </a:rPr>
              <a:t> Shapley.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6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499CA5D-C53B-789A-CBF1-F8672BA94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" y="2332650"/>
            <a:ext cx="11029950" cy="169641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0AAA4AD-5D8A-C9B0-558B-C007FBAB6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0122" y="2377793"/>
            <a:ext cx="2697569" cy="410596"/>
          </a:xfrm>
          <a:prstGeom prst="rect">
            <a:avLst/>
          </a:prstGeom>
        </p:spPr>
      </p:pic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37B7FB4E-10A6-3DDF-665D-09C4B223CC22}"/>
              </a:ext>
            </a:extLst>
          </p:cNvPr>
          <p:cNvCxnSpPr>
            <a:cxnSpLocks/>
          </p:cNvCxnSpPr>
          <p:nvPr/>
        </p:nvCxnSpPr>
        <p:spPr>
          <a:xfrm flipV="1">
            <a:off x="8414832" y="2609992"/>
            <a:ext cx="226159" cy="178397"/>
          </a:xfrm>
          <a:prstGeom prst="bentConnector3">
            <a:avLst>
              <a:gd name="adj1" fmla="val 3349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412044" y="4931971"/>
            <a:ext cx="4846320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검증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gradient와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데이터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gradient의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내적</a:t>
            </a:r>
            <a:endParaRPr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89547" y="4931971"/>
            <a:ext cx="4904349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곡률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(Hessian)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반영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→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데이터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상호작용·중복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포착</a:t>
            </a:r>
            <a:endParaRPr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74752" y="4294983"/>
            <a:ext cx="920481" cy="3949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 dirty="0">
                <a:solidFill>
                  <a:srgbClr val="33475B"/>
                </a:solidFill>
                <a:ea typeface="NanumGothic"/>
              </a:rPr>
              <a:t>1차항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8364" y="4283152"/>
            <a:ext cx="1012874" cy="3949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 dirty="0">
                <a:solidFill>
                  <a:srgbClr val="33475B"/>
                </a:solidFill>
                <a:ea typeface="NanumGothic"/>
              </a:rPr>
              <a:t>2차항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 err="1">
                <a:solidFill>
                  <a:srgbClr val="1F2A37"/>
                </a:solidFill>
                <a:latin typeface="+mj-lt"/>
                <a:ea typeface="NanumGothic"/>
              </a:rPr>
              <a:t>Flirds</a:t>
            </a: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: FL Adaptation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18160" y="1697299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792480" y="1902591"/>
            <a:ext cx="1828800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33475B"/>
                </a:solidFill>
                <a:ea typeface="NanumGothic"/>
              </a:rPr>
              <a:t>(a) 단위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0" y="1902591"/>
            <a:ext cx="8778240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데이터포인트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→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클라이언트</a:t>
            </a:r>
            <a:endParaRPr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8160" y="2618379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792480" y="2823671"/>
            <a:ext cx="1828800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33475B"/>
                </a:solidFill>
                <a:ea typeface="NanumGothic"/>
              </a:rPr>
              <a:t>(b) 분해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2823671"/>
            <a:ext cx="8778240" cy="30264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 dirty="0" err="1">
                <a:solidFill>
                  <a:srgbClr val="222222"/>
                </a:solidFill>
                <a:ea typeface="NanumGothic"/>
              </a:rPr>
              <a:t>스텝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→ 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라운드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 (</a:t>
            </a:r>
            <a:r>
              <a:rPr b="0" i="0" dirty="0" err="1">
                <a:solidFill>
                  <a:srgbClr val="222222"/>
                </a:solidFill>
                <a:ea typeface="NanumGothic"/>
              </a:rPr>
              <a:t>라운드당</a:t>
            </a:r>
            <a:r>
              <a:rPr b="0" i="0" dirty="0">
                <a:solidFill>
                  <a:srgbClr val="222222"/>
                </a:solidFill>
                <a:ea typeface="NanumGothic"/>
              </a:rPr>
              <a:t> HVP 1회)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160" y="3575719"/>
            <a:ext cx="11155680" cy="2083074"/>
          </a:xfrm>
          <a:prstGeom prst="roundRect">
            <a:avLst>
              <a:gd name="adj" fmla="val 6000"/>
            </a:avLst>
          </a:prstGeom>
          <a:solidFill>
            <a:srgbClr val="1F2A37"/>
          </a:solidFill>
          <a:ln w="9525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pic>
        <p:nvPicPr>
          <p:cNvPr id="13" name="Picture 12" descr="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160" y="3821025"/>
            <a:ext cx="10097679" cy="713232"/>
          </a:xfrm>
          <a:prstGeom prst="rect">
            <a:avLst/>
          </a:prstGeom>
        </p:spPr>
      </p:pic>
      <p:pic>
        <p:nvPicPr>
          <p:cNvPr id="14" name="Picture 13" descr="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902" y="4858692"/>
            <a:ext cx="1336676" cy="5669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70275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F2A37"/>
                </a:solidFill>
                <a:latin typeface="+mj-lt"/>
                <a:ea typeface="NanumGothic"/>
              </a:rPr>
              <a:t>Approximation Error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74288"/>
            <a:ext cx="5486400" cy="2468880"/>
          </a:xfrm>
          <a:prstGeom prst="roundRect">
            <a:avLst>
              <a:gd name="adj" fmla="val 6000"/>
            </a:avLst>
          </a:prstGeom>
          <a:solidFill>
            <a:srgbClr val="EDF1F6"/>
          </a:solidFill>
          <a:ln w="9525">
            <a:solidFill>
              <a:srgbClr val="D3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777240" y="2002888"/>
            <a:ext cx="4937760" cy="150137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dirty="0">
                <a:solidFill>
                  <a:srgbClr val="33475B"/>
                </a:solidFill>
                <a:latin typeface="NanumGothic"/>
                <a:ea typeface="NanumGothic"/>
              </a:rPr>
              <a:t>IRDS — </a:t>
            </a:r>
            <a:r>
              <a:rPr sz="2000" b="1" i="0" dirty="0" err="1">
                <a:solidFill>
                  <a:srgbClr val="33475B"/>
                </a:solidFill>
                <a:latin typeface="NanumGothic"/>
                <a:ea typeface="NanumGothic"/>
              </a:rPr>
              <a:t>중앙집중</a:t>
            </a:r>
            <a:r>
              <a:rPr sz="2000" b="1" i="0" dirty="0">
                <a:solidFill>
                  <a:srgbClr val="33475B"/>
                </a:solidFill>
                <a:latin typeface="NanumGothic"/>
                <a:ea typeface="NanumGothic"/>
              </a:rPr>
              <a:t> per-step</a:t>
            </a:r>
          </a:p>
          <a:p>
            <a:pPr algn="l">
              <a:lnSpc>
                <a:spcPct val="135000"/>
              </a:lnSpc>
            </a:pP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• ‖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Δθ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‖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작음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 (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작은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 한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스텝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)</a:t>
            </a:r>
          </a:p>
          <a:p>
            <a:pPr algn="l">
              <a:lnSpc>
                <a:spcPct val="135000"/>
              </a:lnSpc>
            </a:pP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• 1차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잔차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 O(‖Δθ‖²) →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이미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작음</a:t>
            </a:r>
            <a:endParaRPr b="0" i="0" dirty="0">
              <a:solidFill>
                <a:srgbClr val="222222"/>
              </a:solidFill>
              <a:latin typeface="NanumGothic"/>
              <a:ea typeface="NanumGothic"/>
            </a:endParaRPr>
          </a:p>
          <a:p>
            <a:pPr algn="l">
              <a:lnSpc>
                <a:spcPct val="135000"/>
              </a:lnSpc>
            </a:pP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• 2차 항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역할</a:t>
            </a:r>
            <a:r>
              <a:rPr b="0" i="0" dirty="0">
                <a:solidFill>
                  <a:srgbClr val="222222"/>
                </a:solidFill>
                <a:latin typeface="NanumGothic"/>
                <a:ea typeface="NanumGothic"/>
              </a:rPr>
              <a:t> </a:t>
            </a:r>
            <a:r>
              <a:rPr b="0" i="0" dirty="0" err="1">
                <a:solidFill>
                  <a:srgbClr val="222222"/>
                </a:solidFill>
                <a:latin typeface="NanumGothic"/>
                <a:ea typeface="NanumGothic"/>
              </a:rPr>
              <a:t>미미</a:t>
            </a:r>
            <a:endParaRPr b="0" i="0" dirty="0">
              <a:solidFill>
                <a:srgbClr val="222222"/>
              </a:solidFill>
              <a:latin typeface="NanumGothic"/>
              <a:ea typeface="NanumGothic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63640" y="1774288"/>
            <a:ext cx="5394960" cy="2468880"/>
          </a:xfrm>
          <a:prstGeom prst="roundRect">
            <a:avLst>
              <a:gd name="adj" fmla="val 6000"/>
            </a:avLst>
          </a:prstGeom>
          <a:solidFill>
            <a:srgbClr val="F7ECE8"/>
          </a:solidFill>
          <a:ln w="9525">
            <a:solidFill>
              <a:srgbClr val="E3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6537960" y="2002888"/>
                <a:ext cx="4846320" cy="1520160"/>
              </a:xfrm>
              <a:prstGeom prst="rect">
                <a:avLst/>
              </a:prstGeom>
              <a:noFill/>
            </p:spPr>
            <p:txBody>
              <a:bodyPr wrap="square" lIns="25400" tIns="12700" rIns="25400" bIns="12700" anchor="t">
                <a:spAutoFit/>
              </a:bodyPr>
              <a:lstStyle/>
              <a:p>
                <a:pPr algn="l">
                  <a:lnSpc>
                    <a:spcPct val="135000"/>
                  </a:lnSpc>
                </a:pPr>
                <a:r>
                  <a:rPr sz="2000" b="1" i="0" dirty="0">
                    <a:solidFill>
                      <a:srgbClr val="B85042"/>
                    </a:solidFill>
                    <a:latin typeface="NanumGothic"/>
                    <a:ea typeface="NanumGothic"/>
                  </a:rPr>
                  <a:t>FL — </a:t>
                </a:r>
                <a:r>
                  <a:rPr sz="2000" b="1" i="0" dirty="0" err="1">
                    <a:solidFill>
                      <a:srgbClr val="B85042"/>
                    </a:solidFill>
                    <a:latin typeface="NanumGothic"/>
                    <a:ea typeface="NanumGothic"/>
                  </a:rPr>
                  <a:t>라운드당</a:t>
                </a:r>
                <a:r>
                  <a:rPr sz="2000" b="1" i="0" dirty="0">
                    <a:solidFill>
                      <a:srgbClr val="B85042"/>
                    </a:solidFill>
                    <a:latin typeface="NanumGothic"/>
                    <a:ea typeface="NanumGothic"/>
                  </a:rPr>
                  <a:t> multi-step</a:t>
                </a:r>
              </a:p>
              <a:p>
                <a:pPr algn="l">
                  <a:lnSpc>
                    <a:spcPct val="135000"/>
                  </a:lnSpc>
                </a:pPr>
                <a:r>
                  <a:rPr b="0" i="0" dirty="0">
                    <a:solidFill>
                      <a:srgbClr val="222222"/>
                    </a:solidFill>
                    <a:latin typeface="NanumGothic"/>
                    <a:ea typeface="NanumGothic"/>
                  </a:rPr>
                  <a:t>• ‖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0" dirty="0" smtClean="0">
                        <a:solidFill>
                          <a:srgbClr val="222222"/>
                        </a:solidFill>
                        <a:latin typeface="Cambria Math" panose="02040503050406030204" pitchFamily="18" charset="0"/>
                        <a:ea typeface="NanumGothic"/>
                      </a:rPr>
                      <m:t>Δ</m:t>
                    </m:r>
                    <m:sSub>
                      <m:sSubPr>
                        <m:ctrlPr>
                          <a:rPr lang="el-GR" b="0" i="1" dirty="0" err="1">
                            <a:solidFill>
                              <a:srgbClr val="222222"/>
                            </a:solidFill>
                            <a:latin typeface="Cambria Math" panose="02040503050406030204" pitchFamily="18" charset="0"/>
                            <a:ea typeface="NanumGothic"/>
                          </a:rPr>
                        </m:ctrlPr>
                      </m:sSubPr>
                      <m:e>
                        <m:r>
                          <a:rPr lang="el-GR" b="0" i="1" dirty="0" err="1">
                            <a:solidFill>
                              <a:srgbClr val="222222"/>
                            </a:solidFill>
                            <a:latin typeface="Cambria Math" panose="02040503050406030204" pitchFamily="18" charset="0"/>
                            <a:ea typeface="NanumGothic"/>
                          </a:rPr>
                          <m:t>𝑤</m:t>
                        </m:r>
                      </m:e>
                      <m:sub>
                        <m:r>
                          <a:rPr lang="el-GR" b="0" i="1" dirty="0" err="1">
                            <a:solidFill>
                              <a:srgbClr val="222222"/>
                            </a:solidFill>
                            <a:latin typeface="Cambria Math" panose="02040503050406030204" pitchFamily="18" charset="0"/>
                            <a:ea typeface="NanumGothic"/>
                          </a:rPr>
                          <m:t>𝑟𝑜𝑢𝑛𝑑</m:t>
                        </m:r>
                      </m:sub>
                    </m:sSub>
                  </m:oMath>
                </a14:m>
                <a:r>
                  <a:rPr b="0" i="0" dirty="0">
                    <a:solidFill>
                      <a:srgbClr val="222222"/>
                    </a:solidFill>
                    <a:latin typeface="NanumGothic"/>
                    <a:ea typeface="NanumGothic"/>
                  </a:rPr>
                  <a:t>‖ ≫ per-step</a:t>
                </a:r>
              </a:p>
              <a:p>
                <a:pPr algn="l">
                  <a:lnSpc>
                    <a:spcPct val="135000"/>
                  </a:lnSpc>
                </a:pPr>
                <a:r>
                  <a:rPr b="0" i="0" dirty="0">
                    <a:solidFill>
                      <a:srgbClr val="222222"/>
                    </a:solidFill>
                    <a:latin typeface="NanumGothic"/>
                    <a:ea typeface="NanumGothic"/>
                  </a:rPr>
                  <a:t>• 1차 </a:t>
                </a:r>
                <a:r>
                  <a:rPr b="0" i="0" dirty="0" err="1">
                    <a:solidFill>
                      <a:srgbClr val="222222"/>
                    </a:solidFill>
                    <a:latin typeface="NanumGothic"/>
                    <a:ea typeface="NanumGothic"/>
                  </a:rPr>
                  <a:t>잔차</a:t>
                </a:r>
                <a:r>
                  <a:rPr b="0" i="0" dirty="0">
                    <a:solidFill>
                      <a:srgbClr val="222222"/>
                    </a:solidFill>
                    <a:latin typeface="NanumGothic"/>
                    <a:ea typeface="NanumGothic"/>
                  </a:rPr>
                  <a:t> </a:t>
                </a:r>
                <a14:m>
                  <m:oMath xmlns:m="http://schemas.openxmlformats.org/officeDocument/2006/math">
                    <m:r>
                      <a:rPr lang="el-GR" b="0" i="1" dirty="0" smtClean="0">
                        <a:solidFill>
                          <a:srgbClr val="222222"/>
                        </a:solidFill>
                        <a:latin typeface="Cambria Math" panose="02040503050406030204" pitchFamily="18" charset="0"/>
                        <a:ea typeface="NanumGothic"/>
                      </a:rPr>
                      <m:t>𝑂</m:t>
                    </m:r>
                    <m:d>
                      <m:dPr>
                        <m:ctrlPr>
                          <a:rPr lang="el-GR" b="0" i="1" dirty="0" smtClean="0">
                            <a:solidFill>
                              <a:srgbClr val="222222"/>
                            </a:solidFill>
                            <a:latin typeface="Cambria Math" panose="02040503050406030204" pitchFamily="18" charset="0"/>
                            <a:ea typeface="NanumGothic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l-GR" b="0" i="1" dirty="0">
                                <a:solidFill>
                                  <a:srgbClr val="222222"/>
                                </a:solidFill>
                                <a:latin typeface="Cambria Math" panose="02040503050406030204" pitchFamily="18" charset="0"/>
                                <a:ea typeface="NanumGothic"/>
                              </a:rPr>
                            </m:ctrlPr>
                          </m:sSupPr>
                          <m:e>
                            <m:d>
                              <m:dPr>
                                <m:begChr m:val="‖"/>
                                <m:endChr m:val="‖"/>
                                <m:ctrlPr>
                                  <a:rPr lang="el-GR" b="0" i="1" dirty="0" smtClean="0">
                                    <a:solidFill>
                                      <a:srgbClr val="222222"/>
                                    </a:solidFill>
                                    <a:latin typeface="Cambria Math" panose="02040503050406030204" pitchFamily="18" charset="0"/>
                                    <a:ea typeface="NanumGothic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l-GR" b="0" i="0" dirty="0" err="1">
                                    <a:solidFill>
                                      <a:srgbClr val="222222"/>
                                    </a:solidFill>
                                    <a:latin typeface="Cambria Math" panose="02040503050406030204" pitchFamily="18" charset="0"/>
                                    <a:ea typeface="NanumGothic"/>
                                  </a:rPr>
                                  <m:t>Δ</m:t>
                                </m:r>
                                <m:sSub>
                                  <m:sSubPr>
                                    <m:ctrlPr>
                                      <a:rPr lang="el-GR" b="0" i="1" dirty="0" smtClean="0">
                                        <a:solidFill>
                                          <a:srgbClr val="222222"/>
                                        </a:solidFill>
                                        <a:latin typeface="Cambria Math" panose="02040503050406030204" pitchFamily="18" charset="0"/>
                                        <a:ea typeface="NanumGothic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b="0" i="1" dirty="0" err="1">
                                        <a:solidFill>
                                          <a:srgbClr val="222222"/>
                                        </a:solidFill>
                                        <a:latin typeface="Cambria Math" panose="02040503050406030204" pitchFamily="18" charset="0"/>
                                        <a:ea typeface="NanumGothic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l-GR" b="0" i="1" dirty="0" smtClean="0">
                                        <a:solidFill>
                                          <a:srgbClr val="222222"/>
                                        </a:solidFill>
                                        <a:latin typeface="Cambria Math" panose="02040503050406030204" pitchFamily="18" charset="0"/>
                                        <a:ea typeface="NanumGothic"/>
                                      </a:rPr>
                                      <m:t>𝑟𝑜𝑢𝑛𝑑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l-GR" b="0" i="1" dirty="0">
                                <a:solidFill>
                                  <a:srgbClr val="222222"/>
                                </a:solidFill>
                                <a:latin typeface="Cambria Math" panose="02040503050406030204" pitchFamily="18" charset="0"/>
                                <a:ea typeface="NanumGothic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b="0" i="0" dirty="0">
                    <a:solidFill>
                      <a:srgbClr val="222222"/>
                    </a:solidFill>
                    <a:latin typeface="NanumGothic"/>
                    <a:ea typeface="NanumGothic"/>
                  </a:rPr>
                  <a:t> </a:t>
                </a:r>
                <a:r>
                  <a:rPr b="0" i="0" dirty="0" err="1">
                    <a:solidFill>
                      <a:srgbClr val="222222"/>
                    </a:solidFill>
                    <a:latin typeface="NanumGothic"/>
                    <a:ea typeface="NanumGothic"/>
                  </a:rPr>
                  <a:t>커짐</a:t>
                </a:r>
                <a:endParaRPr b="0" i="0" dirty="0">
                  <a:solidFill>
                    <a:srgbClr val="222222"/>
                  </a:solidFill>
                  <a:latin typeface="NanumGothic"/>
                  <a:ea typeface="NanumGothic"/>
                </a:endParaRPr>
              </a:p>
              <a:p>
                <a:pPr algn="l">
                  <a:lnSpc>
                    <a:spcPct val="135000"/>
                  </a:lnSpc>
                </a:pPr>
                <a:r>
                  <a:rPr b="1" i="0" dirty="0">
                    <a:solidFill>
                      <a:srgbClr val="1F2A37"/>
                    </a:solidFill>
                    <a:latin typeface="NanumGothic"/>
                    <a:ea typeface="NanumGothic"/>
                  </a:rPr>
                  <a:t>• 2차(Hessian) </a:t>
                </a:r>
                <a:r>
                  <a:rPr b="1" i="0" dirty="0" err="1">
                    <a:solidFill>
                      <a:srgbClr val="1F2A37"/>
                    </a:solidFill>
                    <a:latin typeface="NanumGothic"/>
                    <a:ea typeface="NanumGothic"/>
                  </a:rPr>
                  <a:t>항으로</a:t>
                </a:r>
                <a:r>
                  <a:rPr b="1" i="0" dirty="0">
                    <a:solidFill>
                      <a:srgbClr val="1F2A37"/>
                    </a:solidFill>
                    <a:latin typeface="NanumGothic"/>
                    <a:ea typeface="NanumGothic"/>
                  </a:rPr>
                  <a:t> </a:t>
                </a:r>
                <a:r>
                  <a:rPr b="1" i="0" dirty="0" err="1">
                    <a:solidFill>
                      <a:srgbClr val="1F2A37"/>
                    </a:solidFill>
                    <a:latin typeface="NanumGothic"/>
                    <a:ea typeface="NanumGothic"/>
                  </a:rPr>
                  <a:t>잔차</a:t>
                </a:r>
                <a:r>
                  <a:rPr b="1" i="0" dirty="0">
                    <a:solidFill>
                      <a:srgbClr val="1F2A37"/>
                    </a:solidFill>
                    <a:latin typeface="NanumGothic"/>
                    <a:ea typeface="NanumGothic"/>
                  </a:rPr>
                  <a:t> ↓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960" y="2002888"/>
                <a:ext cx="4846320" cy="1520160"/>
              </a:xfrm>
              <a:prstGeom prst="rect">
                <a:avLst/>
              </a:prstGeom>
              <a:blipFill>
                <a:blip r:embed="rId2"/>
                <a:stretch>
                  <a:fillRect l="-2767" t="-402" b="-80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0720" y="4709512"/>
            <a:ext cx="5510254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Fidelity (LLM)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59554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dirty="0">
                <a:solidFill>
                  <a:srgbClr val="3C4654"/>
                </a:solidFill>
                <a:ea typeface="NanumGothic"/>
              </a:rPr>
              <a:t>Exact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in-run </a:t>
            </a:r>
            <a:r>
              <a:rPr lang="en-US" b="0" i="0" dirty="0" err="1">
                <a:solidFill>
                  <a:srgbClr val="3C4654"/>
                </a:solidFill>
                <a:ea typeface="NanumGothic"/>
              </a:rPr>
              <a:t>shapley</a:t>
            </a:r>
            <a:r>
              <a:rPr lang="en-US" b="0" i="0" dirty="0">
                <a:solidFill>
                  <a:srgbClr val="3C4654"/>
                </a:solidFill>
                <a:ea typeface="NanumGothic"/>
              </a:rPr>
              <a:t> value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대비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Spearman (↑).</a:t>
            </a:r>
            <a:endParaRPr lang="en-US" b="0" i="0" dirty="0">
              <a:solidFill>
                <a:srgbClr val="3C4654"/>
              </a:solidFill>
              <a:ea typeface="NanumGothic"/>
            </a:endParaRPr>
          </a:p>
          <a:p>
            <a:pPr algn="l">
              <a:lnSpc>
                <a:spcPct val="105000"/>
              </a:lnSpc>
            </a:pPr>
            <a:r>
              <a:rPr b="0" i="0" dirty="0" err="1">
                <a:solidFill>
                  <a:srgbClr val="3C4654"/>
                </a:solidFill>
                <a:ea typeface="NanumGothic"/>
              </a:rPr>
              <a:t>LoRA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· 3-seed.  std=N20·2/round, anchor=N5·full.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5213719"/>
              </p:ext>
            </p:extLst>
          </p:nvPr>
        </p:nvGraphicFramePr>
        <p:xfrm>
          <a:off x="411480" y="1965960"/>
          <a:ext cx="11384276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57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73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173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 dirty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std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3B std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std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1B anchor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7B anchor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0.999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0.975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0.988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0.977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FedSV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0.952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0.968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0.933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ShapleyFL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0.194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0.227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0.406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0.833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FedIF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0.157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0.211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0.480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0.067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440680"/>
            <a:ext cx="11155680" cy="33342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1F2A37"/>
                </a:solidFill>
                <a:ea typeface="NanumGothic"/>
              </a:rPr>
              <a:t>Flirds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· Flirds-1st · loss-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heur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가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천장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(≈1.000) — </a:t>
            </a:r>
            <a:r>
              <a:rPr lang="en-US" sz="2000" b="1" i="0" dirty="0">
                <a:solidFill>
                  <a:srgbClr val="1F2A37"/>
                </a:solidFill>
                <a:ea typeface="NanumGothic"/>
              </a:rPr>
              <a:t>Exact </a:t>
            </a:r>
            <a:r>
              <a:rPr lang="en-US" sz="2000" b="1" i="0" dirty="0" err="1">
                <a:solidFill>
                  <a:srgbClr val="1F2A37"/>
                </a:solidFill>
                <a:ea typeface="NanumGothic"/>
              </a:rPr>
              <a:t>shapley</a:t>
            </a:r>
            <a:r>
              <a:rPr lang="en-US"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lang="en-US" sz="2000" b="1" i="0" dirty="0" err="1">
                <a:solidFill>
                  <a:srgbClr val="1F2A37"/>
                </a:solidFill>
                <a:ea typeface="NanumGothic"/>
              </a:rPr>
              <a:t>value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의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순위를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그대로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 </a:t>
            </a:r>
            <a:r>
              <a:rPr sz="2000" b="1" i="0" dirty="0" err="1">
                <a:solidFill>
                  <a:srgbClr val="1F2A37"/>
                </a:solidFill>
                <a:ea typeface="NanumGothic"/>
              </a:rPr>
              <a:t>재현</a:t>
            </a:r>
            <a:r>
              <a:rPr sz="2000" b="1" i="0" dirty="0">
                <a:solidFill>
                  <a:srgbClr val="1F2A37"/>
                </a:solidFill>
                <a:ea typeface="NanumGothic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2nd-order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298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>
                <a:solidFill>
                  <a:srgbClr val="3C4654"/>
                </a:solidFill>
                <a:ea typeface="NanumGothic"/>
              </a:rPr>
              <a:t>2차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항의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효과는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변위가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큰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무대에서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드러난다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(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LLM은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near-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additive로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1·2차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포화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11155680" cy="33342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>
                <a:solidFill>
                  <a:srgbClr val="33475B"/>
                </a:solidFill>
                <a:ea typeface="NanumGothic"/>
              </a:rPr>
              <a:t>CNN fidelity — </a:t>
            </a:r>
            <a:r>
              <a:rPr sz="2000" b="1" i="0" dirty="0" err="1">
                <a:solidFill>
                  <a:srgbClr val="33475B"/>
                </a:solidFill>
                <a:ea typeface="NanumGothic"/>
              </a:rPr>
              <a:t>Flirds</a:t>
            </a:r>
            <a:r>
              <a:rPr sz="2000" b="1" i="0" dirty="0">
                <a:solidFill>
                  <a:srgbClr val="33475B"/>
                </a:solidFill>
                <a:ea typeface="NanumGothic"/>
              </a:rPr>
              <a:t>(1차+2차) vs Flirds-1st, vs (b) </a:t>
            </a:r>
            <a:r>
              <a:rPr sz="2000" b="1" i="0" dirty="0" err="1">
                <a:solidFill>
                  <a:srgbClr val="33475B"/>
                </a:solidFill>
                <a:ea typeface="NanumGothic"/>
              </a:rPr>
              <a:t>오라클</a:t>
            </a:r>
            <a:r>
              <a:rPr sz="2000" b="1" i="0" dirty="0">
                <a:solidFill>
                  <a:srgbClr val="33475B"/>
                </a:solidFill>
                <a:ea typeface="NanumGothic"/>
              </a:rPr>
              <a:t> Spearman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40280"/>
          <a:ext cx="11384278" cy="1737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984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73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7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1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CNN 시나리오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차이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iid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0.95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0.54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+0.41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cifar10 / feature_noise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+0.11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mnist / label_skew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0.61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+0.10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pool 평균 (10×3 seed)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0.919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0.832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+0.087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434840"/>
            <a:ext cx="11155680" cy="1280160"/>
          </a:xfrm>
          <a:prstGeom prst="roundRect">
            <a:avLst>
              <a:gd name="adj" fmla="val 6000"/>
            </a:avLst>
          </a:prstGeom>
          <a:solidFill>
            <a:srgbClr val="F7ECE8"/>
          </a:solidFill>
          <a:ln w="9525">
            <a:solidFill>
              <a:srgbClr val="E3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10607040" cy="81406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 dirty="0">
                <a:solidFill>
                  <a:srgbClr val="B85042"/>
                </a:solidFill>
                <a:ea typeface="NanumGothic"/>
              </a:rPr>
              <a:t>poison(clean-</a:t>
            </a:r>
            <a:r>
              <a:rPr sz="2000" b="1" i="0" dirty="0" err="1">
                <a:solidFill>
                  <a:srgbClr val="B85042"/>
                </a:solidFill>
                <a:ea typeface="NanumGothic"/>
              </a:rPr>
              <a:t>보존</a:t>
            </a:r>
            <a:r>
              <a:rPr sz="2000" b="1" i="0" dirty="0">
                <a:solidFill>
                  <a:srgbClr val="B85042"/>
                </a:solidFill>
                <a:ea typeface="NanumGothic"/>
              </a:rPr>
              <a:t> backdoor) </a:t>
            </a:r>
            <a:r>
              <a:rPr sz="2000" b="1" i="0" dirty="0" err="1">
                <a:solidFill>
                  <a:srgbClr val="B85042"/>
                </a:solidFill>
                <a:ea typeface="NanumGothic"/>
              </a:rPr>
              <a:t>탐지</a:t>
            </a:r>
            <a:r>
              <a:rPr sz="2000" b="1" i="0" dirty="0">
                <a:solidFill>
                  <a:srgbClr val="B85042"/>
                </a:solidFill>
                <a:ea typeface="NanumGothic"/>
              </a:rPr>
              <a:t> — LLM 1B, cross-silo N=5</a:t>
            </a:r>
          </a:p>
          <a:p>
            <a:pPr algn="l">
              <a:lnSpc>
                <a:spcPct val="135000"/>
              </a:lnSpc>
            </a:pPr>
            <a:r>
              <a:rPr sz="2000" b="0" i="0" dirty="0" err="1">
                <a:solidFill>
                  <a:srgbClr val="222222"/>
                </a:solidFill>
                <a:ea typeface="NanumGothic"/>
              </a:rPr>
              <a:t>Flirds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(2차) AUROC 0.917  vs  Flirds-1st 0.000 (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완전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회피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) → 2차 Hessian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항이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부호를</a:t>
            </a:r>
            <a:r>
              <a:rPr sz="2000" b="0" i="0" dirty="0">
                <a:solidFill>
                  <a:srgbClr val="222222"/>
                </a:solidFill>
                <a:ea typeface="NanumGothic"/>
              </a:rPr>
              <a:t> </a:t>
            </a:r>
            <a:r>
              <a:rPr sz="2000" b="0" i="0" dirty="0" err="1">
                <a:solidFill>
                  <a:srgbClr val="222222"/>
                </a:solidFill>
                <a:ea typeface="NanumGothic"/>
              </a:rPr>
              <a:t>복원</a:t>
            </a:r>
            <a:endParaRPr sz="2000" b="0" i="0" dirty="0">
              <a:solidFill>
                <a:srgbClr val="222222"/>
              </a:solidFill>
              <a:ea typeface="Nanum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Cost &amp;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298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 dirty="0" err="1">
                <a:solidFill>
                  <a:srgbClr val="3C4654"/>
                </a:solidFill>
                <a:ea typeface="NanumGothic"/>
              </a:rPr>
              <a:t>라운드당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HVP 1회 vs 2ᴺ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부분집합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평가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.  LLM 1B cross-silo N=5 </a:t>
            </a:r>
            <a:r>
              <a:rPr b="0" i="0" dirty="0" err="1">
                <a:solidFill>
                  <a:srgbClr val="3C4654"/>
                </a:solidFill>
                <a:ea typeface="NanumGothic"/>
              </a:rPr>
              <a:t>런타임</a:t>
            </a:r>
            <a:r>
              <a:rPr b="0" i="0" dirty="0">
                <a:solidFill>
                  <a:srgbClr val="3C4654"/>
                </a:solidFill>
                <a:ea typeface="NanumGothic"/>
              </a:rPr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920240"/>
          <a:ext cx="11384279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22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9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22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방법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런타임 (N=5, 1B)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성격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~35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1차만 — 가장 쌈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 (1차+2차)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~107 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추정기 본체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GTG / FedSV / ShapleyFL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~530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부분집합 스윕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 in-run 정확 오라클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~530 s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정답(검증용)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Ripple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~4515 s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최약·최고가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4480560"/>
            <a:ext cx="11155680" cy="1188720"/>
          </a:xfrm>
          <a:prstGeom prst="roundRect">
            <a:avLst>
              <a:gd name="adj" fmla="val 6000"/>
            </a:avLst>
          </a:prstGeom>
          <a:solidFill>
            <a:srgbClr val="E6EFE6"/>
          </a:solidFill>
          <a:ln w="9525">
            <a:solidFill>
              <a:srgbClr val="C4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TextBox 5"/>
          <p:cNvSpPr txBox="1"/>
          <p:nvPr/>
        </p:nvSpPr>
        <p:spPr>
          <a:xfrm>
            <a:off x="777240" y="4709160"/>
            <a:ext cx="10607040" cy="77675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2C5F2D"/>
                </a:solidFill>
                <a:ea typeface="NanumGothic"/>
              </a:rPr>
              <a:t>정확 오라클 대비 5~15× 저렴 + 대규모 단말 연합(N=100)까지 확장</a:t>
            </a:r>
          </a:p>
          <a:p>
            <a:pPr algn="l">
              <a:lnSpc>
                <a:spcPct val="135000"/>
              </a:lnSpc>
            </a:pPr>
            <a:r>
              <a:rPr b="0" i="0">
                <a:solidFill>
                  <a:srgbClr val="222222"/>
                </a:solidFill>
                <a:ea typeface="NanumGothic"/>
              </a:rPr>
              <a:t>N=100 cross-device에서도 Flirds vs per-round 오라클 Spearman +1.000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1338560" cy="64120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 dirty="0">
                <a:solidFill>
                  <a:srgbClr val="1F2A37"/>
                </a:solidFill>
                <a:latin typeface="+mj-lt"/>
                <a:ea typeface="NanumGothic"/>
              </a:rPr>
              <a:t>Robustness &amp;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78992"/>
            <a:ext cx="11338560" cy="298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b="0" i="0">
                <a:solidFill>
                  <a:srgbClr val="3C4654"/>
                </a:solidFill>
                <a:ea typeface="NanumGothic"/>
              </a:rPr>
              <a:t>위협별 1명 오염 · AUROC = corrupt를 high-φ로 잡는 탐지력(↑) · 1B cross-silo N=5.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2286000"/>
          <a:ext cx="11384278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46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19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7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7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19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method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noisy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free-rider(rand)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free-rider(zero)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poison</a:t>
                      </a:r>
                    </a:p>
                  </a:txBody>
                  <a:tcPr marL="38100" marR="38100" marT="12700" marB="12700" anchor="ctr">
                    <a:solidFill>
                      <a:srgbClr val="3347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 (1차+2차)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0.917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Flirds-1st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loss-heur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(b) oracle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FLDetector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STD-DAGMM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0.417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1.000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0.250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22222"/>
                          </a:solidFill>
                          <a:latin typeface="NanumGothic"/>
                          <a:ea typeface="NanumGothic"/>
                        </a:rPr>
                        <a:t>0.750</a:t>
                      </a:r>
                    </a:p>
                  </a:txBody>
                  <a:tcPr marL="38100" marR="38100" marT="0" marB="0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212080"/>
            <a:ext cx="11155680" cy="30264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>
                <a:solidFill>
                  <a:srgbClr val="222222"/>
                </a:solidFill>
                <a:ea typeface="NanumGothic"/>
              </a:rPr>
              <a:t>noisy · free-rider 는 거의 AUROC 1.0.  poison(clean-보존 backdoor)이 분리점 — Flirds-1st 완전 회피, 2차가 버팀.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NanumGothic"/>
                <a:ea typeface="NanumGothi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611880"/>
            <a:ext cx="105156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CADCFC"/>
                </a:solidFill>
                <a:latin typeface="NanumGothic"/>
                <a:ea typeface="NanumGothic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51615" y="651052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A7A7A"/>
                </a:solidFill>
                <a:latin typeface="NanumGothic"/>
                <a:ea typeface="NanumGothic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737</Words>
  <Application>Microsoft Office PowerPoint</Application>
  <PresentationFormat>와이드스크린</PresentationFormat>
  <Paragraphs>193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NanumGothic</vt:lpstr>
      <vt:lpstr>Arial</vt:lpstr>
      <vt:lpstr>Calibri</vt:lpstr>
      <vt:lpstr>Cambria Math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최용희</cp:lastModifiedBy>
  <cp:revision>3</cp:revision>
  <dcterms:created xsi:type="dcterms:W3CDTF">2013-01-27T09:14:16Z</dcterms:created>
  <dcterms:modified xsi:type="dcterms:W3CDTF">2026-06-30T12:57:36Z</dcterms:modified>
  <cp:category/>
</cp:coreProperties>
</file>