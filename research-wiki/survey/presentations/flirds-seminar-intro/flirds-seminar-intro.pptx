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3" r:id="rId7"/>
    <p:sldId id="264" r:id="rId8"/>
    <p:sldId id="265" r:id="rId9"/>
    <p:sldId id="272" r:id="rId18"/>
    <p:sldId id="266" r:id="rId10"/>
    <p:sldId id="273" r:id="rId19"/>
    <p:sldId id="274" r:id="rId20"/>
    <p:sldId id="275" r:id="rId21"/>
    <p:sldId id="276" r:id="rId22"/>
    <p:sldId id="267" r:id="rId11"/>
    <p:sldId id="268" r:id="rId12"/>
    <p:sldId id="271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9" d="100"/>
          <a:sy n="109" d="100"/>
        </p:scale>
        <p:origin x="126" y="10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874519"/>
            <a:ext cx="10515600" cy="104131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 i="0" dirty="0" err="1">
                <a:solidFill>
                  <a:srgbClr val="FFFFFF"/>
                </a:solidFill>
                <a:latin typeface="+mj-lt"/>
                <a:ea typeface="NanumGothic"/>
              </a:rPr>
              <a:t>Flirds</a:t>
            </a:r>
            <a:endParaRPr sz="6600" b="1" i="0" dirty="0">
              <a:solidFill>
                <a:srgbClr val="FFFFFF"/>
              </a:solidFill>
              <a:latin typeface="+mj-lt"/>
              <a:ea typeface="NanumGothic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68680" y="2971800"/>
            <a:ext cx="10515600" cy="5180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 dirty="0">
                <a:solidFill>
                  <a:srgbClr val="CADCFC"/>
                </a:solidFill>
                <a:ea typeface="NanumGothic"/>
              </a:rPr>
              <a:t>Federated</a:t>
            </a:r>
            <a:r>
              <a:rPr sz="3200" b="1" i="0" dirty="0">
                <a:solidFill>
                  <a:srgbClr val="CADCFC"/>
                </a:solidFill>
                <a:latin typeface="NanumGothic"/>
                <a:ea typeface="NanumGothic"/>
              </a:rPr>
              <a:t> Learning + In-Run Data Shapley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852160"/>
            <a:ext cx="1051560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 i="0" dirty="0">
                <a:solidFill>
                  <a:srgbClr val="CADCFC"/>
                </a:solidFill>
                <a:ea typeface="NanumGothic"/>
              </a:rPr>
              <a:t>2026-06-30</a:t>
            </a:r>
            <a:endParaRPr lang="en-US" b="1" i="0" dirty="0">
              <a:solidFill>
                <a:srgbClr val="CADCFC"/>
              </a:solidFill>
              <a:ea typeface="NanumGothic"/>
            </a:endParaRPr>
          </a:p>
          <a:p>
            <a:pPr algn="l">
              <a:lnSpc>
                <a:spcPct val="100000"/>
              </a:lnSpc>
            </a:pPr>
            <a:r>
              <a:rPr lang="en-US" b="1" i="0" dirty="0">
                <a:solidFill>
                  <a:srgbClr val="CADCFC"/>
                </a:solidFill>
                <a:ea typeface="NanumGothic"/>
              </a:rPr>
              <a:t>Edge AI Lab </a:t>
            </a:r>
            <a:r>
              <a:rPr lang="ko-KR" altLang="en-US" b="1" i="0" dirty="0">
                <a:solidFill>
                  <a:srgbClr val="CADCFC"/>
                </a:solidFill>
                <a:ea typeface="NanumGothic"/>
              </a:rPr>
              <a:t>최용희</a:t>
            </a:r>
            <a:endParaRPr b="1" i="0" dirty="0">
              <a:solidFill>
                <a:srgbClr val="CADCFC"/>
              </a:solidFill>
              <a:ea typeface="Nanum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1338560" cy="6412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 dirty="0">
                <a:solidFill>
                  <a:srgbClr val="1F2A37"/>
                </a:solidFill>
                <a:latin typeface="+mj-lt"/>
                <a:ea typeface="NanumGothic"/>
              </a:rPr>
              <a:t>Motivation &amp; Problem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83080"/>
            <a:ext cx="5486400" cy="420624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" name="TextBox 3"/>
          <p:cNvSpPr txBox="1"/>
          <p:nvPr/>
        </p:nvSpPr>
        <p:spPr>
          <a:xfrm>
            <a:off x="822960" y="2057400"/>
            <a:ext cx="4846320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 dirty="0" err="1">
                <a:solidFill>
                  <a:srgbClr val="33475B"/>
                </a:solidFill>
                <a:ea typeface="NanumGothic"/>
              </a:rPr>
              <a:t>필요성</a:t>
            </a:r>
            <a:endParaRPr sz="2800" b="1" i="0" dirty="0">
              <a:solidFill>
                <a:srgbClr val="33475B"/>
              </a:solidFill>
              <a:ea typeface="NanumGothi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4846320" cy="180241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 dirty="0">
                <a:solidFill>
                  <a:srgbClr val="1F2A37"/>
                </a:solidFill>
                <a:ea typeface="NanumGothic"/>
              </a:rPr>
              <a:t>•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기여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비례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보상·인센티브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분배</a:t>
            </a:r>
            <a:endParaRPr sz="2000" b="1" i="0" dirty="0">
              <a:solidFill>
                <a:srgbClr val="1F2A37"/>
              </a:solidFill>
              <a:ea typeface="NanumGothic"/>
            </a:endParaRPr>
          </a:p>
          <a:p>
            <a:pPr algn="l">
              <a:lnSpc>
                <a:spcPct val="125000"/>
              </a:lnSpc>
            </a:pPr>
            <a:r>
              <a:rPr b="0" i="0" dirty="0">
                <a:solidFill>
                  <a:srgbClr val="222222"/>
                </a:solidFill>
                <a:ea typeface="NanumGothic"/>
              </a:rPr>
              <a:t>  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데이터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시장·연합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컨소시엄의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핵심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동기</a:t>
            </a:r>
            <a:endParaRPr lang="en-US" b="0" i="0" dirty="0">
              <a:solidFill>
                <a:srgbClr val="222222"/>
              </a:solidFill>
              <a:ea typeface="NanumGothic"/>
            </a:endParaRPr>
          </a:p>
          <a:p>
            <a:pPr algn="l">
              <a:lnSpc>
                <a:spcPct val="125000"/>
              </a:lnSpc>
            </a:pPr>
            <a:endParaRPr lang="en-US" dirty="0">
              <a:solidFill>
                <a:srgbClr val="222222"/>
              </a:solidFill>
              <a:ea typeface="NanumGothic"/>
            </a:endParaRPr>
          </a:p>
          <a:p>
            <a:pPr>
              <a:lnSpc>
                <a:spcPct val="125000"/>
              </a:lnSpc>
            </a:pPr>
            <a:r>
              <a:rPr lang="en-US" altLang="ko-KR" sz="2000" b="1" dirty="0">
                <a:solidFill>
                  <a:srgbClr val="1F2A37"/>
                </a:solidFill>
                <a:ea typeface="NanumGothic"/>
              </a:rPr>
              <a:t>• </a:t>
            </a:r>
            <a:r>
              <a:rPr lang="ko-KR" altLang="en-US" sz="2000" b="1" dirty="0">
                <a:solidFill>
                  <a:srgbClr val="1F2A37"/>
                </a:solidFill>
                <a:ea typeface="NanumGothic"/>
              </a:rPr>
              <a:t>불량 클라이언트 식별</a:t>
            </a:r>
            <a:r>
              <a:rPr lang="en-US" altLang="ko-KR" sz="2000" b="1" dirty="0">
                <a:solidFill>
                  <a:srgbClr val="1F2A37"/>
                </a:solidFill>
                <a:ea typeface="NanumGothic"/>
              </a:rPr>
              <a:t>·</a:t>
            </a:r>
            <a:r>
              <a:rPr lang="ko-KR" altLang="en-US" sz="2000" b="1" dirty="0">
                <a:solidFill>
                  <a:srgbClr val="1F2A37"/>
                </a:solidFill>
                <a:ea typeface="NanumGothic"/>
              </a:rPr>
              <a:t>가중</a:t>
            </a:r>
            <a:r>
              <a:rPr lang="en-US" altLang="ko-KR" sz="2000" b="1" dirty="0">
                <a:solidFill>
                  <a:srgbClr val="1F2A37"/>
                </a:solidFill>
                <a:ea typeface="NanumGothic"/>
              </a:rPr>
              <a:t>·</a:t>
            </a:r>
            <a:r>
              <a:rPr lang="ko-KR" altLang="en-US" sz="2000" b="1" dirty="0">
                <a:solidFill>
                  <a:srgbClr val="1F2A37"/>
                </a:solidFill>
                <a:ea typeface="NanumGothic"/>
              </a:rPr>
              <a:t>배제</a:t>
            </a:r>
          </a:p>
          <a:p>
            <a:pPr>
              <a:lnSpc>
                <a:spcPct val="125000"/>
              </a:lnSpc>
            </a:pPr>
            <a:r>
              <a:rPr lang="ko-KR" altLang="en-US" dirty="0">
                <a:solidFill>
                  <a:srgbClr val="222222"/>
                </a:solidFill>
                <a:ea typeface="NanumGothic"/>
              </a:rPr>
              <a:t>   라벨 오류</a:t>
            </a:r>
            <a:r>
              <a:rPr lang="en-US" altLang="ko-KR" dirty="0">
                <a:solidFill>
                  <a:srgbClr val="222222"/>
                </a:solidFill>
                <a:ea typeface="NanumGothic"/>
              </a:rPr>
              <a:t>·</a:t>
            </a:r>
            <a:r>
              <a:rPr lang="ko-KR" altLang="en-US" dirty="0">
                <a:solidFill>
                  <a:srgbClr val="222222"/>
                </a:solidFill>
                <a:ea typeface="NanumGothic"/>
              </a:rPr>
              <a:t>노이즈</a:t>
            </a:r>
            <a:r>
              <a:rPr lang="en-US" altLang="ko-KR" dirty="0">
                <a:solidFill>
                  <a:srgbClr val="222222"/>
                </a:solidFill>
                <a:ea typeface="NanumGothic"/>
              </a:rPr>
              <a:t>·</a:t>
            </a:r>
            <a:r>
              <a:rPr lang="en-US" altLang="ko-KR" dirty="0" err="1">
                <a:solidFill>
                  <a:srgbClr val="222222"/>
                </a:solidFill>
                <a:ea typeface="NanumGothic"/>
              </a:rPr>
              <a:t>free-rider·backdoor</a:t>
            </a:r>
            <a:r>
              <a:rPr lang="ko-KR" altLang="en-US" dirty="0">
                <a:solidFill>
                  <a:srgbClr val="222222"/>
                </a:solidFill>
                <a:ea typeface="NanumGothic"/>
              </a:rPr>
              <a:t> 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783080"/>
            <a:ext cx="5394960" cy="4206240"/>
          </a:xfrm>
          <a:prstGeom prst="roundRect">
            <a:avLst>
              <a:gd name="adj" fmla="val 6000"/>
            </a:avLst>
          </a:prstGeom>
          <a:solidFill>
            <a:srgbClr val="E6EFE6"/>
          </a:solidFill>
          <a:ln w="9525">
            <a:solidFill>
              <a:srgbClr val="C4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0" y="2057400"/>
            <a:ext cx="4754880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 dirty="0" err="1">
                <a:solidFill>
                  <a:srgbClr val="2C5F2D"/>
                </a:solidFill>
                <a:ea typeface="NanumGothic"/>
              </a:rPr>
              <a:t>문제</a:t>
            </a:r>
            <a:r>
              <a:rPr sz="2800" b="1" i="0" dirty="0">
                <a:solidFill>
                  <a:srgbClr val="2C5F2D"/>
                </a:solidFill>
                <a:ea typeface="NanumGothic"/>
              </a:rPr>
              <a:t> </a:t>
            </a:r>
            <a:r>
              <a:rPr sz="2800" b="1" i="0" dirty="0" err="1">
                <a:solidFill>
                  <a:srgbClr val="2C5F2D"/>
                </a:solidFill>
                <a:ea typeface="NanumGothic"/>
              </a:rPr>
              <a:t>정의</a:t>
            </a:r>
            <a:endParaRPr sz="2800" b="1" i="0" dirty="0">
              <a:solidFill>
                <a:srgbClr val="2C5F2D"/>
              </a:solidFill>
              <a:ea typeface="NanumGothic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583680" y="2788920"/>
            <a:ext cx="4754880" cy="13605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1" i="0" dirty="0">
                <a:solidFill>
                  <a:srgbClr val="1F2A37"/>
                </a:solidFill>
                <a:ea typeface="NanumGothic"/>
              </a:rPr>
              <a:t>•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FL에서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데이터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기여도를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평가</a:t>
            </a:r>
            <a:endParaRPr sz="2000" b="1" i="0" dirty="0">
              <a:solidFill>
                <a:srgbClr val="1F2A37"/>
              </a:solidFill>
              <a:ea typeface="NanumGothic"/>
            </a:endParaRPr>
          </a:p>
          <a:p>
            <a:pPr algn="l">
              <a:lnSpc>
                <a:spcPct val="150000"/>
              </a:lnSpc>
            </a:pPr>
            <a:r>
              <a:rPr sz="2000" b="1" i="0" dirty="0">
                <a:solidFill>
                  <a:srgbClr val="1F2A37"/>
                </a:solidFill>
                <a:ea typeface="NanumGothic"/>
              </a:rPr>
              <a:t>•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클라이언트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단위로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평가</a:t>
            </a:r>
            <a:endParaRPr sz="2000" b="1" i="0" dirty="0">
              <a:solidFill>
                <a:srgbClr val="1F2A37"/>
              </a:solidFill>
              <a:ea typeface="NanumGothic"/>
            </a:endParaRPr>
          </a:p>
          <a:p>
            <a:pPr algn="l">
              <a:lnSpc>
                <a:spcPct val="150000"/>
              </a:lnSpc>
            </a:pPr>
            <a:r>
              <a:rPr sz="2000" b="1" i="0" dirty="0">
                <a:solidFill>
                  <a:srgbClr val="1F2A37"/>
                </a:solidFill>
                <a:ea typeface="NanumGothic"/>
              </a:rPr>
              <a:t>• Shapley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value를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정확하고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효율적으로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추정</a:t>
            </a:r>
            <a:endParaRPr sz="2000" b="1" i="0" dirty="0">
              <a:solidFill>
                <a:srgbClr val="1F2A37"/>
              </a:solidFill>
              <a:ea typeface="NanumGothic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1338560" cy="6412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 dirty="0">
                <a:solidFill>
                  <a:srgbClr val="1F2A37"/>
                </a:solidFill>
                <a:latin typeface="+mj-lt"/>
                <a:ea typeface="NanumGothic"/>
              </a:rPr>
              <a:t>Data Shapley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914400" y="3383280"/>
                <a:ext cx="10332720" cy="641201"/>
              </a:xfrm>
              <a:prstGeom prst="rect">
                <a:avLst/>
              </a:prstGeom>
              <a:noFill/>
            </p:spPr>
            <p:txBody>
              <a:bodyPr wrap="square" lIns="25400" tIns="12700" rIns="25400" bIns="12700" anchor="t">
                <a:sp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lang="en-US" sz="2000" dirty="0">
                    <a:solidFill>
                      <a:srgbClr val="222222"/>
                    </a:solidFill>
                    <a:ea typeface="NanumGothic"/>
                  </a:rPr>
                  <a:t>Shapley value(</a:t>
                </a:r>
                <a:r>
                  <a:rPr lang="el-GR" sz="2000" dirty="0">
                    <a:solidFill>
                      <a:srgbClr val="222222"/>
                    </a:solidFill>
                    <a:ea typeface="NanumGothic"/>
                  </a:rPr>
                  <a:t>Φ</a:t>
                </a:r>
                <a:r>
                  <a:rPr lang="en-US" sz="2000" dirty="0">
                    <a:solidFill>
                      <a:srgbClr val="222222"/>
                    </a:solidFill>
                    <a:ea typeface="NanumGothic"/>
                  </a:rPr>
                  <a:t>) </a:t>
                </a:r>
                <a:r>
                  <a:rPr sz="2000" b="0" i="0" dirty="0">
                    <a:solidFill>
                      <a:srgbClr val="222222"/>
                    </a:solidFill>
                    <a:ea typeface="NanumGothic"/>
                  </a:rPr>
                  <a:t>= </a:t>
                </a:r>
                <a:r>
                  <a:rPr sz="2000" b="0" i="0" dirty="0" err="1">
                    <a:solidFill>
                      <a:srgbClr val="222222"/>
                    </a:solidFill>
                    <a:ea typeface="NanumGothic"/>
                  </a:rPr>
                  <a:t>모든</a:t>
                </a:r>
                <a:r>
                  <a:rPr sz="2000" b="0" i="0" dirty="0">
                    <a:solidFill>
                      <a:srgbClr val="222222"/>
                    </a:solidFill>
                    <a:ea typeface="NanumGothic"/>
                  </a:rPr>
                  <a:t> </a:t>
                </a:r>
                <a:r>
                  <a:rPr sz="2000" b="0" i="0" dirty="0" err="1">
                    <a:solidFill>
                      <a:srgbClr val="222222"/>
                    </a:solidFill>
                    <a:ea typeface="NanumGothic"/>
                  </a:rPr>
                  <a:t>조합에서의</a:t>
                </a:r>
                <a:r>
                  <a:rPr sz="2000" b="0" i="0" dirty="0">
                    <a:solidFill>
                      <a:srgbClr val="222222"/>
                    </a:solidFill>
                    <a:ea typeface="NanumGothic"/>
                  </a:rPr>
                  <a:t> </a:t>
                </a:r>
                <a:r>
                  <a:rPr sz="2000" b="0" i="0" dirty="0" err="1">
                    <a:solidFill>
                      <a:srgbClr val="222222"/>
                    </a:solidFill>
                    <a:ea typeface="NanumGothic"/>
                  </a:rPr>
                  <a:t>한계기여</a:t>
                </a:r>
                <a:r>
                  <a:rPr sz="2000" b="0" i="0" dirty="0">
                    <a:solidFill>
                      <a:srgbClr val="222222"/>
                    </a:solidFill>
                    <a:ea typeface="NanumGothic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i="1" dirty="0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∪{</m:t>
                    </m:r>
                    <m:r>
                      <a:rPr lang="ko-KR" altLang="en-US" i="1" dirty="0" err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})−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sz="2000" b="0" i="0" dirty="0">
                    <a:solidFill>
                      <a:srgbClr val="222222"/>
                    </a:solidFill>
                    <a:ea typeface="NanumGothic"/>
                  </a:rPr>
                  <a:t>의 </a:t>
                </a:r>
                <a:r>
                  <a:rPr sz="2000" b="0" i="0" dirty="0" err="1">
                    <a:solidFill>
                      <a:srgbClr val="222222"/>
                    </a:solidFill>
                    <a:ea typeface="NanumGothic"/>
                  </a:rPr>
                  <a:t>평균</a:t>
                </a:r>
                <a:r>
                  <a:rPr sz="2000" b="0" i="0" dirty="0">
                    <a:solidFill>
                      <a:srgbClr val="222222"/>
                    </a:solidFill>
                    <a:ea typeface="NanumGothic"/>
                  </a:rPr>
                  <a:t>.</a:t>
                </a:r>
                <a:endParaRPr lang="en-US" sz="2000" b="0" i="0" dirty="0">
                  <a:solidFill>
                    <a:srgbClr val="222222"/>
                  </a:solidFill>
                  <a:ea typeface="NanumGothic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sz="2000" b="0" i="0" dirty="0">
                    <a:solidFill>
                      <a:srgbClr val="222222"/>
                    </a:solidFill>
                    <a:ea typeface="NanumGothic"/>
                  </a:rPr>
                  <a:t>U</a:t>
                </a:r>
                <a:r>
                  <a:rPr lang="en-US" sz="2000" b="0" i="0" dirty="0">
                    <a:solidFill>
                      <a:srgbClr val="222222"/>
                    </a:solidFill>
                    <a:ea typeface="NanumGothic"/>
                  </a:rPr>
                  <a:t>tility(U)</a:t>
                </a:r>
                <a:r>
                  <a:rPr sz="2000" b="0" i="0" dirty="0">
                    <a:solidFill>
                      <a:srgbClr val="222222"/>
                    </a:solidFill>
                    <a:ea typeface="NanumGothic"/>
                  </a:rPr>
                  <a:t> = </a:t>
                </a:r>
                <a:r>
                  <a:rPr sz="2000" b="0" i="0" dirty="0" err="1">
                    <a:solidFill>
                      <a:srgbClr val="222222"/>
                    </a:solidFill>
                    <a:ea typeface="NanumGothic"/>
                  </a:rPr>
                  <a:t>S로</a:t>
                </a:r>
                <a:r>
                  <a:rPr sz="2000" b="0" i="0" dirty="0">
                    <a:solidFill>
                      <a:srgbClr val="222222"/>
                    </a:solidFill>
                    <a:ea typeface="NanumGothic"/>
                  </a:rPr>
                  <a:t> </a:t>
                </a:r>
                <a:r>
                  <a:rPr sz="2000" b="0" i="0" dirty="0" err="1">
                    <a:solidFill>
                      <a:srgbClr val="222222"/>
                    </a:solidFill>
                    <a:ea typeface="NanumGothic"/>
                  </a:rPr>
                  <a:t>학습한</a:t>
                </a:r>
                <a:r>
                  <a:rPr sz="2000" b="0" i="0" dirty="0">
                    <a:solidFill>
                      <a:srgbClr val="222222"/>
                    </a:solidFill>
                    <a:ea typeface="NanumGothic"/>
                  </a:rPr>
                  <a:t> </a:t>
                </a:r>
                <a:r>
                  <a:rPr sz="2000" b="0" i="0" dirty="0" err="1">
                    <a:solidFill>
                      <a:srgbClr val="222222"/>
                    </a:solidFill>
                    <a:ea typeface="NanumGothic"/>
                  </a:rPr>
                  <a:t>모델의</a:t>
                </a:r>
                <a:r>
                  <a:rPr sz="2000" b="0" i="0" dirty="0">
                    <a:solidFill>
                      <a:srgbClr val="222222"/>
                    </a:solidFill>
                    <a:ea typeface="NanumGothic"/>
                  </a:rPr>
                  <a:t> </a:t>
                </a:r>
                <a:r>
                  <a:rPr sz="2000" b="0" i="0" dirty="0" err="1">
                    <a:solidFill>
                      <a:srgbClr val="222222"/>
                    </a:solidFill>
                    <a:ea typeface="NanumGothic"/>
                  </a:rPr>
                  <a:t>검증</a:t>
                </a:r>
                <a:r>
                  <a:rPr sz="2000" b="0" i="0" dirty="0">
                    <a:solidFill>
                      <a:srgbClr val="222222"/>
                    </a:solidFill>
                    <a:ea typeface="NanumGothic"/>
                  </a:rPr>
                  <a:t> </a:t>
                </a:r>
                <a:r>
                  <a:rPr sz="2000" b="0" i="0" dirty="0" err="1">
                    <a:solidFill>
                      <a:srgbClr val="222222"/>
                    </a:solidFill>
                    <a:ea typeface="NanumGothic"/>
                  </a:rPr>
                  <a:t>성능</a:t>
                </a:r>
                <a:r>
                  <a:rPr sz="2000" b="0" i="0" dirty="0">
                    <a:solidFill>
                      <a:srgbClr val="222222"/>
                    </a:solidFill>
                    <a:ea typeface="NanumGothic"/>
                  </a:rPr>
                  <a:t>.</a:t>
                </a:r>
              </a:p>
            </p:txBody>
          </p:sp>
        </mc:Choice>
        <mc:Fallback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3383280"/>
                <a:ext cx="10332720" cy="641201"/>
              </a:xfrm>
              <a:prstGeom prst="rect">
                <a:avLst/>
              </a:prstGeom>
              <a:blipFill>
                <a:blip r:embed="rId2"/>
                <a:stretch>
                  <a:fillRect t="-14286" b="-228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ounded Rectangle 4"/>
          <p:cNvSpPr/>
          <p:nvPr/>
        </p:nvSpPr>
        <p:spPr>
          <a:xfrm>
            <a:off x="2194560" y="4297680"/>
            <a:ext cx="7772400" cy="118872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" name="TextBox 5"/>
          <p:cNvSpPr txBox="1"/>
          <p:nvPr/>
        </p:nvSpPr>
        <p:spPr>
          <a:xfrm>
            <a:off x="2468880" y="4526280"/>
            <a:ext cx="7223760" cy="83099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1" i="0" dirty="0" err="1">
                <a:solidFill>
                  <a:srgbClr val="B85042"/>
                </a:solidFill>
                <a:ea typeface="NanumGothic"/>
              </a:rPr>
              <a:t>한계</a:t>
            </a:r>
            <a:r>
              <a:rPr sz="2400" b="1" i="0" dirty="0">
                <a:solidFill>
                  <a:srgbClr val="B85042"/>
                </a:solidFill>
                <a:ea typeface="NanumGothic"/>
              </a:rPr>
              <a:t>: </a:t>
            </a:r>
            <a:r>
              <a:rPr sz="2400" b="1" i="0" dirty="0" err="1">
                <a:solidFill>
                  <a:srgbClr val="B85042"/>
                </a:solidFill>
                <a:ea typeface="NanumGothic"/>
              </a:rPr>
              <a:t>부분집합마다</a:t>
            </a:r>
            <a:r>
              <a:rPr sz="2400" b="1" i="0" dirty="0">
                <a:solidFill>
                  <a:srgbClr val="B85042"/>
                </a:solidFill>
                <a:ea typeface="NanumGothic"/>
              </a:rPr>
              <a:t> </a:t>
            </a:r>
            <a:r>
              <a:rPr sz="2400" b="1" i="0" dirty="0" err="1">
                <a:solidFill>
                  <a:srgbClr val="B85042"/>
                </a:solidFill>
                <a:ea typeface="NanumGothic"/>
              </a:rPr>
              <a:t>모델</a:t>
            </a:r>
            <a:r>
              <a:rPr sz="2400" b="1" i="0" dirty="0">
                <a:solidFill>
                  <a:srgbClr val="B85042"/>
                </a:solidFill>
                <a:ea typeface="NanumGothic"/>
              </a:rPr>
              <a:t> </a:t>
            </a:r>
            <a:r>
              <a:rPr sz="2400" b="1" i="0" dirty="0" err="1">
                <a:solidFill>
                  <a:srgbClr val="B85042"/>
                </a:solidFill>
                <a:ea typeface="NanumGothic"/>
              </a:rPr>
              <a:t>재학습</a:t>
            </a:r>
            <a:r>
              <a:rPr sz="2400" b="1" i="0" dirty="0">
                <a:solidFill>
                  <a:srgbClr val="B85042"/>
                </a:solidFill>
                <a:ea typeface="NanumGothic"/>
              </a:rPr>
              <a:t> </a:t>
            </a:r>
            <a:r>
              <a:rPr sz="2400" b="1" i="0" dirty="0" err="1">
                <a:solidFill>
                  <a:srgbClr val="B85042"/>
                </a:solidFill>
                <a:ea typeface="NanumGothic"/>
              </a:rPr>
              <a:t>필요</a:t>
            </a:r>
            <a:r>
              <a:rPr sz="2400" b="1" i="0" dirty="0">
                <a:solidFill>
                  <a:srgbClr val="B85042"/>
                </a:solidFill>
                <a:ea typeface="NanumGothic"/>
              </a:rPr>
              <a:t> → 2ⁿ </a:t>
            </a:r>
            <a:r>
              <a:rPr sz="2400" b="1" i="0" dirty="0" err="1">
                <a:solidFill>
                  <a:srgbClr val="B85042"/>
                </a:solidFill>
                <a:ea typeface="NanumGothic"/>
              </a:rPr>
              <a:t>비용</a:t>
            </a:r>
            <a:endParaRPr sz="2400" b="1" i="0" dirty="0">
              <a:solidFill>
                <a:srgbClr val="B85042"/>
              </a:solidFill>
              <a:ea typeface="NanumGothic"/>
            </a:endParaRPr>
          </a:p>
          <a:p>
            <a:pPr algn="ctr">
              <a:lnSpc>
                <a:spcPct val="130000"/>
              </a:lnSpc>
            </a:pPr>
            <a:r>
              <a:rPr b="0" i="0" dirty="0" err="1">
                <a:solidFill>
                  <a:srgbClr val="222222"/>
                </a:solidFill>
                <a:ea typeface="NanumGothic"/>
              </a:rPr>
              <a:t>대형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모델에선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비현실적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→ In-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Run으로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해결</a:t>
            </a:r>
            <a:endParaRPr b="0" i="0" dirty="0">
              <a:solidFill>
                <a:srgbClr val="222222"/>
              </a:solidFill>
              <a:ea typeface="NanumGothic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3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F36EDC02-26FC-843A-81F9-80F94E032D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126" y="1868353"/>
            <a:ext cx="10850489" cy="74305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F24B4A5-AB78-ABE9-E350-B0A5C50AAD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2620" y="2644610"/>
            <a:ext cx="1669163" cy="376320"/>
          </a:xfrm>
          <a:prstGeom prst="rect">
            <a:avLst/>
          </a:prstGeom>
        </p:spPr>
      </p:pic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0252E635-1949-32CA-6FBE-D49337C0590B}"/>
              </a:ext>
            </a:extLst>
          </p:cNvPr>
          <p:cNvCxnSpPr>
            <a:cxnSpLocks/>
          </p:cNvCxnSpPr>
          <p:nvPr/>
        </p:nvCxnSpPr>
        <p:spPr>
          <a:xfrm rot="16200000" flipH="1">
            <a:off x="6351793" y="2632743"/>
            <a:ext cx="188160" cy="16109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1338560" cy="6412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 dirty="0">
                <a:solidFill>
                  <a:srgbClr val="1F2A37"/>
                </a:solidFill>
                <a:latin typeface="+mj-lt"/>
                <a:ea typeface="NanumGothic"/>
              </a:rPr>
              <a:t>In-Run Data Shapley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3949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 dirty="0" err="1">
                <a:solidFill>
                  <a:srgbClr val="1F2A37"/>
                </a:solidFill>
                <a:ea typeface="NanumGothic"/>
              </a:rPr>
              <a:t>재학습</a:t>
            </a:r>
            <a:r>
              <a:rPr sz="24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400" b="1" i="0" dirty="0" err="1">
                <a:solidFill>
                  <a:srgbClr val="1F2A37"/>
                </a:solidFill>
                <a:ea typeface="NanumGothic"/>
              </a:rPr>
              <a:t>없이</a:t>
            </a:r>
            <a:r>
              <a:rPr sz="2400" b="1" i="0" dirty="0">
                <a:solidFill>
                  <a:srgbClr val="1F2A37"/>
                </a:solidFill>
                <a:ea typeface="NanumGothic"/>
              </a:rPr>
              <a:t>, </a:t>
            </a:r>
            <a:r>
              <a:rPr sz="2400" b="1" i="0" dirty="0" err="1">
                <a:solidFill>
                  <a:srgbClr val="1F2A37"/>
                </a:solidFill>
                <a:ea typeface="NanumGothic"/>
              </a:rPr>
              <a:t>실제로</a:t>
            </a:r>
            <a:r>
              <a:rPr sz="24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400" b="1" i="0" dirty="0" err="1">
                <a:solidFill>
                  <a:srgbClr val="1F2A37"/>
                </a:solidFill>
                <a:ea typeface="NanumGothic"/>
              </a:rPr>
              <a:t>진행된</a:t>
            </a:r>
            <a:r>
              <a:rPr sz="2400" b="1" i="0" dirty="0">
                <a:solidFill>
                  <a:srgbClr val="1F2A37"/>
                </a:solidFill>
                <a:ea typeface="NanumGothic"/>
              </a:rPr>
              <a:t> 한 </a:t>
            </a:r>
            <a:r>
              <a:rPr sz="2400" b="1" i="0" dirty="0" err="1">
                <a:solidFill>
                  <a:srgbClr val="1F2A37"/>
                </a:solidFill>
                <a:ea typeface="NanumGothic"/>
              </a:rPr>
              <a:t>학습</a:t>
            </a:r>
            <a:r>
              <a:rPr sz="24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400" b="1" i="0" dirty="0" err="1">
                <a:solidFill>
                  <a:srgbClr val="1F2A37"/>
                </a:solidFill>
                <a:ea typeface="NanumGothic"/>
              </a:rPr>
              <a:t>과정</a:t>
            </a:r>
            <a:r>
              <a:rPr sz="24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400" b="1" i="0" dirty="0" err="1">
                <a:solidFill>
                  <a:srgbClr val="1F2A37"/>
                </a:solidFill>
                <a:ea typeface="NanumGothic"/>
              </a:rPr>
              <a:t>안에서</a:t>
            </a:r>
            <a:r>
              <a:rPr sz="24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400" b="1" i="0" dirty="0" err="1">
                <a:solidFill>
                  <a:srgbClr val="1F2A37"/>
                </a:solidFill>
                <a:ea typeface="NanumGothic"/>
              </a:rPr>
              <a:t>스텝별</a:t>
            </a:r>
            <a:r>
              <a:rPr sz="24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400" b="1" i="0" dirty="0" err="1">
                <a:solidFill>
                  <a:srgbClr val="1F2A37"/>
                </a:solidFill>
                <a:ea typeface="NanumGothic"/>
              </a:rPr>
              <a:t>기여를</a:t>
            </a:r>
            <a:r>
              <a:rPr sz="24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400" b="1" i="0" dirty="0" err="1">
                <a:solidFill>
                  <a:srgbClr val="1F2A37"/>
                </a:solidFill>
                <a:ea typeface="NanumGothic"/>
              </a:rPr>
              <a:t>누적한다</a:t>
            </a:r>
            <a:r>
              <a:rPr sz="2400" b="1" i="0" dirty="0">
                <a:solidFill>
                  <a:srgbClr val="1F2A37"/>
                </a:solidFill>
                <a:ea typeface="NanumGothic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9640" y="4172416"/>
            <a:ext cx="10332720" cy="33342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 i="0" dirty="0" err="1">
                <a:solidFill>
                  <a:srgbClr val="222222"/>
                </a:solidFill>
                <a:ea typeface="NanumGothic"/>
              </a:rPr>
              <a:t>스텝</a:t>
            </a:r>
            <a:r>
              <a:rPr sz="2000"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sz="2000" b="0" i="0" dirty="0" err="1">
                <a:solidFill>
                  <a:srgbClr val="222222"/>
                </a:solidFill>
                <a:ea typeface="NanumGothic"/>
              </a:rPr>
              <a:t>t의</a:t>
            </a:r>
            <a:r>
              <a:rPr sz="2000"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lang="ko-KR" altLang="en-US" sz="2000" dirty="0">
                <a:solidFill>
                  <a:srgbClr val="222222"/>
                </a:solidFill>
                <a:ea typeface="NanumGothic"/>
              </a:rPr>
              <a:t>기여도</a:t>
            </a:r>
            <a:r>
              <a:rPr sz="2000" b="0" i="0" dirty="0">
                <a:solidFill>
                  <a:srgbClr val="222222"/>
                </a:solidFill>
                <a:ea typeface="NanumGothic"/>
              </a:rPr>
              <a:t>를 </a:t>
            </a:r>
            <a:r>
              <a:rPr sz="2000" b="0" i="0" dirty="0" err="1">
                <a:solidFill>
                  <a:srgbClr val="222222"/>
                </a:solidFill>
                <a:ea typeface="NanumGothic"/>
              </a:rPr>
              <a:t>학습</a:t>
            </a:r>
            <a:r>
              <a:rPr sz="2000" b="0" i="0" dirty="0">
                <a:solidFill>
                  <a:srgbClr val="222222"/>
                </a:solidFill>
                <a:ea typeface="NanumGothic"/>
              </a:rPr>
              <a:t> 전 </a:t>
            </a:r>
            <a:r>
              <a:rPr sz="2000" b="0" i="0" dirty="0" err="1">
                <a:solidFill>
                  <a:srgbClr val="222222"/>
                </a:solidFill>
                <a:ea typeface="NanumGothic"/>
              </a:rPr>
              <a:t>구간에</a:t>
            </a:r>
            <a:r>
              <a:rPr sz="2000"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sz="2000" b="0" i="0" dirty="0" err="1">
                <a:solidFill>
                  <a:srgbClr val="222222"/>
                </a:solidFill>
                <a:ea typeface="NanumGothic"/>
              </a:rPr>
              <a:t>걸쳐</a:t>
            </a:r>
            <a:r>
              <a:rPr sz="2000"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sz="2000" b="0" i="0" dirty="0" err="1">
                <a:solidFill>
                  <a:srgbClr val="222222"/>
                </a:solidFill>
                <a:ea typeface="NanumGothic"/>
              </a:rPr>
              <a:t>합산</a:t>
            </a:r>
            <a:r>
              <a:rPr sz="2000" b="0" i="0" dirty="0">
                <a:solidFill>
                  <a:srgbClr val="222222"/>
                </a:solidFill>
                <a:ea typeface="NanumGothic"/>
              </a:rPr>
              <a:t>.  </a:t>
            </a:r>
            <a:r>
              <a:rPr sz="2000" b="0" i="0" dirty="0" err="1">
                <a:solidFill>
                  <a:srgbClr val="222222"/>
                </a:solidFill>
                <a:ea typeface="NanumGothic"/>
              </a:rPr>
              <a:t>비용</a:t>
            </a:r>
            <a:r>
              <a:rPr sz="2000" b="0" i="0" dirty="0">
                <a:solidFill>
                  <a:srgbClr val="222222"/>
                </a:solidFill>
                <a:ea typeface="NanumGothic"/>
              </a:rPr>
              <a:t> ≈ </a:t>
            </a:r>
            <a:r>
              <a:rPr sz="2000" b="0" i="0" dirty="0" err="1">
                <a:solidFill>
                  <a:srgbClr val="222222"/>
                </a:solidFill>
                <a:ea typeface="NanumGothic"/>
              </a:rPr>
              <a:t>학습</a:t>
            </a:r>
            <a:r>
              <a:rPr sz="2000" b="0" i="0" dirty="0">
                <a:solidFill>
                  <a:srgbClr val="222222"/>
                </a:solidFill>
                <a:ea typeface="NanumGothic"/>
              </a:rPr>
              <a:t> 1회.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4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A27B7AD-BC6B-0C2B-F9D0-E629BAF15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678" y="2960158"/>
            <a:ext cx="4914644" cy="64259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1338560" cy="6412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 dirty="0">
                <a:solidFill>
                  <a:srgbClr val="1F2A37"/>
                </a:solidFill>
                <a:latin typeface="+mj-lt"/>
                <a:ea typeface="NanumGothic"/>
              </a:rPr>
              <a:t>Taylor Expansion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193481"/>
            <a:ext cx="11338560" cy="32932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 dirty="0" err="1">
                <a:solidFill>
                  <a:srgbClr val="3C4654"/>
                </a:solidFill>
                <a:ea typeface="NanumGothic"/>
              </a:rPr>
              <a:t>스텝</a:t>
            </a:r>
            <a:r>
              <a:rPr sz="2000" b="0" i="0" dirty="0">
                <a:solidFill>
                  <a:srgbClr val="3C4654"/>
                </a:solidFill>
                <a:ea typeface="NanumGothic"/>
              </a:rPr>
              <a:t> </a:t>
            </a:r>
            <a:r>
              <a:rPr sz="2000" b="0" i="0" dirty="0" err="1">
                <a:solidFill>
                  <a:srgbClr val="3C4654"/>
                </a:solidFill>
                <a:ea typeface="NanumGothic"/>
              </a:rPr>
              <a:t>효용</a:t>
            </a:r>
            <a:r>
              <a:rPr sz="2000" b="0" i="0" dirty="0">
                <a:solidFill>
                  <a:srgbClr val="3C4654"/>
                </a:solidFill>
                <a:ea typeface="NanumGothic"/>
              </a:rPr>
              <a:t> </a:t>
            </a:r>
            <a:r>
              <a:rPr sz="2000" b="0" i="0" dirty="0" err="1">
                <a:solidFill>
                  <a:srgbClr val="3C4654"/>
                </a:solidFill>
                <a:ea typeface="NanumGothic"/>
              </a:rPr>
              <a:t>변화</a:t>
            </a:r>
            <a:r>
              <a:rPr sz="2000" b="0" i="0" dirty="0">
                <a:solidFill>
                  <a:srgbClr val="3C4654"/>
                </a:solidFill>
                <a:ea typeface="NanumGothic"/>
              </a:rPr>
              <a:t> U(θₜ₊₁)−U(θₜ) 를 </a:t>
            </a:r>
            <a:r>
              <a:rPr sz="2000" b="0" i="0" dirty="0" err="1">
                <a:solidFill>
                  <a:srgbClr val="3C4654"/>
                </a:solidFill>
                <a:ea typeface="NanumGothic"/>
              </a:rPr>
              <a:t>데이터에</a:t>
            </a:r>
            <a:r>
              <a:rPr sz="2000" b="0" i="0" dirty="0">
                <a:solidFill>
                  <a:srgbClr val="3C4654"/>
                </a:solidFill>
                <a:ea typeface="NanumGothic"/>
              </a:rPr>
              <a:t> </a:t>
            </a:r>
            <a:r>
              <a:rPr sz="2000" b="0" i="0" dirty="0" err="1">
                <a:solidFill>
                  <a:srgbClr val="3C4654"/>
                </a:solidFill>
                <a:ea typeface="NanumGothic"/>
              </a:rPr>
              <a:t>대해</a:t>
            </a:r>
            <a:r>
              <a:rPr sz="2000" b="0" i="0" dirty="0">
                <a:solidFill>
                  <a:srgbClr val="3C4654"/>
                </a:solidFill>
                <a:ea typeface="NanumGothic"/>
              </a:rPr>
              <a:t> Taylor </a:t>
            </a:r>
            <a:r>
              <a:rPr sz="2000" b="0" i="0" dirty="0" err="1">
                <a:solidFill>
                  <a:srgbClr val="3C4654"/>
                </a:solidFill>
                <a:ea typeface="NanumGothic"/>
              </a:rPr>
              <a:t>전개</a:t>
            </a:r>
            <a:r>
              <a:rPr sz="2000" b="0" i="0" dirty="0">
                <a:solidFill>
                  <a:srgbClr val="3C4654"/>
                </a:solidFill>
                <a:ea typeface="NanumGothic"/>
              </a:rPr>
              <a:t> → </a:t>
            </a:r>
            <a:r>
              <a:rPr sz="2000" b="0" i="0" dirty="0" err="1">
                <a:solidFill>
                  <a:srgbClr val="3C4654"/>
                </a:solidFill>
                <a:ea typeface="NanumGothic"/>
              </a:rPr>
              <a:t>스텝별</a:t>
            </a:r>
            <a:r>
              <a:rPr sz="2000" b="0" i="0" dirty="0">
                <a:solidFill>
                  <a:srgbClr val="3C4654"/>
                </a:solidFill>
                <a:ea typeface="NanumGothic"/>
              </a:rPr>
              <a:t> </a:t>
            </a:r>
            <a:r>
              <a:rPr sz="2000" b="0" i="0" dirty="0" err="1">
                <a:solidFill>
                  <a:srgbClr val="3C4654"/>
                </a:solidFill>
                <a:ea typeface="NanumGothic"/>
              </a:rPr>
              <a:t>닫힌형</a:t>
            </a:r>
            <a:r>
              <a:rPr sz="2000" b="0" i="0" dirty="0">
                <a:solidFill>
                  <a:srgbClr val="3C4654"/>
                </a:solidFill>
                <a:ea typeface="NanumGothic"/>
              </a:rPr>
              <a:t> Shapley.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5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2499CA5D-C53B-789A-CBF1-F8672BA94D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610" y="2332650"/>
            <a:ext cx="11029950" cy="1696419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F0AAA4AD-5D8A-C9B0-558B-C007FBAB69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0122" y="2377793"/>
            <a:ext cx="2697569" cy="410596"/>
          </a:xfrm>
          <a:prstGeom prst="rect">
            <a:avLst/>
          </a:prstGeom>
        </p:spPr>
      </p:pic>
      <p:cxnSp>
        <p:nvCxnSpPr>
          <p:cNvPr id="16" name="연결선: 꺾임 15">
            <a:extLst>
              <a:ext uri="{FF2B5EF4-FFF2-40B4-BE49-F238E27FC236}">
                <a16:creationId xmlns:a16="http://schemas.microsoft.com/office/drawing/2014/main" id="{37B7FB4E-10A6-3DDF-665D-09C4B223CC22}"/>
              </a:ext>
            </a:extLst>
          </p:cNvPr>
          <p:cNvCxnSpPr>
            <a:cxnSpLocks/>
          </p:cNvCxnSpPr>
          <p:nvPr/>
        </p:nvCxnSpPr>
        <p:spPr>
          <a:xfrm flipV="1">
            <a:off x="8414832" y="2609992"/>
            <a:ext cx="226159" cy="178397"/>
          </a:xfrm>
          <a:prstGeom prst="bentConnector3">
            <a:avLst>
              <a:gd name="adj1" fmla="val 3349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412044" y="4931971"/>
            <a:ext cx="4846320" cy="30264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b="0" i="0" dirty="0" err="1">
                <a:solidFill>
                  <a:srgbClr val="222222"/>
                </a:solidFill>
                <a:ea typeface="NanumGothic"/>
              </a:rPr>
              <a:t>검증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gradient와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데이터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gradient의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내적</a:t>
            </a:r>
            <a:endParaRPr b="0" i="0" dirty="0">
              <a:solidFill>
                <a:srgbClr val="222222"/>
              </a:solidFill>
              <a:ea typeface="NanumGothic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189547" y="4931971"/>
            <a:ext cx="4904349" cy="30264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b="0" i="0" dirty="0" err="1">
                <a:solidFill>
                  <a:srgbClr val="222222"/>
                </a:solidFill>
                <a:ea typeface="NanumGothic"/>
              </a:rPr>
              <a:t>곡률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(Hessian)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반영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→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데이터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상호작용·중복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포착</a:t>
            </a:r>
            <a:endParaRPr b="0" i="0" dirty="0">
              <a:solidFill>
                <a:srgbClr val="222222"/>
              </a:solidFill>
              <a:ea typeface="NanumGothi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974752" y="4294983"/>
            <a:ext cx="920481" cy="3949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 dirty="0">
                <a:solidFill>
                  <a:srgbClr val="33475B"/>
                </a:solidFill>
                <a:ea typeface="NanumGothic"/>
              </a:rPr>
              <a:t>1차항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8364" y="4283152"/>
            <a:ext cx="1012874" cy="3949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 dirty="0">
                <a:solidFill>
                  <a:srgbClr val="33475B"/>
                </a:solidFill>
                <a:ea typeface="NanumGothic"/>
              </a:rPr>
              <a:t>2차항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1338560" cy="6412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 dirty="0" err="1">
                <a:solidFill>
                  <a:srgbClr val="1F2A37"/>
                </a:solidFill>
                <a:latin typeface="+mj-lt"/>
                <a:ea typeface="NanumGothic"/>
              </a:rPr>
              <a:t>Flirds</a:t>
            </a:r>
            <a:r>
              <a:rPr sz="4000" b="1" i="0" dirty="0">
                <a:solidFill>
                  <a:srgbClr val="1F2A37"/>
                </a:solidFill>
                <a:latin typeface="+mj-lt"/>
                <a:ea typeface="NanumGothic"/>
              </a:rPr>
              <a:t>: FL Adaptation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18160" y="1697299"/>
            <a:ext cx="11155680" cy="713232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" name="TextBox 3"/>
          <p:cNvSpPr txBox="1"/>
          <p:nvPr/>
        </p:nvSpPr>
        <p:spPr>
          <a:xfrm>
            <a:off x="792480" y="1902591"/>
            <a:ext cx="1828800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b="1" i="0">
                <a:solidFill>
                  <a:srgbClr val="33475B"/>
                </a:solidFill>
                <a:ea typeface="NanumGothic"/>
              </a:rPr>
              <a:t>(a) 단위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67000" y="1902591"/>
            <a:ext cx="8778240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b="0" i="0" dirty="0" err="1">
                <a:solidFill>
                  <a:srgbClr val="222222"/>
                </a:solidFill>
                <a:ea typeface="NanumGothic"/>
              </a:rPr>
              <a:t>데이터포인트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→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클라이언트</a:t>
            </a:r>
            <a:endParaRPr b="0" i="0" dirty="0">
              <a:solidFill>
                <a:srgbClr val="222222"/>
              </a:solidFill>
              <a:ea typeface="NanumGothic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8160" y="2618379"/>
            <a:ext cx="11155680" cy="713232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TextBox 6"/>
          <p:cNvSpPr txBox="1"/>
          <p:nvPr/>
        </p:nvSpPr>
        <p:spPr>
          <a:xfrm>
            <a:off x="792480" y="2823671"/>
            <a:ext cx="1828800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b="1" i="0">
                <a:solidFill>
                  <a:srgbClr val="33475B"/>
                </a:solidFill>
                <a:ea typeface="NanumGothic"/>
              </a:rPr>
              <a:t>(b) 분해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67000" y="2823671"/>
            <a:ext cx="8778240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b="0" i="0" dirty="0" err="1">
                <a:solidFill>
                  <a:srgbClr val="222222"/>
                </a:solidFill>
                <a:ea typeface="NanumGothic"/>
              </a:rPr>
              <a:t>스텝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→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라운드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 (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라운드당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HVP 1회)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8160" y="3575719"/>
            <a:ext cx="11155680" cy="2083074"/>
          </a:xfrm>
          <a:prstGeom prst="roundRect">
            <a:avLst>
              <a:gd name="adj" fmla="val 6000"/>
            </a:avLst>
          </a:prstGeom>
          <a:solidFill>
            <a:srgbClr val="1F2A37"/>
          </a:solidFill>
          <a:ln w="9525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pic>
        <p:nvPicPr>
          <p:cNvPr id="13" name="Picture 12" descr="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160" y="3821025"/>
            <a:ext cx="10097679" cy="713232"/>
          </a:xfrm>
          <a:prstGeom prst="rect">
            <a:avLst/>
          </a:prstGeom>
        </p:spPr>
      </p:pic>
      <p:pic>
        <p:nvPicPr>
          <p:cNvPr id="14" name="Picture 13" descr="f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902" y="4858692"/>
            <a:ext cx="1336676" cy="56692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1338560" cy="70275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F2A37"/>
                </a:solidFill>
                <a:latin typeface="+mj-lt"/>
                <a:ea typeface="NanumGothic"/>
              </a:rPr>
              <a:t>Approximation Error Analysis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74288"/>
            <a:ext cx="5486400" cy="246888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" name="TextBox 4"/>
          <p:cNvSpPr txBox="1"/>
          <p:nvPr/>
        </p:nvSpPr>
        <p:spPr>
          <a:xfrm>
            <a:off x="777240" y="2002888"/>
            <a:ext cx="4937760" cy="150137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 dirty="0">
                <a:solidFill>
                  <a:srgbClr val="33475B"/>
                </a:solidFill>
                <a:latin typeface="NanumGothic"/>
                <a:ea typeface="NanumGothic"/>
              </a:rPr>
              <a:t>IRDS — </a:t>
            </a:r>
            <a:r>
              <a:rPr sz="2000" b="1" i="0" dirty="0" err="1">
                <a:solidFill>
                  <a:srgbClr val="33475B"/>
                </a:solidFill>
                <a:latin typeface="NanumGothic"/>
                <a:ea typeface="NanumGothic"/>
              </a:rPr>
              <a:t>중앙집중</a:t>
            </a:r>
            <a:r>
              <a:rPr sz="2000" b="1" i="0" dirty="0">
                <a:solidFill>
                  <a:srgbClr val="33475B"/>
                </a:solidFill>
                <a:latin typeface="NanumGothic"/>
                <a:ea typeface="NanumGothic"/>
              </a:rPr>
              <a:t> per-step</a:t>
            </a:r>
          </a:p>
          <a:p>
            <a:pPr algn="l">
              <a:lnSpc>
                <a:spcPct val="135000"/>
              </a:lnSpc>
            </a:pPr>
            <a:r>
              <a:rPr b="0" i="0" dirty="0">
                <a:solidFill>
                  <a:srgbClr val="222222"/>
                </a:solidFill>
                <a:latin typeface="NanumGothic"/>
                <a:ea typeface="NanumGothic"/>
              </a:rPr>
              <a:t>• ‖</a:t>
            </a:r>
            <a:r>
              <a:rPr b="0" i="0" dirty="0" err="1">
                <a:solidFill>
                  <a:srgbClr val="222222"/>
                </a:solidFill>
                <a:latin typeface="NanumGothic"/>
                <a:ea typeface="NanumGothic"/>
              </a:rPr>
              <a:t>Δθ</a:t>
            </a:r>
            <a:r>
              <a:rPr b="0" i="0" dirty="0">
                <a:solidFill>
                  <a:srgbClr val="222222"/>
                </a:solidFill>
                <a:latin typeface="NanumGothic"/>
                <a:ea typeface="NanumGothic"/>
              </a:rPr>
              <a:t>‖ </a:t>
            </a:r>
            <a:r>
              <a:rPr b="0" i="0" dirty="0" err="1">
                <a:solidFill>
                  <a:srgbClr val="222222"/>
                </a:solidFill>
                <a:latin typeface="NanumGothic"/>
                <a:ea typeface="NanumGothic"/>
              </a:rPr>
              <a:t>작음</a:t>
            </a:r>
            <a:r>
              <a:rPr b="0" i="0" dirty="0">
                <a:solidFill>
                  <a:srgbClr val="222222"/>
                </a:solidFill>
                <a:latin typeface="NanumGothic"/>
                <a:ea typeface="NanumGothic"/>
              </a:rPr>
              <a:t> (</a:t>
            </a:r>
            <a:r>
              <a:rPr b="0" i="0" dirty="0" err="1">
                <a:solidFill>
                  <a:srgbClr val="222222"/>
                </a:solidFill>
                <a:latin typeface="NanumGothic"/>
                <a:ea typeface="NanumGothic"/>
              </a:rPr>
              <a:t>작은</a:t>
            </a:r>
            <a:r>
              <a:rPr b="0" i="0" dirty="0">
                <a:solidFill>
                  <a:srgbClr val="222222"/>
                </a:solidFill>
                <a:latin typeface="NanumGothic"/>
                <a:ea typeface="NanumGothic"/>
              </a:rPr>
              <a:t> 한 </a:t>
            </a:r>
            <a:r>
              <a:rPr b="0" i="0" dirty="0" err="1">
                <a:solidFill>
                  <a:srgbClr val="222222"/>
                </a:solidFill>
                <a:latin typeface="NanumGothic"/>
                <a:ea typeface="NanumGothic"/>
              </a:rPr>
              <a:t>스텝</a:t>
            </a:r>
            <a:r>
              <a:rPr b="0" i="0" dirty="0">
                <a:solidFill>
                  <a:srgbClr val="222222"/>
                </a:solidFill>
                <a:latin typeface="NanumGothic"/>
                <a:ea typeface="NanumGothic"/>
              </a:rPr>
              <a:t>)</a:t>
            </a:r>
          </a:p>
          <a:p>
            <a:pPr algn="l">
              <a:lnSpc>
                <a:spcPct val="135000"/>
              </a:lnSpc>
            </a:pPr>
            <a:r>
              <a:rPr b="0" i="0" dirty="0">
                <a:solidFill>
                  <a:srgbClr val="222222"/>
                </a:solidFill>
                <a:latin typeface="NanumGothic"/>
                <a:ea typeface="NanumGothic"/>
              </a:rPr>
              <a:t>• 1차 </a:t>
            </a:r>
            <a:r>
              <a:rPr b="0" i="0" dirty="0" err="1">
                <a:solidFill>
                  <a:srgbClr val="222222"/>
                </a:solidFill>
                <a:latin typeface="NanumGothic"/>
                <a:ea typeface="NanumGothic"/>
              </a:rPr>
              <a:t>잔차</a:t>
            </a:r>
            <a:r>
              <a:rPr b="0" i="0" dirty="0">
                <a:solidFill>
                  <a:srgbClr val="222222"/>
                </a:solidFill>
                <a:latin typeface="NanumGothic"/>
                <a:ea typeface="NanumGothic"/>
              </a:rPr>
              <a:t> O(‖Δθ‖²) → </a:t>
            </a:r>
            <a:r>
              <a:rPr b="0" i="0" dirty="0" err="1">
                <a:solidFill>
                  <a:srgbClr val="222222"/>
                </a:solidFill>
                <a:latin typeface="NanumGothic"/>
                <a:ea typeface="NanumGothic"/>
              </a:rPr>
              <a:t>이미</a:t>
            </a:r>
            <a:r>
              <a:rPr b="0" i="0" dirty="0">
                <a:solidFill>
                  <a:srgbClr val="222222"/>
                </a:solidFill>
                <a:latin typeface="NanumGothic"/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latin typeface="NanumGothic"/>
                <a:ea typeface="NanumGothic"/>
              </a:rPr>
              <a:t>작음</a:t>
            </a:r>
            <a:endParaRPr b="0" i="0" dirty="0">
              <a:solidFill>
                <a:srgbClr val="222222"/>
              </a:solidFill>
              <a:latin typeface="NanumGothic"/>
              <a:ea typeface="NanumGothic"/>
            </a:endParaRPr>
          </a:p>
          <a:p>
            <a:pPr algn="l">
              <a:lnSpc>
                <a:spcPct val="135000"/>
              </a:lnSpc>
            </a:pPr>
            <a:r>
              <a:rPr b="0" i="0" dirty="0">
                <a:solidFill>
                  <a:srgbClr val="222222"/>
                </a:solidFill>
                <a:latin typeface="NanumGothic"/>
                <a:ea typeface="NanumGothic"/>
              </a:rPr>
              <a:t>• 2차 항 </a:t>
            </a:r>
            <a:r>
              <a:rPr b="0" i="0" dirty="0" err="1">
                <a:solidFill>
                  <a:srgbClr val="222222"/>
                </a:solidFill>
                <a:latin typeface="NanumGothic"/>
                <a:ea typeface="NanumGothic"/>
              </a:rPr>
              <a:t>역할</a:t>
            </a:r>
            <a:r>
              <a:rPr b="0" i="0" dirty="0">
                <a:solidFill>
                  <a:srgbClr val="222222"/>
                </a:solidFill>
                <a:latin typeface="NanumGothic"/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latin typeface="NanumGothic"/>
                <a:ea typeface="NanumGothic"/>
              </a:rPr>
              <a:t>미미</a:t>
            </a:r>
            <a:endParaRPr b="0" i="0" dirty="0">
              <a:solidFill>
                <a:srgbClr val="222222"/>
              </a:solidFill>
              <a:latin typeface="NanumGothic"/>
              <a:ea typeface="NanumGothic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263640" y="1774288"/>
            <a:ext cx="5394960" cy="2468880"/>
          </a:xfrm>
          <a:prstGeom prst="roundRect">
            <a:avLst>
              <a:gd name="adj" fmla="val 6000"/>
            </a:avLst>
          </a:prstGeom>
          <a:solidFill>
            <a:srgbClr val="F7ECE8"/>
          </a:solidFill>
          <a:ln w="9525">
            <a:solidFill>
              <a:srgbClr val="E3C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6537960" y="2002888"/>
                <a:ext cx="4846320" cy="1520160"/>
              </a:xfrm>
              <a:prstGeom prst="rect">
                <a:avLst/>
              </a:prstGeom>
              <a:noFill/>
            </p:spPr>
            <p:txBody>
              <a:bodyPr wrap="square" lIns="25400" tIns="12700" rIns="25400" bIns="12700" anchor="t">
                <a:spAutoFit/>
              </a:bodyPr>
              <a:lstStyle/>
              <a:p>
                <a:pPr algn="l">
                  <a:lnSpc>
                    <a:spcPct val="135000"/>
                  </a:lnSpc>
                </a:pPr>
                <a:r>
                  <a:rPr sz="2000" b="1" i="0" dirty="0">
                    <a:solidFill>
                      <a:srgbClr val="B85042"/>
                    </a:solidFill>
                    <a:latin typeface="NanumGothic"/>
                    <a:ea typeface="NanumGothic"/>
                  </a:rPr>
                  <a:t>FL — </a:t>
                </a:r>
                <a:r>
                  <a:rPr sz="2000" b="1" i="0" dirty="0" err="1">
                    <a:solidFill>
                      <a:srgbClr val="B85042"/>
                    </a:solidFill>
                    <a:latin typeface="NanumGothic"/>
                    <a:ea typeface="NanumGothic"/>
                  </a:rPr>
                  <a:t>라운드당</a:t>
                </a:r>
                <a:r>
                  <a:rPr sz="2000" b="1" i="0" dirty="0">
                    <a:solidFill>
                      <a:srgbClr val="B85042"/>
                    </a:solidFill>
                    <a:latin typeface="NanumGothic"/>
                    <a:ea typeface="NanumGothic"/>
                  </a:rPr>
                  <a:t> multi-step</a:t>
                </a:r>
              </a:p>
              <a:p>
                <a:pPr algn="l">
                  <a:lnSpc>
                    <a:spcPct val="135000"/>
                  </a:lnSpc>
                </a:pPr>
                <a:r>
                  <a:rPr b="0" i="0" dirty="0">
                    <a:solidFill>
                      <a:srgbClr val="222222"/>
                    </a:solidFill>
                    <a:latin typeface="NanumGothic"/>
                    <a:ea typeface="NanumGothic"/>
                  </a:rPr>
                  <a:t>• ‖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b="0" i="0" dirty="0" smtClean="0">
                        <a:solidFill>
                          <a:srgbClr val="222222"/>
                        </a:solidFill>
                        <a:latin typeface="Cambria Math" panose="02040503050406030204" pitchFamily="18" charset="0"/>
                        <a:ea typeface="NanumGothic"/>
                      </a:rPr>
                      <m:t>Δ</m:t>
                    </m:r>
                    <m:sSub>
                      <m:sSubPr>
                        <m:ctrlPr>
                          <a:rPr lang="el-GR" b="0" i="1" dirty="0" err="1">
                            <a:solidFill>
                              <a:srgbClr val="222222"/>
                            </a:solidFill>
                            <a:latin typeface="Cambria Math" panose="02040503050406030204" pitchFamily="18" charset="0"/>
                            <a:ea typeface="NanumGothic"/>
                          </a:rPr>
                        </m:ctrlPr>
                      </m:sSubPr>
                      <m:e>
                        <m:r>
                          <a:rPr lang="el-GR" b="0" i="1" dirty="0" err="1">
                            <a:solidFill>
                              <a:srgbClr val="222222"/>
                            </a:solidFill>
                            <a:latin typeface="Cambria Math" panose="02040503050406030204" pitchFamily="18" charset="0"/>
                            <a:ea typeface="NanumGothic"/>
                          </a:rPr>
                          <m:t>𝑤</m:t>
                        </m:r>
                      </m:e>
                      <m:sub>
                        <m:r>
                          <a:rPr lang="el-GR" b="0" i="1" dirty="0" err="1">
                            <a:solidFill>
                              <a:srgbClr val="222222"/>
                            </a:solidFill>
                            <a:latin typeface="Cambria Math" panose="02040503050406030204" pitchFamily="18" charset="0"/>
                            <a:ea typeface="NanumGothic"/>
                          </a:rPr>
                          <m:t>𝑟𝑜𝑢𝑛𝑑</m:t>
                        </m:r>
                      </m:sub>
                    </m:sSub>
                  </m:oMath>
                </a14:m>
                <a:r>
                  <a:rPr b="0" i="0" dirty="0">
                    <a:solidFill>
                      <a:srgbClr val="222222"/>
                    </a:solidFill>
                    <a:latin typeface="NanumGothic"/>
                    <a:ea typeface="NanumGothic"/>
                  </a:rPr>
                  <a:t>‖ ≫ per-step</a:t>
                </a:r>
              </a:p>
              <a:p>
                <a:pPr algn="l">
                  <a:lnSpc>
                    <a:spcPct val="135000"/>
                  </a:lnSpc>
                </a:pPr>
                <a:r>
                  <a:rPr b="0" i="0" dirty="0">
                    <a:solidFill>
                      <a:srgbClr val="222222"/>
                    </a:solidFill>
                    <a:latin typeface="NanumGothic"/>
                    <a:ea typeface="NanumGothic"/>
                  </a:rPr>
                  <a:t>• 1차 </a:t>
                </a:r>
                <a:r>
                  <a:rPr b="0" i="0" dirty="0" err="1">
                    <a:solidFill>
                      <a:srgbClr val="222222"/>
                    </a:solidFill>
                    <a:latin typeface="NanumGothic"/>
                    <a:ea typeface="NanumGothic"/>
                  </a:rPr>
                  <a:t>잔차</a:t>
                </a:r>
                <a:r>
                  <a:rPr b="0" i="0" dirty="0">
                    <a:solidFill>
                      <a:srgbClr val="222222"/>
                    </a:solidFill>
                    <a:latin typeface="NanumGothic"/>
                    <a:ea typeface="NanumGothic"/>
                  </a:rPr>
                  <a:t> </a:t>
                </a:r>
                <a14:m>
                  <m:oMath xmlns:m="http://schemas.openxmlformats.org/officeDocument/2006/math">
                    <m:r>
                      <a:rPr lang="el-GR" b="0" i="1" dirty="0" smtClean="0">
                        <a:solidFill>
                          <a:srgbClr val="222222"/>
                        </a:solidFill>
                        <a:latin typeface="Cambria Math" panose="02040503050406030204" pitchFamily="18" charset="0"/>
                        <a:ea typeface="NanumGothic"/>
                      </a:rPr>
                      <m:t>𝑂</m:t>
                    </m:r>
                    <m:d>
                      <m:dPr>
                        <m:ctrlPr>
                          <a:rPr lang="el-GR" b="0" i="1" dirty="0" smtClean="0">
                            <a:solidFill>
                              <a:srgbClr val="222222"/>
                            </a:solidFill>
                            <a:latin typeface="Cambria Math" panose="02040503050406030204" pitchFamily="18" charset="0"/>
                            <a:ea typeface="NanumGothic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l-GR" b="0" i="1" dirty="0">
                                <a:solidFill>
                                  <a:srgbClr val="222222"/>
                                </a:solidFill>
                                <a:latin typeface="Cambria Math" panose="02040503050406030204" pitchFamily="18" charset="0"/>
                                <a:ea typeface="NanumGothic"/>
                              </a:rPr>
                            </m:ctrlPr>
                          </m:sSup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el-GR" b="0" i="1" dirty="0" smtClean="0">
                                    <a:solidFill>
                                      <a:srgbClr val="222222"/>
                                    </a:solidFill>
                                    <a:latin typeface="Cambria Math" panose="02040503050406030204" pitchFamily="18" charset="0"/>
                                    <a:ea typeface="NanumGothic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l-GR" b="0" i="0" dirty="0" err="1">
                                    <a:solidFill>
                                      <a:srgbClr val="222222"/>
                                    </a:solidFill>
                                    <a:latin typeface="Cambria Math" panose="02040503050406030204" pitchFamily="18" charset="0"/>
                                    <a:ea typeface="NanumGothic"/>
                                  </a:rPr>
                                  <m:t>Δ</m:t>
                                </m:r>
                                <m:sSub>
                                  <m:sSubPr>
                                    <m:ctrlPr>
                                      <a:rPr lang="el-GR" b="0" i="1" dirty="0" smtClean="0">
                                        <a:solidFill>
                                          <a:srgbClr val="222222"/>
                                        </a:solidFill>
                                        <a:latin typeface="Cambria Math" panose="02040503050406030204" pitchFamily="18" charset="0"/>
                                        <a:ea typeface="NanumGothic"/>
                                      </a:rPr>
                                    </m:ctrlPr>
                                  </m:sSubPr>
                                  <m:e>
                                    <m:r>
                                      <a:rPr lang="el-GR" b="0" i="1" dirty="0" err="1">
                                        <a:solidFill>
                                          <a:srgbClr val="222222"/>
                                        </a:solidFill>
                                        <a:latin typeface="Cambria Math" panose="02040503050406030204" pitchFamily="18" charset="0"/>
                                        <a:ea typeface="NanumGothic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l-GR" b="0" i="1" dirty="0" smtClean="0">
                                        <a:solidFill>
                                          <a:srgbClr val="222222"/>
                                        </a:solidFill>
                                        <a:latin typeface="Cambria Math" panose="02040503050406030204" pitchFamily="18" charset="0"/>
                                        <a:ea typeface="NanumGothic"/>
                                      </a:rPr>
                                      <m:t>𝑟𝑜𝑢𝑛𝑑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l-GR" b="0" i="1" dirty="0">
                                <a:solidFill>
                                  <a:srgbClr val="222222"/>
                                </a:solidFill>
                                <a:latin typeface="Cambria Math" panose="02040503050406030204" pitchFamily="18" charset="0"/>
                                <a:ea typeface="NanumGothic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b="0" i="0" dirty="0">
                    <a:solidFill>
                      <a:srgbClr val="222222"/>
                    </a:solidFill>
                    <a:latin typeface="NanumGothic"/>
                    <a:ea typeface="NanumGothic"/>
                  </a:rPr>
                  <a:t> </a:t>
                </a:r>
                <a:r>
                  <a:rPr b="0" i="0" dirty="0" err="1">
                    <a:solidFill>
                      <a:srgbClr val="222222"/>
                    </a:solidFill>
                    <a:latin typeface="NanumGothic"/>
                    <a:ea typeface="NanumGothic"/>
                  </a:rPr>
                  <a:t>커짐</a:t>
                </a:r>
                <a:endParaRPr b="0" i="0" dirty="0">
                  <a:solidFill>
                    <a:srgbClr val="222222"/>
                  </a:solidFill>
                  <a:latin typeface="NanumGothic"/>
                  <a:ea typeface="NanumGothic"/>
                </a:endParaRPr>
              </a:p>
              <a:p>
                <a:pPr algn="l">
                  <a:lnSpc>
                    <a:spcPct val="135000"/>
                  </a:lnSpc>
                </a:pPr>
                <a:r>
                  <a:rPr b="1" i="0" dirty="0">
                    <a:solidFill>
                      <a:srgbClr val="1F2A37"/>
                    </a:solidFill>
                    <a:latin typeface="NanumGothic"/>
                    <a:ea typeface="NanumGothic"/>
                  </a:rPr>
                  <a:t>• 2차(Hessian) </a:t>
                </a:r>
                <a:r>
                  <a:rPr b="1" i="0" dirty="0" err="1">
                    <a:solidFill>
                      <a:srgbClr val="1F2A37"/>
                    </a:solidFill>
                    <a:latin typeface="NanumGothic"/>
                    <a:ea typeface="NanumGothic"/>
                  </a:rPr>
                  <a:t>항으로</a:t>
                </a:r>
                <a:r>
                  <a:rPr b="1" i="0" dirty="0">
                    <a:solidFill>
                      <a:srgbClr val="1F2A37"/>
                    </a:solidFill>
                    <a:latin typeface="NanumGothic"/>
                    <a:ea typeface="NanumGothic"/>
                  </a:rPr>
                  <a:t> </a:t>
                </a:r>
                <a:r>
                  <a:rPr b="1" i="0" dirty="0" err="1">
                    <a:solidFill>
                      <a:srgbClr val="1F2A37"/>
                    </a:solidFill>
                    <a:latin typeface="NanumGothic"/>
                    <a:ea typeface="NanumGothic"/>
                  </a:rPr>
                  <a:t>잔차</a:t>
                </a:r>
                <a:r>
                  <a:rPr b="1" i="0" dirty="0">
                    <a:solidFill>
                      <a:srgbClr val="1F2A37"/>
                    </a:solidFill>
                    <a:latin typeface="NanumGothic"/>
                    <a:ea typeface="NanumGothic"/>
                  </a:rPr>
                  <a:t> ↓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7960" y="2002888"/>
                <a:ext cx="4846320" cy="1520160"/>
              </a:xfrm>
              <a:prstGeom prst="rect">
                <a:avLst/>
              </a:prstGeom>
              <a:blipFill>
                <a:blip r:embed="rId2"/>
                <a:stretch>
                  <a:fillRect l="-2767" t="-402" b="-80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0720" y="4709512"/>
            <a:ext cx="5510254" cy="548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1338560" cy="6412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 dirty="0">
                <a:solidFill>
                  <a:srgbClr val="1F2A37"/>
                </a:solidFill>
                <a:latin typeface="+mj-lt"/>
                <a:ea typeface="NanumGothic"/>
              </a:rPr>
              <a:t>Fidelity (LLM)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78992"/>
            <a:ext cx="11338560" cy="5955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dirty="0">
                <a:solidFill>
                  <a:srgbClr val="3C4654"/>
                </a:solidFill>
                <a:ea typeface="NanumGothic"/>
              </a:rPr>
              <a:t>Exact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 in-run </a:t>
            </a:r>
            <a:r>
              <a:rPr lang="en-US" b="0" i="0" dirty="0" err="1">
                <a:solidFill>
                  <a:srgbClr val="3C4654"/>
                </a:solidFill>
                <a:ea typeface="NanumGothic"/>
              </a:rPr>
              <a:t>shapley</a:t>
            </a:r>
            <a:r>
              <a:rPr lang="en-US" b="0" i="0" dirty="0">
                <a:solidFill>
                  <a:srgbClr val="3C4654"/>
                </a:solidFill>
                <a:ea typeface="NanumGothic"/>
              </a:rPr>
              <a:t> value </a:t>
            </a:r>
            <a:r>
              <a:rPr b="0" i="0" dirty="0" err="1">
                <a:solidFill>
                  <a:srgbClr val="3C4654"/>
                </a:solidFill>
                <a:ea typeface="NanumGothic"/>
              </a:rPr>
              <a:t>대비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 Spearman (↑).</a:t>
            </a:r>
            <a:endParaRPr lang="en-US" b="0" i="0" dirty="0">
              <a:solidFill>
                <a:srgbClr val="3C4654"/>
              </a:solidFill>
              <a:ea typeface="NanumGothic"/>
            </a:endParaRPr>
          </a:p>
          <a:p>
            <a:pPr algn="l">
              <a:lnSpc>
                <a:spcPct val="105000"/>
              </a:lnSpc>
            </a:pPr>
            <a:r>
              <a:rPr b="0" i="0" dirty="0" err="1">
                <a:solidFill>
                  <a:srgbClr val="3C4654"/>
                </a:solidFill>
                <a:ea typeface="NanumGothic"/>
              </a:rPr>
              <a:t>LoRA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 · 3-seed.  std=N20·2/round, anchor=N5·full.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440680"/>
            <a:ext cx="11155680" cy="33342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 dirty="0" err="1">
                <a:solidFill>
                  <a:srgbClr val="1F2A37"/>
                </a:solidFill>
                <a:ea typeface="NanumGothic"/>
              </a:rPr>
              <a:t>Flirds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· Flirds-1st · loss-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heur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가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천장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(≈1.000) — </a:t>
            </a:r>
            <a:r>
              <a:rPr lang="en-US" sz="2000" b="1" i="0" dirty="0">
                <a:solidFill>
                  <a:srgbClr val="1F2A37"/>
                </a:solidFill>
                <a:ea typeface="NanumGothic"/>
              </a:rPr>
              <a:t>Exact </a:t>
            </a:r>
            <a:r>
              <a:rPr lang="en-US" sz="2000" b="1" i="0" dirty="0" err="1">
                <a:solidFill>
                  <a:srgbClr val="1F2A37"/>
                </a:solidFill>
                <a:ea typeface="NanumGothic"/>
              </a:rPr>
              <a:t>shapley</a:t>
            </a:r>
            <a:r>
              <a:rPr lang="en-US"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lang="en-US" sz="2000" b="1" i="0" dirty="0" err="1">
                <a:solidFill>
                  <a:srgbClr val="1F2A37"/>
                </a:solidFill>
                <a:ea typeface="NanumGothic"/>
              </a:rPr>
              <a:t>value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의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순위를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그대로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재현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965960"/>
          <a:ext cx="11384278" cy="2926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616"/>
                <a:gridCol w="1546777"/>
                <a:gridCol w="1546777"/>
                <a:gridCol w="1546777"/>
                <a:gridCol w="1546777"/>
                <a:gridCol w="1546777"/>
                <a:gridCol w="1546777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method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1B std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3B std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7B std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1B anchor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3B anchor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7B anchor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0.967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Flirds-1st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loss-heur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GTG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0.975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0.988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0.977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FedSV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0.910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0.952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0.968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0.933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ShapleyFL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0.194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0.227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0.406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0.833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FedIF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0.157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0.211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0.480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0.067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0.067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1338560" cy="6412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 dirty="0">
                <a:solidFill>
                  <a:srgbClr val="1F2A37"/>
                </a:solidFill>
                <a:latin typeface="+mj-lt"/>
                <a:ea typeface="NanumGothic"/>
              </a:rPr>
              <a:t>2nd-order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78992"/>
            <a:ext cx="11338560" cy="29892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b="0" i="0" dirty="0">
                <a:solidFill>
                  <a:srgbClr val="3C4654"/>
                </a:solidFill>
                <a:ea typeface="NanumGothic"/>
              </a:rPr>
              <a:t>2차 </a:t>
            </a:r>
            <a:r>
              <a:rPr b="0" i="0" dirty="0" err="1">
                <a:solidFill>
                  <a:srgbClr val="3C4654"/>
                </a:solidFill>
                <a:ea typeface="NanumGothic"/>
              </a:rPr>
              <a:t>항의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3C4654"/>
                </a:solidFill>
                <a:ea typeface="NanumGothic"/>
              </a:rPr>
              <a:t>효과는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3C4654"/>
                </a:solidFill>
                <a:ea typeface="NanumGothic"/>
              </a:rPr>
              <a:t>변위가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 큰 </a:t>
            </a:r>
            <a:r>
              <a:rPr b="0" i="0" dirty="0" err="1">
                <a:solidFill>
                  <a:srgbClr val="3C4654"/>
                </a:solidFill>
                <a:ea typeface="NanumGothic"/>
              </a:rPr>
              <a:t>무대에서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3C4654"/>
                </a:solidFill>
                <a:ea typeface="NanumGothic"/>
              </a:rPr>
              <a:t>드러난다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 (</a:t>
            </a:r>
            <a:r>
              <a:rPr b="0" i="0" dirty="0" err="1">
                <a:solidFill>
                  <a:srgbClr val="3C4654"/>
                </a:solidFill>
                <a:ea typeface="NanumGothic"/>
              </a:rPr>
              <a:t>LLM은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 near-</a:t>
            </a:r>
            <a:r>
              <a:rPr b="0" i="0" dirty="0" err="1">
                <a:solidFill>
                  <a:srgbClr val="3C4654"/>
                </a:solidFill>
                <a:ea typeface="NanumGothic"/>
              </a:rPr>
              <a:t>additive로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 1·2차 </a:t>
            </a:r>
            <a:r>
              <a:rPr b="0" i="0" dirty="0" err="1">
                <a:solidFill>
                  <a:srgbClr val="3C4654"/>
                </a:solidFill>
                <a:ea typeface="NanumGothic"/>
              </a:rPr>
              <a:t>포화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28800"/>
            <a:ext cx="11155680" cy="33342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 dirty="0">
                <a:solidFill>
                  <a:srgbClr val="33475B"/>
                </a:solidFill>
                <a:ea typeface="NanumGothic"/>
              </a:rPr>
              <a:t>CNN fidelity — </a:t>
            </a:r>
            <a:r>
              <a:rPr sz="2000" b="1" i="0" dirty="0" err="1">
                <a:solidFill>
                  <a:srgbClr val="33475B"/>
                </a:solidFill>
                <a:ea typeface="NanumGothic"/>
              </a:rPr>
              <a:t>Flirds</a:t>
            </a:r>
            <a:r>
              <a:rPr sz="2000" b="1" i="0" dirty="0">
                <a:solidFill>
                  <a:srgbClr val="33475B"/>
                </a:solidFill>
                <a:ea typeface="NanumGothic"/>
              </a:rPr>
              <a:t>(1차+2차) vs Flirds-1st, vs (b) </a:t>
            </a:r>
            <a:r>
              <a:rPr sz="2000" b="1" i="0" dirty="0" err="1">
                <a:solidFill>
                  <a:srgbClr val="33475B"/>
                </a:solidFill>
                <a:ea typeface="NanumGothic"/>
              </a:rPr>
              <a:t>오라클</a:t>
            </a:r>
            <a:r>
              <a:rPr sz="2000" b="1" i="0" dirty="0">
                <a:solidFill>
                  <a:srgbClr val="33475B"/>
                </a:solidFill>
                <a:ea typeface="NanumGothic"/>
              </a:rPr>
              <a:t> Spearman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240280"/>
          <a:ext cx="11384278" cy="1737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3984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73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873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11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CNN 시나리오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Flirds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Flirds-1st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차이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cifar10 / iid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+0.41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cifar10 / feature_noise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+0.11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mnist / label_skew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+0.10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pool 평균 (10×3 seed)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0.919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0.832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+0.087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02920" y="4434840"/>
            <a:ext cx="11155680" cy="1280160"/>
          </a:xfrm>
          <a:prstGeom prst="roundRect">
            <a:avLst>
              <a:gd name="adj" fmla="val 6000"/>
            </a:avLst>
          </a:prstGeom>
          <a:solidFill>
            <a:srgbClr val="F7ECE8"/>
          </a:solidFill>
          <a:ln w="9525">
            <a:solidFill>
              <a:srgbClr val="E3C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" name="TextBox 6"/>
          <p:cNvSpPr txBox="1"/>
          <p:nvPr/>
        </p:nvSpPr>
        <p:spPr>
          <a:xfrm>
            <a:off x="777240" y="4663440"/>
            <a:ext cx="10607040" cy="8140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 dirty="0">
                <a:solidFill>
                  <a:srgbClr val="B85042"/>
                </a:solidFill>
                <a:ea typeface="NanumGothic"/>
              </a:rPr>
              <a:t>poison(clean-</a:t>
            </a:r>
            <a:r>
              <a:rPr sz="2000" b="1" i="0" dirty="0" err="1">
                <a:solidFill>
                  <a:srgbClr val="B85042"/>
                </a:solidFill>
                <a:ea typeface="NanumGothic"/>
              </a:rPr>
              <a:t>보존</a:t>
            </a:r>
            <a:r>
              <a:rPr sz="2000" b="1" i="0" dirty="0">
                <a:solidFill>
                  <a:srgbClr val="B85042"/>
                </a:solidFill>
                <a:ea typeface="NanumGothic"/>
              </a:rPr>
              <a:t> backdoor) </a:t>
            </a:r>
            <a:r>
              <a:rPr sz="2000" b="1" i="0" dirty="0" err="1">
                <a:solidFill>
                  <a:srgbClr val="B85042"/>
                </a:solidFill>
                <a:ea typeface="NanumGothic"/>
              </a:rPr>
              <a:t>탐지</a:t>
            </a:r>
            <a:r>
              <a:rPr sz="2000" b="1" i="0" dirty="0">
                <a:solidFill>
                  <a:srgbClr val="B85042"/>
                </a:solidFill>
                <a:ea typeface="NanumGothic"/>
              </a:rPr>
              <a:t> — LLM 1B, cross-silo N=5</a:t>
            </a:r>
          </a:p>
          <a:p>
            <a:pPr algn="l">
              <a:lnSpc>
                <a:spcPct val="135000"/>
              </a:lnSpc>
            </a:pPr>
            <a:r>
              <a:rPr sz="2000" b="0" i="0" dirty="0" err="1">
                <a:solidFill>
                  <a:srgbClr val="222222"/>
                </a:solidFill>
                <a:ea typeface="NanumGothic"/>
              </a:rPr>
              <a:t>Flirds</a:t>
            </a:r>
            <a:r>
              <a:rPr sz="2000" b="0" i="0" dirty="0">
                <a:solidFill>
                  <a:srgbClr val="222222"/>
                </a:solidFill>
                <a:ea typeface="NanumGothic"/>
              </a:rPr>
              <a:t>(2차) AUROC 0.917  vs  Flirds-1st 0.000 (</a:t>
            </a:r>
            <a:r>
              <a:rPr sz="2000" b="0" i="0" dirty="0" err="1">
                <a:solidFill>
                  <a:srgbClr val="222222"/>
                </a:solidFill>
                <a:ea typeface="NanumGothic"/>
              </a:rPr>
              <a:t>완전</a:t>
            </a:r>
            <a:r>
              <a:rPr sz="2000"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sz="2000" b="0" i="0" dirty="0" err="1">
                <a:solidFill>
                  <a:srgbClr val="222222"/>
                </a:solidFill>
                <a:ea typeface="NanumGothic"/>
              </a:rPr>
              <a:t>회피</a:t>
            </a:r>
            <a:r>
              <a:rPr sz="2000" b="0" i="0" dirty="0">
                <a:solidFill>
                  <a:srgbClr val="222222"/>
                </a:solidFill>
                <a:ea typeface="NanumGothic"/>
              </a:rPr>
              <a:t>) → 2차 Hessian </a:t>
            </a:r>
            <a:r>
              <a:rPr sz="2000" b="0" i="0" dirty="0" err="1">
                <a:solidFill>
                  <a:srgbClr val="222222"/>
                </a:solidFill>
                <a:ea typeface="NanumGothic"/>
              </a:rPr>
              <a:t>항이</a:t>
            </a:r>
            <a:r>
              <a:rPr sz="2000"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sz="2000" b="0" i="0" dirty="0" err="1">
                <a:solidFill>
                  <a:srgbClr val="222222"/>
                </a:solidFill>
                <a:ea typeface="NanumGothic"/>
              </a:rPr>
              <a:t>부호를</a:t>
            </a:r>
            <a:r>
              <a:rPr sz="2000"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sz="2000" b="0" i="0" dirty="0" err="1">
                <a:solidFill>
                  <a:srgbClr val="222222"/>
                </a:solidFill>
                <a:ea typeface="NanumGothic"/>
              </a:rPr>
              <a:t>복원</a:t>
            </a:r>
            <a:endParaRPr sz="2000" b="0" i="0" dirty="0">
              <a:solidFill>
                <a:srgbClr val="222222"/>
              </a:solidFill>
              <a:ea typeface="NanumGothic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1338560" cy="6412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 dirty="0">
                <a:solidFill>
                  <a:srgbClr val="1F2A37"/>
                </a:solidFill>
                <a:latin typeface="+mj-lt"/>
                <a:ea typeface="NanumGothic"/>
              </a:rPr>
              <a:t>Cost &amp; Scalability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78992"/>
            <a:ext cx="11338560" cy="29892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b="0" i="0" dirty="0" err="1">
                <a:solidFill>
                  <a:srgbClr val="3C4654"/>
                </a:solidFill>
                <a:ea typeface="NanumGothic"/>
              </a:rPr>
              <a:t>라운드당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 HVP 1회 vs 2ᴺ </a:t>
            </a:r>
            <a:r>
              <a:rPr b="0" i="0" dirty="0" err="1">
                <a:solidFill>
                  <a:srgbClr val="3C4654"/>
                </a:solidFill>
                <a:ea typeface="NanumGothic"/>
              </a:rPr>
              <a:t>부분집합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3C4654"/>
                </a:solidFill>
                <a:ea typeface="NanumGothic"/>
              </a:rPr>
              <a:t>평가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.  LLM 1B cross-silo N=5 </a:t>
            </a:r>
            <a:r>
              <a:rPr b="0" i="0" dirty="0" err="1">
                <a:solidFill>
                  <a:srgbClr val="3C4654"/>
                </a:solidFill>
                <a:ea typeface="NanumGothic"/>
              </a:rPr>
              <a:t>런타임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920240"/>
          <a:ext cx="11384279" cy="24140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022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698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122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방법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런타임 (N=5, 1B)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성격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Flirds-1st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~35 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1차만 — 가장 쌈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 (1차+2차)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~107 s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추정기 본체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GTG / FedSV / ShapleyFL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~530 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부분집합 스윕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(b) in-run 정확 오라클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~530 s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정답(검증용)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Ripple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~4515 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최약·최고가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02920" y="4480560"/>
            <a:ext cx="11155680" cy="1188720"/>
          </a:xfrm>
          <a:prstGeom prst="roundRect">
            <a:avLst>
              <a:gd name="adj" fmla="val 6000"/>
            </a:avLst>
          </a:prstGeom>
          <a:solidFill>
            <a:srgbClr val="E6EFE6"/>
          </a:solidFill>
          <a:ln w="9525">
            <a:solidFill>
              <a:srgbClr val="C4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" name="TextBox 5"/>
          <p:cNvSpPr txBox="1"/>
          <p:nvPr/>
        </p:nvSpPr>
        <p:spPr>
          <a:xfrm>
            <a:off x="777240" y="4709160"/>
            <a:ext cx="10607040" cy="77675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2C5F2D"/>
                </a:solidFill>
                <a:ea typeface="NanumGothic"/>
              </a:rPr>
              <a:t>정확 오라클 대비 5~15× 저렴 + 대규모 단말 연합(N=100)까지 확장</a:t>
            </a:r>
          </a:p>
          <a:p>
            <a:pPr algn="l">
              <a:lnSpc>
                <a:spcPct val="135000"/>
              </a:lnSpc>
            </a:pPr>
            <a:r>
              <a:rPr b="0" i="0">
                <a:solidFill>
                  <a:srgbClr val="222222"/>
                </a:solidFill>
                <a:ea typeface="NanumGothic"/>
              </a:rPr>
              <a:t>N=100 cross-device에서도 Flirds vs per-round 오라클 Spearman +1.000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1338560" cy="6412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 dirty="0">
                <a:solidFill>
                  <a:srgbClr val="1F2A37"/>
                </a:solidFill>
                <a:latin typeface="+mj-lt"/>
                <a:ea typeface="NanumGothic"/>
              </a:rPr>
              <a:t>Robustness &amp;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78992"/>
            <a:ext cx="11338560" cy="29892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b="0" i="0">
                <a:solidFill>
                  <a:srgbClr val="3C4654"/>
                </a:solidFill>
                <a:ea typeface="NanumGothic"/>
              </a:rPr>
              <a:t>위협별 1명 오염 · AUROC = corrupt를 high-φ로 잡는 탐지력(↑) · 1B cross-silo N=5.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2286000"/>
          <a:ext cx="11384278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460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19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71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271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196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method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noisy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free-rider(rand)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free-rider(zero)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poison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 (1차+2차)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0.917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Flirds-1st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loss-heur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(b) oracle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FLDetector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0.750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0.750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STD-DAGMM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0.417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0.250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0.750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212080"/>
            <a:ext cx="11155680" cy="30264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0" i="0">
                <a:solidFill>
                  <a:srgbClr val="222222"/>
                </a:solidFill>
                <a:ea typeface="NanumGothic"/>
              </a:rPr>
              <a:t>noisy · free-rider 는 거의 AUROC 1.0.  poison(clean-보존 backdoor)이 분리점 — Flirds-1st 완전 회피, 2차가 버팀.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FFFFFF"/>
                </a:solidFill>
                <a:latin typeface="NanumGothic"/>
                <a:ea typeface="NanumGothic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611880"/>
            <a:ext cx="1051560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 dirty="0">
                <a:solidFill>
                  <a:srgbClr val="CADCFC"/>
                </a:solidFill>
                <a:latin typeface="NanumGothic"/>
                <a:ea typeface="NanumGothic"/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2A37"/>
                </a:solidFill>
                <a:latin typeface="NanumGothic"/>
                <a:ea typeface="NanumGothic"/>
              </a:rPr>
              <a:t>Fidelity (CNN)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78992"/>
            <a:ext cx="113385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3C4654"/>
                </a:solidFill>
                <a:latin typeface="NanumGothic"/>
                <a:ea typeface="NanumGothic"/>
              </a:rPr>
              <a:t>정답 = in-run 정확 오라클 (b) 대비만(재학습 오라클 제외) · cross-silo N=10 · 10 시나리오 × 3 seed pool · 값 클수록 충실(↑).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737360"/>
          <a:ext cx="11384279" cy="33192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74843"/>
                <a:gridCol w="2969812"/>
                <a:gridCol w="2969812"/>
                <a:gridCol w="2969812"/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method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유형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vs (b) Spearman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vs (b) Pearson ↑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ours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0.919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0.934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Flirds-1st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ours · 1차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0.832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0.853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loss-heur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heuristic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0.860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0.885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Banzhaf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exact semivalue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0.989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GTG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guided MC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0.569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0.612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FedSV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perm MC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0.401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0.410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ComFedSV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cross-device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0.348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0.328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ShapleyFL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surrogate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0.391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0.392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FedIF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influence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0.491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0.506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Ripple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sample-level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0.373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0.404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440680"/>
            <a:ext cx="111556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1F2A37"/>
                </a:solidFill>
                <a:latin typeface="NanumGothic"/>
                <a:ea typeface="NanumGothic"/>
              </a:rPr>
              <a:t>Banzhaf(exact semivalue) 최고 · Flirds 근접 2위. LLM과 달리 CNN은 clean에서도 큰 spread.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A7A7A"/>
                </a:solidFill>
                <a:latin typeface="NanumGothic"/>
                <a:ea typeface="NanumGothic"/>
              </a:rPr>
              <a:t>pool은 신호 없는 iid 칸 포함이라 보수적(iid 제외 시 Flirds 0.928).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920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2A37"/>
                </a:solidFill>
                <a:latin typeface="NanumGothic"/>
                <a:ea typeface="NanumGothic"/>
              </a:rPr>
              <a:t>Intervention: Contribution-weighted 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78992"/>
            <a:ext cx="113385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3C4654"/>
                </a:solidFill>
                <a:latin typeface="NanumGothic"/>
                <a:ea typeface="NanumGothic"/>
              </a:rPr>
              <a:t>온라인 점수기가 라운드별 기여도를 EMA 누적(s ← β·s + (1−β)·raw) → 다음 라운드 FedAvg 가중을 바꾼다.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2011680"/>
          <a:ext cx="1138428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5120640"/>
                <a:gridCol w="42519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arm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가중 규칙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점수원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vanilla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데이터 크기 n 가중 (기준)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—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flirds_w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곱셈   w ∝ n · s   (β=0.5)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 φ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flirds_sel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softmax(s/T)로 k명 선택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 φ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shapleyfl_w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교체   w ∝ s   (β=0.3)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per-round Shapley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fedif_w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교체   w ∝ s   (β=0.7)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1차 influence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983480"/>
            <a:ext cx="11155680" cy="8229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F2A37"/>
                </a:solidFill>
                <a:latin typeface="NanumGothic"/>
                <a:ea typeface="NanumGothic"/>
              </a:rPr>
              <a:t>기여도 점수 s를 학습 집계에 반영하는 방식. 각 baseline은 자기 논문 관행(가중식·점수원·β)을 그대로 사용 → 공정 비교.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222222"/>
                </a:solidFill>
                <a:latin typeface="NanumGothic"/>
                <a:ea typeface="NanumGothic"/>
              </a:rPr>
              <a:t>결합식 3종: 곱셈(n·s) · 교체(s) · 선택(softmax).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920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2A37"/>
                </a:solidFill>
                <a:latin typeface="NanumGothic"/>
                <a:ea typeface="NanumGothic"/>
              </a:rPr>
              <a:t>Performance — Aggregation (LLM)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78992"/>
            <a:ext cx="113385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3C4654"/>
                </a:solidFill>
                <a:latin typeface="NanumGothic"/>
                <a:ea typeface="NanumGothic"/>
              </a:rPr>
              <a:t>기여도 가중으로 학습 후 MMLU(↑) · ROUGE-L(↑) · std 스테이지 · 3-seed 평균.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2011680"/>
          <a:ext cx="11384276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21322"/>
                <a:gridCol w="1527159"/>
                <a:gridCol w="1527159"/>
                <a:gridCol w="1527159"/>
                <a:gridCol w="1527159"/>
                <a:gridCol w="1527159"/>
                <a:gridCol w="152715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arm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1B MMLU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1B ROUGE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3B MMLU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3B ROUGE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7B MMLU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7B ROUGE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base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0.482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0.217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0.623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0.222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0.418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0.150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vanilla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0.474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0.284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0.615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0.302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0.404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0.278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flirds_w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0.475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0.285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0.614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0.302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0.403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0.278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flirds_sel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0.474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0.284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0.614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0.303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0.403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0.279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shapleyfl_w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0.474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0.285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0.614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0.302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0.403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0.279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fedif_w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0.474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0.285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0.614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0.302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0.403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0.276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02920" y="4526280"/>
            <a:ext cx="11155680" cy="123444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736592"/>
            <a:ext cx="10607040" cy="8686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F2A37"/>
                </a:solidFill>
                <a:latin typeface="NanumGothic"/>
                <a:ea typeface="NanumGothic"/>
              </a:rPr>
              <a:t>개입 arm ≈ vanilla (±0.001~0.003) → clean-IID do-no-harm parity (향상이 아니라 무해함).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222222"/>
                </a:solidFill>
                <a:latin typeface="NanumGothic"/>
                <a:ea typeface="NanumGothic"/>
              </a:rPr>
              <a:t>학습 자체는 base 대비 ROUGE 크게↑(예: 1B 0.217→0.284), MMLU는 SFT 분포-밖이라 소폭↓.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51920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2A37"/>
                </a:solidFill>
                <a:latin typeface="NanumGothic"/>
                <a:ea typeface="NanumGothic"/>
              </a:rPr>
              <a:t>Performance — Aggregation (CNN)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78992"/>
            <a:ext cx="113385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3C4654"/>
                </a:solidFill>
                <a:latin typeface="NanumGothic"/>
                <a:ea typeface="NanumGothic"/>
              </a:rPr>
              <a:t>cross-device N=100, 라운드당 10% 참여 · 위협 그룹별 최종 test 정확도(↑) · 3-seed.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2011680"/>
          <a:ext cx="11384278" cy="24871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6966"/>
                <a:gridCol w="1997242"/>
                <a:gridCol w="2396690"/>
                <a:gridCol w="2396690"/>
                <a:gridCol w="239669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arm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clean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free-rider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grad_noise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label_flip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vanilla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0.686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0.646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0.499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0.583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flirds_mult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0.698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0.662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0.609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0.626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flirds_repl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0.734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0.704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0.621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0.652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flirds_add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0.733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0.702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0.604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0.635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shapleyfl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0.702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0.645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0.645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0.622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fedif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0.685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0.654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0.624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0.623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sfedavg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0.695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0.655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0.510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0.598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983480"/>
            <a:ext cx="11155680" cy="8229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1F2A37"/>
                </a:solidFill>
                <a:latin typeface="NanumGothic"/>
                <a:ea typeface="NanumGothic"/>
              </a:rPr>
              <a:t>오염(grad_noise · label_flip)에서 기여도-가중이 정확도를 회복(grad_noise 0.499 → 0.62+); clean은 parity~소폭↑.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7A7A7A"/>
                </a:solidFill>
                <a:latin typeface="NanumGothic"/>
                <a:ea typeface="NanumGothic"/>
              </a:rPr>
              <a:t>flirds_repl/add는 크기-skew(dir1) 전용 arm. arm 중 항상 최강은 아님(grad_noise는 shapleyfl 0.645).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920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7315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F2A37"/>
                </a:solidFill>
                <a:latin typeface="NanumGothic"/>
                <a:ea typeface="NanumGothic"/>
              </a:rPr>
              <a:t>Convergence — rounds-to-target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78992"/>
            <a:ext cx="113385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3C4654"/>
                </a:solidFill>
                <a:latin typeface="NanumGothic"/>
                <a:ea typeface="NanumGothic"/>
              </a:rPr>
              <a:t>목표 정확도/손실에 도달한 라운드(↓). 효과는 오염·대형 모델에서 두드러짐.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2103120"/>
          <a:ext cx="11384277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437939"/>
                <a:gridCol w="2218969"/>
                <a:gridCol w="2218969"/>
                <a:gridCol w="25084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설정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vanilla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flirds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효과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LLM 7B std (rounds-to-val-loss)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184.7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153.0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~17% ↓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CNN grad_noise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27.2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6.3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크게 ↓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CNN free-rider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41.2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7.7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크게 ↓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LLM 1B / 3B std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~199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~195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≈ 동률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754880"/>
            <a:ext cx="11155680" cy="8229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F2A37"/>
                </a:solidFill>
                <a:latin typeface="NanumGothic"/>
                <a:ea typeface="NanumGothic"/>
              </a:rPr>
              <a:t>clean-IID는 거의 동률; 오염·대형(7B)에서 기여도-가중이 도달을 앞당김 (단 7B는 seed std 겹침).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22222"/>
                </a:solidFill>
                <a:latin typeface="NanumGothic"/>
                <a:ea typeface="NanumGothic"/>
              </a:rPr>
              <a:t>flirds = 곱셈/교체 가중(설정별 최적 arm).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920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737</Words>
  <Application>Microsoft Office PowerPoint</Application>
  <PresentationFormat>와이드스크린</PresentationFormat>
  <Paragraphs>193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7" baseType="lpstr">
      <vt:lpstr>NanumGothic</vt:lpstr>
      <vt:lpstr>Arial</vt:lpstr>
      <vt:lpstr>Calibri</vt:lpstr>
      <vt:lpstr>Cambria Math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최용희</cp:lastModifiedBy>
  <cp:revision>3</cp:revision>
  <dcterms:created xsi:type="dcterms:W3CDTF">2013-01-27T09:14:16Z</dcterms:created>
  <dcterms:modified xsi:type="dcterms:W3CDTF">2026-06-30T12:57:36Z</dcterms:modified>
  <cp:category/>
</cp:coreProperties>
</file>