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10972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NanumGothic"/>
                <a:ea typeface="NanumGothic"/>
              </a:rPr>
              <a:t>Flirds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971800"/>
            <a:ext cx="1051560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CADCFC"/>
                </a:solidFill>
                <a:latin typeface="NanumGothic"/>
                <a:ea typeface="NanumGothic"/>
              </a:rPr>
              <a:t>Federated Learning + In-Run Data Shapley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1051560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NanumGothic"/>
                <a:ea typeface="NanumGothic"/>
              </a:rPr>
              <a:t>연합학습 한 학습 궤적에서 client-level 데이터 기여도를 추정한다.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852160"/>
            <a:ext cx="105156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ADCFC"/>
                </a:solidFill>
                <a:latin typeface="NanumGothic"/>
                <a:ea typeface="NanumGothic"/>
              </a:rPr>
              <a:t>세미나 발표 · 2026-06-30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2A37"/>
                </a:solidFill>
                <a:latin typeface="NanumGothic"/>
                <a:ea typeface="NanumGothic"/>
              </a:rPr>
              <a:t>Outline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713232" cy="548640"/>
          </a:xfrm>
          <a:prstGeom prst="roundRect">
            <a:avLst>
              <a:gd name="adj" fmla="val 6000"/>
            </a:avLst>
          </a:prstGeom>
          <a:solidFill>
            <a:srgbClr val="33475B"/>
          </a:solidFill>
          <a:ln w="9525">
            <a:solidFill>
              <a:srgbClr val="334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713232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NanumGothic"/>
                <a:ea typeface="NanumGothi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554480"/>
            <a:ext cx="9601200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2A37"/>
                </a:solidFill>
                <a:latin typeface="NanumGothic"/>
                <a:ea typeface="NanumGothic"/>
              </a:rPr>
              <a:t>Motivation &amp; Problem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12848"/>
            <a:ext cx="713232" cy="548640"/>
          </a:xfrm>
          <a:prstGeom prst="roundRect">
            <a:avLst>
              <a:gd name="adj" fmla="val 6000"/>
            </a:avLst>
          </a:prstGeom>
          <a:solidFill>
            <a:srgbClr val="33475B"/>
          </a:solidFill>
          <a:ln w="9525">
            <a:solidFill>
              <a:srgbClr val="334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12848"/>
            <a:ext cx="713232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NanumGothic"/>
                <a:ea typeface="Nanum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212848"/>
            <a:ext cx="9601200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2A37"/>
                </a:solidFill>
                <a:latin typeface="NanumGothic"/>
                <a:ea typeface="NanumGothic"/>
              </a:rPr>
              <a:t>Data Shapley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71215"/>
            <a:ext cx="713232" cy="548640"/>
          </a:xfrm>
          <a:prstGeom prst="roundRect">
            <a:avLst>
              <a:gd name="adj" fmla="val 6000"/>
            </a:avLst>
          </a:prstGeom>
          <a:solidFill>
            <a:srgbClr val="33475B"/>
          </a:solidFill>
          <a:ln w="9525">
            <a:solidFill>
              <a:srgbClr val="334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871215"/>
            <a:ext cx="713232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NanumGothic"/>
                <a:ea typeface="NanumGothic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871215"/>
            <a:ext cx="9601200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2A37"/>
                </a:solidFill>
                <a:latin typeface="NanumGothic"/>
                <a:ea typeface="NanumGothic"/>
              </a:rPr>
              <a:t>In-Run Data Shapley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9583"/>
            <a:ext cx="713232" cy="548640"/>
          </a:xfrm>
          <a:prstGeom prst="roundRect">
            <a:avLst>
              <a:gd name="adj" fmla="val 6000"/>
            </a:avLst>
          </a:prstGeom>
          <a:solidFill>
            <a:srgbClr val="33475B"/>
          </a:solidFill>
          <a:ln w="9525">
            <a:solidFill>
              <a:srgbClr val="334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529583"/>
            <a:ext cx="713232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NanumGothic"/>
                <a:ea typeface="NanumGothic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529583"/>
            <a:ext cx="9601200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2A37"/>
                </a:solidFill>
                <a:latin typeface="NanumGothic"/>
                <a:ea typeface="NanumGothic"/>
              </a:rPr>
              <a:t>Flirds: FL Adaptation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87951"/>
            <a:ext cx="713232" cy="548640"/>
          </a:xfrm>
          <a:prstGeom prst="roundRect">
            <a:avLst>
              <a:gd name="adj" fmla="val 6000"/>
            </a:avLst>
          </a:prstGeom>
          <a:solidFill>
            <a:srgbClr val="33475B"/>
          </a:solidFill>
          <a:ln w="9525">
            <a:solidFill>
              <a:srgbClr val="334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87951"/>
            <a:ext cx="713232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NanumGothic"/>
                <a:ea typeface="NanumGothic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187951"/>
            <a:ext cx="9601200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2A37"/>
                </a:solidFill>
                <a:latin typeface="NanumGothic"/>
                <a:ea typeface="NanumGothic"/>
              </a:rPr>
              <a:t>Approximation Error Analysis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46319"/>
            <a:ext cx="713232" cy="548640"/>
          </a:xfrm>
          <a:prstGeom prst="roundRect">
            <a:avLst>
              <a:gd name="adj" fmla="val 6000"/>
            </a:avLst>
          </a:prstGeom>
          <a:solidFill>
            <a:srgbClr val="33475B"/>
          </a:solidFill>
          <a:ln w="9525">
            <a:solidFill>
              <a:srgbClr val="334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846319"/>
            <a:ext cx="713232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NanumGothic"/>
                <a:ea typeface="NanumGothic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846319"/>
            <a:ext cx="9601200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2A37"/>
                </a:solidFill>
                <a:latin typeface="NanumGothic"/>
                <a:ea typeface="NanumGothic"/>
              </a:rPr>
              <a:t>Results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04687"/>
            <a:ext cx="713232" cy="548640"/>
          </a:xfrm>
          <a:prstGeom prst="roundRect">
            <a:avLst>
              <a:gd name="adj" fmla="val 6000"/>
            </a:avLst>
          </a:prstGeom>
          <a:solidFill>
            <a:srgbClr val="33475B"/>
          </a:solidFill>
          <a:ln w="9525">
            <a:solidFill>
              <a:srgbClr val="334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504687"/>
            <a:ext cx="713232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NanumGothic"/>
                <a:ea typeface="NanumGothic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504687"/>
            <a:ext cx="9601200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2A37"/>
                </a:solidFill>
                <a:latin typeface="NanumGothic"/>
                <a:ea typeface="NanumGothic"/>
              </a:rPr>
              <a:t>Novelty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2A37"/>
                </a:solidFill>
                <a:latin typeface="NanumGothic"/>
                <a:ea typeface="NanumGothic"/>
              </a:rPr>
              <a:t>Motivation &amp;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484632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33475B"/>
                </a:solidFill>
                <a:latin typeface="NanumGothic"/>
                <a:ea typeface="NanumGothic"/>
              </a:rPr>
              <a:t>필요성 (Why)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4846320" cy="2926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F2A37"/>
                </a:solidFill>
                <a:latin typeface="NanumGothic"/>
                <a:ea typeface="NanumGothic"/>
              </a:rPr>
              <a:t>• 불량 클라이언트 식별·가중·배제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   라벨 오류·노이즈·free-rider(무임승차) 등을 모두 포함</a:t>
            </a:r>
          </a:p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22222"/>
                </a:solidFill>
                <a:latin typeface="NanumGothic"/>
                <a:ea typeface="NanumGothi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F2A37"/>
                </a:solidFill>
                <a:latin typeface="NanumGothic"/>
                <a:ea typeface="NanumGothic"/>
              </a:rPr>
              <a:t>• 기여 비례 보상·인센티브 분배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   데이터 시장·연합 컨소시엄의 핵심 동기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78308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2057400"/>
            <a:ext cx="475488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C5F2D"/>
                </a:solidFill>
                <a:latin typeface="NanumGothic"/>
                <a:ea typeface="NanumGothic"/>
              </a:rPr>
              <a:t>문제 정의 (Our Problem)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788920"/>
            <a:ext cx="4754880" cy="2926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1F2A37"/>
                </a:solidFill>
                <a:latin typeface="NanumGothic"/>
                <a:ea typeface="NanumGothic"/>
              </a:rPr>
              <a:t>• FL에서 데이터 기여도를 평가</a:t>
            </a:r>
          </a:p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1F2A37"/>
                </a:solidFill>
                <a:latin typeface="NanumGothic"/>
                <a:ea typeface="NanumGothic"/>
              </a:rPr>
              <a:t>• 클라이언트 단위로 평가</a:t>
            </a:r>
          </a:p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1F2A37"/>
                </a:solidFill>
                <a:latin typeface="NanumGothic"/>
                <a:ea typeface="NanumGothic"/>
              </a:rPr>
              <a:t>• Shapley value를 정확하고 효율적으로 추정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222222"/>
                </a:solidFill>
                <a:latin typeface="NanumGothic"/>
                <a:ea typeface="NanumGothi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C5F2D"/>
                </a:solidFill>
                <a:latin typeface="NanumGothic"/>
                <a:ea typeface="NanumGothic"/>
              </a:rPr>
              <a:t>→ 추가 통신 없이, 한 학습 궤적만으로.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2A37"/>
                </a:solidFill>
                <a:latin typeface="NanumGothic"/>
                <a:ea typeface="NanumGothic"/>
              </a:rPr>
              <a:t>Data Shapley</a:t>
            </a:r>
          </a:p>
        </p:txBody>
      </p:sp>
      <p:pic>
        <p:nvPicPr>
          <p:cNvPr id="3" name="Picture 2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4889" y="2103120"/>
            <a:ext cx="6841916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383280"/>
            <a:ext cx="1033272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2222"/>
                </a:solidFill>
                <a:latin typeface="NanumGothic"/>
                <a:ea typeface="NanumGothic"/>
              </a:rPr>
              <a:t>각 데이터의 가치 = 모든 조합에서의 한계기여 U(S∪{i})−U(S) 의 평균.  U(S) = S로 학습한 모델의 검증 성능.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4297680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68880" y="4526280"/>
            <a:ext cx="7223760" cy="8229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B85042"/>
                </a:solidFill>
                <a:latin typeface="NanumGothic"/>
                <a:ea typeface="NanumGothic"/>
              </a:rPr>
              <a:t>한계: 부분집합마다 모델 재학습 필요 → 2ⁿ 비용</a:t>
            </a:r>
          </a:p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대형 모델에선 비현실적 → In-Run으로 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2A37"/>
                </a:solidFill>
                <a:latin typeface="NanumGothic"/>
                <a:ea typeface="NanumGothic"/>
              </a:rPr>
              <a:t>In-Run Data Shapley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F2A37"/>
                </a:solidFill>
                <a:latin typeface="NanumGothic"/>
                <a:ea typeface="NanumGothic"/>
              </a:rPr>
              <a:t>재학습 없이, 실제로 진행된 한 학습 과정 안에서 스텝별 기여를 누적한다.</a:t>
            </a:r>
          </a:p>
        </p:txBody>
      </p:sp>
      <p:pic>
        <p:nvPicPr>
          <p:cNvPr id="4" name="Picture 3" descr="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3590" y="2697480"/>
            <a:ext cx="1984513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4023360"/>
            <a:ext cx="1033272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22222"/>
                </a:solidFill>
                <a:latin typeface="NanumGothic"/>
                <a:ea typeface="NanumGothic"/>
              </a:rPr>
              <a:t>스텝 t의 기여 φᵢ⁽ᵗ⁾ 를 학습 전 구간에 걸쳐 합산.  비용 ≈ 학습 1회.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2A37"/>
                </a:solidFill>
                <a:latin typeface="NanumGothic"/>
                <a:ea typeface="NanumGothic"/>
              </a:rPr>
              <a:t>Taylor Expansion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4114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C4654"/>
                </a:solidFill>
                <a:latin typeface="NanumGothic"/>
                <a:ea typeface="NanumGothic"/>
              </a:rPr>
              <a:t>스텝 효용 변화 U(θₜ₊₁)−U(θₜ) 를 데이터에 대해 Taylor 전개 → 스텝별 닫힌형 Shapley.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5486400" cy="283464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484632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33475B"/>
                </a:solidFill>
                <a:latin typeface="NanumGothic"/>
                <a:ea typeface="NanumGothic"/>
              </a:rPr>
              <a:t>1차항</a:t>
            </a:r>
          </a:p>
        </p:txBody>
      </p:sp>
      <p:pic>
        <p:nvPicPr>
          <p:cNvPr id="6" name="Picture 5" descr="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280" y="3017520"/>
            <a:ext cx="251968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886199"/>
            <a:ext cx="484632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검증 gradient와 데이터 gradient의 내적 (방향 일치도)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011680"/>
            <a:ext cx="5394960" cy="283464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75488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33475B"/>
                </a:solidFill>
                <a:latin typeface="NanumGothic"/>
                <a:ea typeface="NanumGothic"/>
              </a:rPr>
              <a:t>2차항</a:t>
            </a:r>
          </a:p>
        </p:txBody>
      </p:sp>
      <p:pic>
        <p:nvPicPr>
          <p:cNvPr id="10" name="Picture 9" descr="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7543" y="3017520"/>
            <a:ext cx="2087154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0" y="3886199"/>
            <a:ext cx="475488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곡률(Hessian) 반영 → 데이터 상호작용·중복 포착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2A37"/>
                </a:solidFill>
                <a:latin typeface="NanumGothic"/>
                <a:ea typeface="NanumGothic"/>
              </a:rPr>
              <a:t>Federated Learning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74519"/>
            <a:ext cx="3108960" cy="128016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30551"/>
            <a:ext cx="274320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F2A37"/>
                </a:solidFill>
                <a:latin typeface="NanumGothic"/>
                <a:ea typeface="NanumGothic"/>
              </a:rPr>
              <a:t>서버 모델  wʳ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24327"/>
            <a:ext cx="27432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전체에 배포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749040" y="2331719"/>
            <a:ext cx="365760" cy="365760"/>
          </a:xfrm>
          <a:prstGeom prst="rightArrow">
            <a:avLst/>
          </a:prstGeom>
          <a:solidFill>
            <a:srgbClr val="334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0" y="1874519"/>
            <a:ext cx="3108960" cy="1280160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2130551"/>
            <a:ext cx="274320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F2A37"/>
                </a:solidFill>
                <a:latin typeface="NanumGothic"/>
                <a:ea typeface="NanumGothic"/>
              </a:rPr>
              <a:t>클라이언트 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624327"/>
            <a:ext cx="27432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로컬 학습 → Δwₖ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223760" y="2331719"/>
            <a:ext cx="365760" cy="365760"/>
          </a:xfrm>
          <a:prstGeom prst="rightArrow">
            <a:avLst/>
          </a:prstGeom>
          <a:solidFill>
            <a:srgbClr val="334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89520" y="1874519"/>
            <a:ext cx="3108960" cy="128016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130551"/>
            <a:ext cx="274320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F2A37"/>
                </a:solidFill>
                <a:latin typeface="NanumGothic"/>
                <a:ea typeface="NanumGothic"/>
              </a:rPr>
              <a:t>서버 집계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624327"/>
            <a:ext cx="27432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wʳ⁺¹</a:t>
            </a:r>
          </a:p>
        </p:txBody>
      </p:sp>
      <p:pic>
        <p:nvPicPr>
          <p:cNvPr id="14" name="Picture 13" descr="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9910" y="3657600"/>
            <a:ext cx="3211874" cy="685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400" y="4663440"/>
            <a:ext cx="1033272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C5F2D"/>
                </a:solidFill>
                <a:latin typeface="NanumGothic"/>
                <a:ea typeface="NanumGothic"/>
              </a:rPr>
              <a:t>서버가 받는 것 = 클라이언트 업데이트 Δwₖ 뿐 → Flirds의 유일한 입력 (추가 통신 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2A37"/>
                </a:solidFill>
                <a:latin typeface="NanumGothic"/>
                <a:ea typeface="NanumGothic"/>
              </a:rPr>
              <a:t>Flirds: FL Adaptation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11155680" cy="713232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828800" cy="71323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3475B"/>
                </a:solidFill>
                <a:latin typeface="NanumGothic"/>
                <a:ea typeface="NanumGothic"/>
              </a:rPr>
              <a:t>(a) 단위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1691640"/>
            <a:ext cx="8778240" cy="71323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222"/>
                </a:solidFill>
                <a:latin typeface="NanumGothic"/>
                <a:ea typeface="NanumGothic"/>
              </a:rPr>
              <a:t>데이터포인트 → 클라이언트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51176"/>
            <a:ext cx="11155680" cy="713232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51176"/>
            <a:ext cx="1828800" cy="71323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3475B"/>
                </a:solidFill>
                <a:latin typeface="NanumGothic"/>
                <a:ea typeface="NanumGothic"/>
              </a:rPr>
              <a:t>(b) 분해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2551176"/>
            <a:ext cx="8778240" cy="71323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222"/>
                </a:solidFill>
                <a:latin typeface="NanumGothic"/>
                <a:ea typeface="NanumGothic"/>
              </a:rPr>
              <a:t>스텝 → 라운드  (라운드당 HVP 1회)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10712"/>
            <a:ext cx="11155680" cy="713232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410712"/>
            <a:ext cx="1828800" cy="71323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3475B"/>
                </a:solidFill>
                <a:latin typeface="NanumGothic"/>
                <a:ea typeface="NanumGothic"/>
              </a:rPr>
              <a:t>(c) 게임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10712"/>
            <a:ext cx="8778240" cy="713232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222"/>
                </a:solidFill>
                <a:latin typeface="NanumGothic"/>
                <a:ea typeface="NanumGothic"/>
              </a:rPr>
              <a:t>효용 = 검증 손실 · 곡률 = true Hessian · SGD momentum=0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361688"/>
            <a:ext cx="11155680" cy="1325880"/>
          </a:xfrm>
          <a:prstGeom prst="roundRect">
            <a:avLst>
              <a:gd name="adj" fmla="val 6000"/>
            </a:avLst>
          </a:prstGeom>
          <a:solidFill>
            <a:srgbClr val="1F2A37"/>
          </a:solidFill>
          <a:ln w="9525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667" y="4562856"/>
            <a:ext cx="8026360" cy="566928"/>
          </a:xfrm>
          <a:prstGeom prst="rect">
            <a:avLst/>
          </a:prstGeom>
        </p:spPr>
      </p:pic>
      <p:pic>
        <p:nvPicPr>
          <p:cNvPr id="14" name="Picture 13" descr="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7779" y="5257800"/>
            <a:ext cx="776136" cy="3291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2A37"/>
                </a:solidFill>
                <a:latin typeface="NanumGothic"/>
                <a:ea typeface="NanumGothic"/>
              </a:rPr>
              <a:t>Approximation Error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4114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C4654"/>
                </a:solidFill>
                <a:latin typeface="NanumGothic"/>
                <a:ea typeface="NanumGothic"/>
              </a:rPr>
              <a:t>Taylor 잔차는 변위 크기에 좌우된다 — IRDS와 FL은 변위 규모가 다르다.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5486400" cy="246888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40280"/>
            <a:ext cx="4937760" cy="20116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33475B"/>
                </a:solidFill>
                <a:latin typeface="NanumGothic"/>
                <a:ea typeface="NanumGothic"/>
              </a:rPr>
              <a:t>IRDS — 중앙집중 per-step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222222"/>
                </a:solidFill>
                <a:latin typeface="NanumGothic"/>
                <a:ea typeface="NanumGothic"/>
              </a:rPr>
              <a:t>• 변위 ‖Δθ‖ 작음 (작은 한 스텝)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222222"/>
                </a:solidFill>
                <a:latin typeface="NanumGothic"/>
                <a:ea typeface="NanumGothic"/>
              </a:rPr>
              <a:t>• 1차 잔차 O(‖Δθ‖²) → 이미 작음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222222"/>
                </a:solidFill>
                <a:latin typeface="NanumGothic"/>
                <a:ea typeface="NanumGothic"/>
              </a:rPr>
              <a:t>• 2차 항 역할 미미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2011680"/>
            <a:ext cx="5394960" cy="2468880"/>
          </a:xfrm>
          <a:prstGeom prst="roundRect">
            <a:avLst>
              <a:gd name="adj" fmla="val 6000"/>
            </a:avLst>
          </a:prstGeom>
          <a:solidFill>
            <a:srgbClr val="F7ECE8"/>
          </a:solidFill>
          <a:ln w="9525">
            <a:solidFill>
              <a:srgbClr val="E3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2240280"/>
            <a:ext cx="4846320" cy="20116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B85042"/>
                </a:solidFill>
                <a:latin typeface="NanumGothic"/>
                <a:ea typeface="NanumGothic"/>
              </a:rPr>
              <a:t>FL — 라운드당 multi-step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222222"/>
                </a:solidFill>
                <a:latin typeface="NanumGothic"/>
                <a:ea typeface="NanumGothic"/>
              </a:rPr>
              <a:t>• 변위 ‖Δw_round‖ ≫ per-step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222222"/>
                </a:solidFill>
                <a:latin typeface="NanumGothic"/>
                <a:ea typeface="NanumGothic"/>
              </a:rPr>
              <a:t>• 1차 잔차 O(‖Δw_round‖²) 커짐</a:t>
            </a:r>
          </a:p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1F2A37"/>
                </a:solidFill>
                <a:latin typeface="NanumGothic"/>
                <a:ea typeface="NanumGothic"/>
              </a:rPr>
              <a:t>• 2차(Hessian) 항으로 잔차 ↓</a:t>
            </a:r>
          </a:p>
        </p:txBody>
      </p:sp>
      <p:pic>
        <p:nvPicPr>
          <p:cNvPr id="8" name="Picture 7" descr="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0720" y="4709160"/>
            <a:ext cx="5510254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2A37"/>
                </a:solidFill>
                <a:latin typeface="NanumGothic"/>
                <a:ea typeface="NanumGothic"/>
              </a:rPr>
              <a:t>Fidelity (LLM)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4114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C4654"/>
                </a:solidFill>
                <a:latin typeface="NanumGothic"/>
                <a:ea typeface="NanumGothic"/>
              </a:rPr>
              <a:t>정답 = in-run 정확 오라클 (b) 대비 Spearman (↑). LoRA · 3-seed.  std=N20·2/round, anchor=N5·full.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2240280"/>
          <a:ext cx="11384276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57021"/>
                <a:gridCol w="1797517"/>
                <a:gridCol w="1797517"/>
                <a:gridCol w="1797517"/>
                <a:gridCol w="1917352"/>
                <a:gridCol w="1917352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std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3B std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7B std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anchor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7B anchor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0.975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0.977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FedSV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0.952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0.194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0.227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0.833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0.157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0.211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0.480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0.067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440680"/>
            <a:ext cx="1115568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2A37"/>
                </a:solidFill>
                <a:latin typeface="NanumGothic"/>
                <a:ea typeface="NanumGothic"/>
              </a:rPr>
              <a:t>Flirds · Flirds-1st · loss-heur 가 천장(≈1.000) — 정확 오라클의 순위를 그대로 재현.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2A37"/>
                </a:solidFill>
                <a:latin typeface="NanumGothic"/>
                <a:ea typeface="NanumGothic"/>
              </a:rPr>
              <a:t>2nd-order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4114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C4654"/>
                </a:solidFill>
                <a:latin typeface="NanumGothic"/>
                <a:ea typeface="NanumGothic"/>
              </a:rPr>
              <a:t>2차 항의 효과는 변위가 큰 무대에서 드러난다 (LLM은 near-additive로 1·2차 포화).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1115568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33475B"/>
                </a:solidFill>
                <a:latin typeface="NanumGothic"/>
                <a:ea typeface="NanumGothic"/>
              </a:rPr>
              <a:t>CNN fidelity — Flirds(1차+2차) vs Flirds-1st, vs (b) 오라클 Spearman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40280"/>
          <a:ext cx="11384278" cy="1737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398471"/>
                <a:gridCol w="2587336"/>
                <a:gridCol w="2587336"/>
                <a:gridCol w="1811135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CNN 시나리오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차이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cifar10 / iid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+0.41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cifar10 / feature_noise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+0.11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mnist / label_skew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+0.10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pool 평균 (10×3 seed)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0.832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+0.087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434840"/>
            <a:ext cx="11155680" cy="1280160"/>
          </a:xfrm>
          <a:prstGeom prst="roundRect">
            <a:avLst>
              <a:gd name="adj" fmla="val 6000"/>
            </a:avLst>
          </a:prstGeom>
          <a:solidFill>
            <a:srgbClr val="F7ECE8"/>
          </a:solidFill>
          <a:ln w="9525">
            <a:solidFill>
              <a:srgbClr val="E3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663440"/>
            <a:ext cx="10607040" cy="8229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85042"/>
                </a:solidFill>
                <a:latin typeface="NanumGothic"/>
                <a:ea typeface="NanumGothic"/>
              </a:rPr>
              <a:t>poison(clean-보존 backdoor) 탐지 — LLM 1B, cross-silo N=5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222222"/>
                </a:solidFill>
                <a:latin typeface="NanumGothic"/>
                <a:ea typeface="NanumGothic"/>
              </a:rPr>
              <a:t>Flirds(2차) AUROC 0.917  vs  Flirds-1st 0.000 (완전 회피) → 2차 Hessian 항이 부호를 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2A37"/>
                </a:solidFill>
                <a:latin typeface="NanumGothic"/>
                <a:ea typeface="NanumGothic"/>
              </a:rPr>
              <a:t>Cost &amp;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4114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C4654"/>
                </a:solidFill>
                <a:latin typeface="NanumGothic"/>
                <a:ea typeface="NanumGothic"/>
              </a:rPr>
              <a:t>라운드당 HVP 1회 vs 2ᴺ 부분집합 평가.  LLM 1B cross-silo N=5 런타임.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920240"/>
          <a:ext cx="11384279" cy="24140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02202"/>
                <a:gridCol w="2969812"/>
                <a:gridCol w="3712265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방법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런타임 (N=5, 1B)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성격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~35 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1차만 — 가장 쌈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 (1차+2차)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~107 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추정기 본체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 / FedSV / ShapleyFL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~530 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부분집합 스윕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(b) in-run 정확 오라클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~530 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정답(검증용)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Ripple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~4515 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최약·최고가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4480560"/>
            <a:ext cx="11155680" cy="1188720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709160"/>
            <a:ext cx="10607040" cy="8229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2C5F2D"/>
                </a:solidFill>
                <a:latin typeface="NanumGothic"/>
                <a:ea typeface="NanumGothic"/>
              </a:rPr>
              <a:t>정확 오라클 대비 5~15× 저렴 + 대규모 단말 연합(N=100)까지 확장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222222"/>
                </a:solidFill>
                <a:latin typeface="NanumGothic"/>
                <a:ea typeface="NanumGothic"/>
              </a:rPr>
              <a:t>N=100 cross-device에서도 Flirds vs per-round 오라클 Spearman +1.000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2A37"/>
                </a:solidFill>
                <a:latin typeface="NanumGothic"/>
                <a:ea typeface="NanumGothic"/>
              </a:rPr>
              <a:t>Robustness &amp;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4114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C4654"/>
                </a:solidFill>
                <a:latin typeface="NanumGothic"/>
                <a:ea typeface="NanumGothic"/>
              </a:rPr>
              <a:t>위협별 1명 오염 · AUROC = corrupt를 high-φ로 잡는 탐지력(↑) · 1B cross-silo N=5.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2286000"/>
          <a:ext cx="11384278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46070"/>
                <a:gridCol w="1641963"/>
                <a:gridCol w="2627141"/>
                <a:gridCol w="2627141"/>
                <a:gridCol w="1641963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noisy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free-rider(rand)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free-rider(zero)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poison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 (1차+2차)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(b) oracle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FLDetector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STD-DAGMM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0.417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0.250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212080"/>
            <a:ext cx="1115568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222"/>
                </a:solidFill>
                <a:latin typeface="NanumGothic"/>
                <a:ea typeface="NanumGothic"/>
              </a:rPr>
              <a:t>noisy · free-rider 는 거의 AUROC 1.0.  poison(clean-보존 backdoor)이 분리점 — Flirds-1st 완전 회피, 2차가 버팀.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2A37"/>
                </a:solidFill>
                <a:latin typeface="NanumGothic"/>
                <a:ea typeface="NanumGothic"/>
              </a:rPr>
              <a:t>Novelty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4114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C4654"/>
                </a:solidFill>
                <a:latin typeface="NanumGothic"/>
                <a:ea typeface="NanumGothic"/>
              </a:rPr>
              <a:t>아래 6가지 속성을 동시에 만족하는 방법이 선행 연구에 없다 — 그 교집합이 novelty.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8600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3154680" cy="10058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2C5F2D"/>
                </a:solidFill>
                <a:latin typeface="NanumGothic"/>
                <a:ea typeface="NanumGothic"/>
              </a:rPr>
              <a:t>client-level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28600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2286000"/>
            <a:ext cx="3154680" cy="10058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2C5F2D"/>
                </a:solidFill>
                <a:latin typeface="NanumGothic"/>
                <a:ea typeface="NanumGothic"/>
              </a:rPr>
              <a:t>in-run (재학습 없음)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28600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154680" cy="10058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2C5F2D"/>
                </a:solidFill>
                <a:latin typeface="NanumGothic"/>
                <a:ea typeface="NanumGothic"/>
              </a:rPr>
              <a:t>닫힌형 1차+2차 Taylor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66160"/>
            <a:ext cx="3154680" cy="10058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2C5F2D"/>
                </a:solidFill>
                <a:latin typeface="NanumGothic"/>
                <a:ea typeface="NanumGothic"/>
              </a:rPr>
              <a:t>2차 HVP 상호작용 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56616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3566160"/>
            <a:ext cx="3154680" cy="10058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2C5F2D"/>
                </a:solidFill>
                <a:latin typeface="NanumGothic"/>
                <a:ea typeface="NanumGothic"/>
              </a:rPr>
              <a:t>추가 통신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6616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566160"/>
            <a:ext cx="3154680" cy="10058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2C5F2D"/>
                </a:solidFill>
                <a:latin typeface="NanumGothic"/>
                <a:ea typeface="NanumGothic"/>
              </a:rPr>
              <a:t>LoRA · LLM 스케일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2A37"/>
                </a:solidFill>
                <a:latin typeface="NanumGothic"/>
                <a:ea typeface="NanumGothic"/>
              </a:rPr>
              <a:t>Limitation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11155680" cy="310896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15600" cy="2560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1" i="0">
                <a:solidFill>
                  <a:srgbClr val="33475B"/>
                </a:solidFill>
                <a:latin typeface="NanumGothic"/>
                <a:ea typeface="NanumGothic"/>
              </a:rPr>
              <a:t>clean-preserving backdoor</a:t>
            </a:r>
          </a:p>
          <a:p>
            <a:pPr algn="l">
              <a:lnSpc>
                <a:spcPct val="145000"/>
              </a:lnSpc>
            </a:pPr>
            <a:r>
              <a:rPr sz="800" b="0" i="0">
                <a:solidFill>
                  <a:srgbClr val="222222"/>
                </a:solidFill>
                <a:latin typeface="NanumGothic"/>
                <a:ea typeface="NanumGothic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222222"/>
                </a:solidFill>
                <a:latin typeface="NanumGothic"/>
                <a:ea typeface="NanumGothic"/>
              </a:rPr>
              <a:t>• clean 검증 손실을 실제로 낮추는 공격자 → valuation은 정직하게 '기여 높음'으로 평가.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222222"/>
                </a:solidFill>
                <a:latin typeface="NanumGothic"/>
                <a:ea typeface="NanumGothic"/>
              </a:rPr>
              <a:t>• 즉 탐지 실패가 아니라, 검증 손실을 게임 효용으로 쓴 정의상 옳은 답.</a:t>
            </a:r>
          </a:p>
          <a:p>
            <a:pPr algn="l">
              <a:lnSpc>
                <a:spcPct val="145000"/>
              </a:lnSpc>
            </a:pPr>
            <a:r>
              <a:rPr sz="1500" b="1" i="0">
                <a:solidFill>
                  <a:srgbClr val="1F2A37"/>
                </a:solidFill>
                <a:latin typeface="NanumGothic"/>
                <a:ea typeface="NanumGothic"/>
              </a:rPr>
              <a:t>• 기여도(valuation) ≠ 오염 탐지(detection) — 방법론의 일관된 경계.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222222"/>
                </a:solidFill>
                <a:latin typeface="NanumGothic"/>
                <a:ea typeface="NanumGothic"/>
              </a:rPr>
              <a:t>• 조건부 경계(큰 scaled-update × 큰 모델) → 상보적 탐지기가 필요한 지점.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NanumGothic"/>
                <a:ea typeface="NanumGothic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611880"/>
            <a:ext cx="1051560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CADCFC"/>
                </a:solidFill>
                <a:latin typeface="NanumGothic"/>
                <a:ea typeface="NanumGothic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