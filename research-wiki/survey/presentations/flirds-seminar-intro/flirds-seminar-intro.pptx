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73" r:id="rId7"/>
    <p:sldId id="274" r:id="rId8"/>
    <p:sldId id="275" r:id="rId9"/>
    <p:sldId id="263" r:id="rId10"/>
    <p:sldId id="264" r:id="rId11"/>
    <p:sldId id="265" r:id="rId12"/>
    <p:sldId id="272" r:id="rId13"/>
    <p:sldId id="266" r:id="rId14"/>
    <p:sldId id="267" r:id="rId15"/>
    <p:sldId id="268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04131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 dirty="0" err="1">
                <a:solidFill>
                  <a:srgbClr val="FFFFFF"/>
                </a:solidFill>
                <a:latin typeface="+mj-lt"/>
                <a:ea typeface="NanumGothic"/>
              </a:rPr>
              <a:t>Flirds</a:t>
            </a:r>
            <a:endParaRPr sz="6600" b="1" i="0" dirty="0">
              <a:solidFill>
                <a:srgbClr val="FFFFFF"/>
              </a:solidFill>
              <a:latin typeface="+mj-lt"/>
              <a:ea typeface="Nanum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1051560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CADCFC"/>
                </a:solidFill>
                <a:ea typeface="NanumGothic"/>
              </a:rPr>
              <a:t>Federated</a:t>
            </a:r>
            <a:r>
              <a:rPr sz="3200" b="1" i="0" dirty="0">
                <a:solidFill>
                  <a:srgbClr val="CADCFC"/>
                </a:solidFill>
                <a:latin typeface="NanumGothic"/>
                <a:ea typeface="NanumGothic"/>
              </a:rPr>
              <a:t> Learning + In-Run Data Shapley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52160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CADCFC"/>
                </a:solidFill>
                <a:ea typeface="NanumGothic"/>
              </a:rPr>
              <a:t>2026-06-30</a:t>
            </a:r>
            <a:endParaRPr lang="en-US" b="1" i="0" dirty="0">
              <a:solidFill>
                <a:srgbClr val="CADCFC"/>
              </a:solidFill>
              <a:ea typeface="NanumGothic"/>
            </a:endParaRPr>
          </a:p>
          <a:p>
            <a:pPr algn="l">
              <a:lnSpc>
                <a:spcPct val="100000"/>
              </a:lnSpc>
            </a:pPr>
            <a:r>
              <a:rPr lang="en-US" b="1" i="0" dirty="0">
                <a:solidFill>
                  <a:srgbClr val="CADCFC"/>
                </a:solidFill>
                <a:ea typeface="NanumGothic"/>
              </a:rPr>
              <a:t>Edge AI Lab </a:t>
            </a:r>
            <a:r>
              <a:rPr lang="ko-KR" altLang="en-US" b="1" i="0" dirty="0">
                <a:solidFill>
                  <a:srgbClr val="CADCFC"/>
                </a:solidFill>
                <a:ea typeface="NanumGothic"/>
              </a:rPr>
              <a:t>최용희</a:t>
            </a:r>
            <a:endParaRPr b="1" i="0" dirty="0">
              <a:solidFill>
                <a:srgbClr val="CADCFC"/>
              </a:solidFill>
              <a:ea typeface="Nanum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Motivation &amp;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484632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33475B"/>
                </a:solidFill>
                <a:ea typeface="NanumGothic"/>
              </a:rPr>
              <a:t>필요성</a:t>
            </a:r>
            <a:endParaRPr sz="2800" b="1" i="0" dirty="0">
              <a:solidFill>
                <a:srgbClr val="33475B"/>
              </a:solidFill>
              <a:ea typeface="Nanum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4846320" cy="18024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기여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비례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보상·인센티브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분배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25000"/>
              </a:lnSpc>
            </a:pPr>
            <a:r>
              <a:rPr b="0" i="0" dirty="0">
                <a:solidFill>
                  <a:srgbClr val="222222"/>
                </a:solidFill>
                <a:ea typeface="NanumGothic"/>
              </a:rPr>
              <a:t>  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시장·연합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컨소시엄의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핵심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동기</a:t>
            </a:r>
            <a:endParaRPr lang="en-US" b="0" i="0" dirty="0">
              <a:solidFill>
                <a:srgbClr val="222222"/>
              </a:solidFill>
              <a:ea typeface="NanumGothic"/>
            </a:endParaRPr>
          </a:p>
          <a:p>
            <a:pPr algn="l">
              <a:lnSpc>
                <a:spcPct val="125000"/>
              </a:lnSpc>
            </a:pPr>
            <a:endParaRPr lang="en-US" dirty="0">
              <a:solidFill>
                <a:srgbClr val="222222"/>
              </a:solidFill>
              <a:ea typeface="NanumGothic"/>
            </a:endParaRPr>
          </a:p>
          <a:p>
            <a:pPr>
              <a:lnSpc>
                <a:spcPct val="125000"/>
              </a:lnSpc>
            </a:pP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• 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불량 클라이언트 식별</a:t>
            </a: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·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가중</a:t>
            </a: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·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배제</a:t>
            </a:r>
          </a:p>
          <a:p>
            <a:pPr>
              <a:lnSpc>
                <a:spcPct val="125000"/>
              </a:lnSpc>
            </a:pPr>
            <a:r>
              <a:rPr lang="ko-KR" altLang="en-US" dirty="0">
                <a:solidFill>
                  <a:srgbClr val="222222"/>
                </a:solidFill>
                <a:ea typeface="NanumGothic"/>
              </a:rPr>
              <a:t>   라벨 오류</a:t>
            </a:r>
            <a:r>
              <a:rPr lang="en-US" altLang="ko-KR" dirty="0">
                <a:solidFill>
                  <a:srgbClr val="222222"/>
                </a:solidFill>
                <a:ea typeface="NanumGothic"/>
              </a:rPr>
              <a:t>·</a:t>
            </a:r>
            <a:r>
              <a:rPr lang="ko-KR" altLang="en-US" dirty="0">
                <a:solidFill>
                  <a:srgbClr val="222222"/>
                </a:solidFill>
                <a:ea typeface="NanumGothic"/>
              </a:rPr>
              <a:t>노이즈</a:t>
            </a:r>
            <a:r>
              <a:rPr lang="en-US" altLang="ko-KR" dirty="0">
                <a:solidFill>
                  <a:srgbClr val="222222"/>
                </a:solidFill>
                <a:ea typeface="NanumGothic"/>
              </a:rPr>
              <a:t>·</a:t>
            </a:r>
            <a:r>
              <a:rPr lang="en-US" altLang="ko-KR" dirty="0" err="1">
                <a:solidFill>
                  <a:srgbClr val="222222"/>
                </a:solidFill>
                <a:ea typeface="NanumGothic"/>
              </a:rPr>
              <a:t>free-rider·backdoor</a:t>
            </a:r>
            <a:r>
              <a:rPr lang="ko-KR" altLang="en-US" dirty="0">
                <a:solidFill>
                  <a:srgbClr val="222222"/>
                </a:solidFill>
                <a:ea typeface="NanumGothic"/>
              </a:rPr>
              <a:t> 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7830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2057400"/>
            <a:ext cx="475488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2C5F2D"/>
                </a:solidFill>
                <a:ea typeface="NanumGothic"/>
              </a:rPr>
              <a:t>문제</a:t>
            </a:r>
            <a:r>
              <a:rPr sz="2800" b="1" i="0" dirty="0">
                <a:solidFill>
                  <a:srgbClr val="2C5F2D"/>
                </a:solidFill>
                <a:ea typeface="NanumGothic"/>
              </a:rPr>
              <a:t> </a:t>
            </a:r>
            <a:r>
              <a:rPr sz="2800" b="1" i="0" dirty="0" err="1">
                <a:solidFill>
                  <a:srgbClr val="2C5F2D"/>
                </a:solidFill>
                <a:ea typeface="NanumGothic"/>
              </a:rPr>
              <a:t>정의</a:t>
            </a:r>
            <a:endParaRPr sz="2800" b="1" i="0" dirty="0">
              <a:solidFill>
                <a:srgbClr val="2C5F2D"/>
              </a:solidFill>
              <a:ea typeface="Nanum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3680" y="2788920"/>
            <a:ext cx="4754880" cy="13605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FL에서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데이터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기여도를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평가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클라이언트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단위로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평가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Shapley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value를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정확하고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효율적으로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추정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Data Shapley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14400" y="3383280"/>
                <a:ext cx="10332720" cy="894860"/>
              </a:xfrm>
              <a:prstGeom prst="rect">
                <a:avLst/>
              </a:prstGeom>
              <a:noFill/>
            </p:spPr>
            <p:txBody>
              <a:bodyPr wrap="square" lIns="25400" tIns="12700" rIns="25400" bIns="12700" anchor="t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sz="2000" dirty="0">
                    <a:solidFill>
                      <a:srgbClr val="222222"/>
                    </a:solidFill>
                    <a:ea typeface="NanumGothic"/>
                  </a:rPr>
                  <a:t>Shapley value(</a:t>
                </a:r>
                <a:r>
                  <a:rPr lang="el-GR" sz="2000" dirty="0">
                    <a:solidFill>
                      <a:srgbClr val="222222"/>
                    </a:solidFill>
                    <a:ea typeface="NanumGothic"/>
                  </a:rPr>
                  <a:t>Φ</a:t>
                </a:r>
                <a:r>
                  <a:rPr lang="en-US" sz="2000" dirty="0">
                    <a:solidFill>
                      <a:srgbClr val="222222"/>
                    </a:solidFill>
                    <a:ea typeface="NanumGothic"/>
                  </a:rPr>
                  <a:t>) 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=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모든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조합에서의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한계기여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})−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의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평균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.</a:t>
                </a:r>
                <a:endParaRPr lang="en-US" sz="2000" b="0" i="0" dirty="0">
                  <a:solidFill>
                    <a:srgbClr val="222222"/>
                  </a:solidFill>
                  <a:ea typeface="NanumGothic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U</a:t>
                </a:r>
                <a:r>
                  <a:rPr lang="en-US" sz="2000" b="0" i="0" dirty="0">
                    <a:solidFill>
                      <a:srgbClr val="222222"/>
                    </a:solidFill>
                    <a:ea typeface="NanumGothic"/>
                  </a:rPr>
                  <a:t>tility(U)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=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S로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학습한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모델의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검증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성능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383280"/>
                <a:ext cx="10332720" cy="894860"/>
              </a:xfrm>
              <a:prstGeom prst="rect">
                <a:avLst/>
              </a:prstGeom>
              <a:blipFill>
                <a:blip r:embed="rId2"/>
                <a:stretch>
                  <a:fillRect b="-156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2194560" y="460248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2468880" y="4780280"/>
            <a:ext cx="7223760" cy="83099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 dirty="0" err="1">
                <a:solidFill>
                  <a:srgbClr val="B85042"/>
                </a:solidFill>
                <a:ea typeface="NanumGothic"/>
              </a:rPr>
              <a:t>한계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: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부분집합마다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모델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재학습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필요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→ 2ⁿ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비용</a:t>
            </a:r>
            <a:endParaRPr sz="2400" b="1" i="0" dirty="0">
              <a:solidFill>
                <a:srgbClr val="B85042"/>
              </a:solidFill>
              <a:ea typeface="NanumGothic"/>
            </a:endParaRPr>
          </a:p>
          <a:p>
            <a:pPr algn="ctr">
              <a:lnSpc>
                <a:spcPct val="13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대형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모델에선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비현실적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In-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Run으로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해결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36EDC02-26FC-843A-81F9-80F94E032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26" y="1868353"/>
            <a:ext cx="10850489" cy="7430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F24B4A5-AB78-ABE9-E350-B0A5C50AAD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20" y="2644610"/>
            <a:ext cx="1669163" cy="376320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0252E635-1949-32CA-6FBE-D49337C0590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51793" y="2632743"/>
            <a:ext cx="188160" cy="1610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In-Run Data Shapley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 err="1">
                <a:solidFill>
                  <a:srgbClr val="1F2A37"/>
                </a:solidFill>
                <a:ea typeface="NanumGothic"/>
              </a:rPr>
              <a:t>재학습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없이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,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실제로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진행된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한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학습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과정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안에서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스텝별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기여를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누적한다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640" y="4318466"/>
            <a:ext cx="1033272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t의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ea typeface="NanumGothic"/>
              </a:rPr>
              <a:t>기여도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를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학습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전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구간에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걸쳐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합산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. 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비용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≈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학습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1회.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4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27B7AD-BC6B-0C2B-F9D0-E629BAF15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678" y="2960158"/>
            <a:ext cx="4914644" cy="64259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E1F15DC-1D7C-58D2-8467-018267CF0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5074113"/>
            <a:ext cx="8392696" cy="7049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Taylor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326479"/>
            <a:ext cx="11338560" cy="32932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 err="1">
                <a:solidFill>
                  <a:srgbClr val="3C4654"/>
                </a:solidFill>
                <a:ea typeface="NanumGothic"/>
              </a:rPr>
              <a:t>스텝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효용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변화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U(θₜ₊₁)−U(θₜ) 를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데이터에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대해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Taylor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전개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→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스텝별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닫힌형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Shapley.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5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499CA5D-C53B-789A-CBF1-F8672BA94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2332650"/>
            <a:ext cx="11029950" cy="169641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AAA4AD-5D8A-C9B0-558B-C007FBAB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122" y="2377793"/>
            <a:ext cx="2697569" cy="410596"/>
          </a:xfrm>
          <a:prstGeom prst="rect">
            <a:avLst/>
          </a:prstGeom>
        </p:spPr>
      </p:pic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37B7FB4E-10A6-3DDF-665D-09C4B223CC22}"/>
              </a:ext>
            </a:extLst>
          </p:cNvPr>
          <p:cNvCxnSpPr>
            <a:cxnSpLocks/>
          </p:cNvCxnSpPr>
          <p:nvPr/>
        </p:nvCxnSpPr>
        <p:spPr>
          <a:xfrm flipV="1">
            <a:off x="8414832" y="2609992"/>
            <a:ext cx="226159" cy="178397"/>
          </a:xfrm>
          <a:prstGeom prst="bentConnector3">
            <a:avLst>
              <a:gd name="adj1" fmla="val 334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C13DC016-09A2-77FF-9F06-584DFACE0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9981" y="3944164"/>
            <a:ext cx="2495819" cy="27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730AD83-E338-E212-FB38-26E66E97C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890" y="4417222"/>
            <a:ext cx="736616" cy="3794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A85D73-FEC4-29E1-BA76-49262126BBEF}"/>
                  </a:ext>
                </a:extLst>
              </p:cNvPr>
              <p:cNvSpPr txBox="1"/>
              <p:nvPr/>
            </p:nvSpPr>
            <p:spPr>
              <a:xfrm>
                <a:off x="10420450" y="4367889"/>
                <a:ext cx="4700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∝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A85D73-FEC4-29E1-BA76-49262126B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0450" y="4367889"/>
                <a:ext cx="4700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A437C-E6B2-8984-DE11-6909B75A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BC0B13-7255-707B-CBFB-51EB2293D628}"/>
              </a:ext>
            </a:extLst>
          </p:cNvPr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Taylor Expansion</a:t>
            </a:r>
            <a:r>
              <a:rPr lang="en-US" sz="4000" b="1" i="0" dirty="0">
                <a:solidFill>
                  <a:srgbClr val="1F2A37"/>
                </a:solidFill>
                <a:latin typeface="+mj-lt"/>
                <a:ea typeface="NanumGothic"/>
              </a:rPr>
              <a:t> – 1st</a:t>
            </a:r>
            <a:endParaRPr sz="4000" b="1" i="0" dirty="0">
              <a:solidFill>
                <a:srgbClr val="1F2A37"/>
              </a:solidFill>
              <a:latin typeface="+mj-lt"/>
              <a:ea typeface="Nanum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424AE1-B078-0725-0C4D-7BF3AE7F08AF}"/>
              </a:ext>
            </a:extLst>
          </p:cNvPr>
          <p:cNvSpPr txBox="1"/>
          <p:nvPr/>
        </p:nvSpPr>
        <p:spPr>
          <a:xfrm>
            <a:off x="11753617" y="6510528"/>
            <a:ext cx="2551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6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34DA309-5471-4B14-9BB0-671FD0214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55" y="1918610"/>
            <a:ext cx="8203294" cy="76030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AFD92BA-D17B-74D2-2E42-B324A37B5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51" y="4329333"/>
            <a:ext cx="3861690" cy="119639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989593A-9880-11BA-F39A-21C283D578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255" y="3089276"/>
            <a:ext cx="8927083" cy="93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276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09743-76E9-38BC-5429-0EC7511A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E51B81-498D-7A82-F20D-7EC4A356BFA8}"/>
              </a:ext>
            </a:extLst>
          </p:cNvPr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Taylor Expansion</a:t>
            </a:r>
            <a:r>
              <a:rPr lang="en-US" sz="4000" b="1" i="0" dirty="0">
                <a:solidFill>
                  <a:srgbClr val="1F2A37"/>
                </a:solidFill>
                <a:latin typeface="+mj-lt"/>
                <a:ea typeface="NanumGothic"/>
              </a:rPr>
              <a:t> – 2nd</a:t>
            </a:r>
            <a:endParaRPr sz="4000" b="1" i="0" dirty="0">
              <a:solidFill>
                <a:srgbClr val="1F2A37"/>
              </a:solidFill>
              <a:latin typeface="+mj-lt"/>
              <a:ea typeface="Nanum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1A4CF4-DC51-308B-B205-5DCAED4EACFF}"/>
              </a:ext>
            </a:extLst>
          </p:cNvPr>
          <p:cNvSpPr txBox="1"/>
          <p:nvPr/>
        </p:nvSpPr>
        <p:spPr>
          <a:xfrm>
            <a:off x="11753617" y="6510528"/>
            <a:ext cx="2551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7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29615D5-9766-434A-636A-3BD6235B7B6B}"/>
              </a:ext>
            </a:extLst>
          </p:cNvPr>
          <p:cNvGrpSpPr/>
          <p:nvPr/>
        </p:nvGrpSpPr>
        <p:grpSpPr>
          <a:xfrm>
            <a:off x="1165082" y="1364353"/>
            <a:ext cx="8213868" cy="787485"/>
            <a:chOff x="1165082" y="1612857"/>
            <a:chExt cx="8213868" cy="78748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BBE8BD28-539F-4A0E-E398-CA20139C9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65082" y="1612857"/>
              <a:ext cx="1316577" cy="787485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5018F4C-5872-6928-E212-6C3D8790E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63222" y="1682676"/>
              <a:ext cx="6315728" cy="565972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E392F7C1-1028-B717-E330-EF0020176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93248" y="1934268"/>
              <a:ext cx="350316" cy="256482"/>
            </a:xfrm>
            <a:prstGeom prst="rect">
              <a:avLst/>
            </a:prstGeom>
          </p:spPr>
        </p:pic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1E7CF16F-B7F6-283B-6FF0-BC99C6C85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24" y="2471725"/>
            <a:ext cx="10746293" cy="16875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C9AE361-3A70-1B6E-7293-0DF64718E5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465" y="4011582"/>
            <a:ext cx="2231078" cy="392593"/>
          </a:xfrm>
          <a:prstGeom prst="rect">
            <a:avLst/>
          </a:prstGeom>
        </p:spPr>
      </p:pic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EFE00972-DC5E-D204-B1E9-24F04467F3DE}"/>
              </a:ext>
            </a:extLst>
          </p:cNvPr>
          <p:cNvCxnSpPr>
            <a:cxnSpLocks/>
          </p:cNvCxnSpPr>
          <p:nvPr/>
        </p:nvCxnSpPr>
        <p:spPr>
          <a:xfrm>
            <a:off x="8719632" y="4061464"/>
            <a:ext cx="226159" cy="195571"/>
          </a:xfrm>
          <a:prstGeom prst="bentConnector3">
            <a:avLst>
              <a:gd name="adj1" fmla="val 507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6E19DCB3-22C9-F8AA-B71F-B741E0258E1D}"/>
              </a:ext>
            </a:extLst>
          </p:cNvPr>
          <p:cNvCxnSpPr>
            <a:cxnSpLocks/>
          </p:cNvCxnSpPr>
          <p:nvPr/>
        </p:nvCxnSpPr>
        <p:spPr>
          <a:xfrm flipV="1">
            <a:off x="9714953" y="2471725"/>
            <a:ext cx="226159" cy="178397"/>
          </a:xfrm>
          <a:prstGeom prst="bentConnector3">
            <a:avLst>
              <a:gd name="adj1" fmla="val 334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그림 24">
            <a:extLst>
              <a:ext uri="{FF2B5EF4-FFF2-40B4-BE49-F238E27FC236}">
                <a16:creationId xmlns:a16="http://schemas.microsoft.com/office/drawing/2014/main" id="{05937C25-4E14-35B6-D65D-D53ECD703C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2087" y="2281880"/>
            <a:ext cx="1487764" cy="30830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5E5BDC2-AB8F-F994-522E-AC7E9DEB4D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5082" y="4687579"/>
            <a:ext cx="8263158" cy="141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404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48429-3DA6-0F21-8FE0-C1FBA2B06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0F3A7A-2427-B111-5FB9-71C5348FAD37}"/>
              </a:ext>
            </a:extLst>
          </p:cNvPr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i="0" dirty="0">
                <a:solidFill>
                  <a:srgbClr val="1F2A37"/>
                </a:solidFill>
                <a:latin typeface="+mj-lt"/>
                <a:ea typeface="NanumGothic"/>
              </a:rPr>
              <a:t>Closed-form Shapely value</a:t>
            </a:r>
            <a:endParaRPr sz="4000" b="1" i="0" dirty="0">
              <a:solidFill>
                <a:srgbClr val="1F2A37"/>
              </a:solidFill>
              <a:latin typeface="+mj-lt"/>
              <a:ea typeface="Nanum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438541-68A7-21A3-1C60-3B43DC5B5FB8}"/>
              </a:ext>
            </a:extLst>
          </p:cNvPr>
          <p:cNvSpPr txBox="1"/>
          <p:nvPr/>
        </p:nvSpPr>
        <p:spPr>
          <a:xfrm>
            <a:off x="11753617" y="6510528"/>
            <a:ext cx="2551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7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F177D5-4DA8-F7EA-64EB-D2CE1B29A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6095"/>
            <a:ext cx="12192000" cy="15073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45594" y="4487306"/>
            <a:ext cx="3991806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검증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gradient와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gradient의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내적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37400" y="4963039"/>
            <a:ext cx="4904349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곡률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(Hessian)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반영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상호작용·중복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포착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78142" y="3767917"/>
            <a:ext cx="920481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33475B"/>
                </a:solidFill>
                <a:ea typeface="NanumGothic"/>
              </a:rPr>
              <a:t>1차항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2667" y="4243650"/>
            <a:ext cx="1012874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33475B"/>
                </a:solidFill>
                <a:ea typeface="NanumGothic"/>
              </a:rPr>
              <a:t>2차항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66C12FE-DE1D-DEE1-D086-0324AE5B4F70}"/>
              </a:ext>
            </a:extLst>
          </p:cNvPr>
          <p:cNvSpPr/>
          <p:nvPr/>
        </p:nvSpPr>
        <p:spPr>
          <a:xfrm>
            <a:off x="3870092" y="2574485"/>
            <a:ext cx="1609958" cy="454465"/>
          </a:xfrm>
          <a:prstGeom prst="roundRect">
            <a:avLst>
              <a:gd name="adj" fmla="val 26448"/>
            </a:avLst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C2AF1CC-FDDF-951A-8709-A3619AD8D958}"/>
              </a:ext>
            </a:extLst>
          </p:cNvPr>
          <p:cNvSpPr/>
          <p:nvPr/>
        </p:nvSpPr>
        <p:spPr>
          <a:xfrm>
            <a:off x="8704633" y="2298700"/>
            <a:ext cx="3337116" cy="1079500"/>
          </a:xfrm>
          <a:prstGeom prst="roundRect">
            <a:avLst>
              <a:gd name="adj" fmla="val 29977"/>
            </a:avLst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8859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 err="1">
                <a:solidFill>
                  <a:srgbClr val="1F2A37"/>
                </a:solidFill>
                <a:latin typeface="+mj-lt"/>
                <a:ea typeface="NanumGothic"/>
              </a:rPr>
              <a:t>Flirds</a:t>
            </a: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: FL Adaptation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8160" y="1697299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792480" y="1902591"/>
            <a:ext cx="182880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33475B"/>
                </a:solidFill>
                <a:ea typeface="NanumGothic"/>
              </a:rPr>
              <a:t>(a) 단위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02591"/>
            <a:ext cx="877824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데이터포인트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클라이언트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8160" y="2618379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92480" y="2823671"/>
            <a:ext cx="182880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33475B"/>
                </a:solidFill>
                <a:ea typeface="NanumGothic"/>
              </a:rPr>
              <a:t>(b) 분해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2823671"/>
            <a:ext cx="877824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라운드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 (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라운드당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HVP 1회)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60" y="3575719"/>
            <a:ext cx="11155680" cy="2083074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3" name="Picture 12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160" y="3821025"/>
            <a:ext cx="10097679" cy="713232"/>
          </a:xfrm>
          <a:prstGeom prst="rect">
            <a:avLst/>
          </a:prstGeom>
        </p:spPr>
      </p:pic>
      <p:pic>
        <p:nvPicPr>
          <p:cNvPr id="14" name="Picture 13" descr="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5186" y="4804085"/>
            <a:ext cx="1681628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753617" y="6510528"/>
            <a:ext cx="2551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8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7027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 dirty="0">
                <a:solidFill>
                  <a:srgbClr val="1F2A37"/>
                </a:solidFill>
                <a:latin typeface="+mj-lt"/>
                <a:ea typeface="NanumGothic"/>
              </a:rPr>
              <a:t>Approximation Error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74288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777240" y="2002888"/>
            <a:ext cx="4937760" cy="15246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dirty="0">
                <a:solidFill>
                  <a:srgbClr val="33475B"/>
                </a:solidFill>
                <a:ea typeface="NanumGothic"/>
              </a:rPr>
              <a:t>IRDS — </a:t>
            </a:r>
            <a:r>
              <a:rPr lang="en-US" sz="2000" b="1" dirty="0">
                <a:solidFill>
                  <a:srgbClr val="33475B"/>
                </a:solidFill>
                <a:ea typeface="NanumGothic"/>
              </a:rPr>
              <a:t>Centralized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 per-step</a:t>
            </a:r>
            <a:r>
              <a:rPr lang="en-US" sz="2000" b="1" i="0" dirty="0">
                <a:solidFill>
                  <a:srgbClr val="33475B"/>
                </a:solidFill>
                <a:ea typeface="NanumGothic"/>
              </a:rPr>
              <a:t> per-sample</a:t>
            </a:r>
            <a:endParaRPr sz="2000" b="1" i="0" dirty="0">
              <a:solidFill>
                <a:srgbClr val="33475B"/>
              </a:solidFill>
              <a:ea typeface="NanumGothic"/>
            </a:endParaRP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ea typeface="NanumGothic"/>
              </a:rPr>
              <a:t>• ‖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Δθ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‖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작음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(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작은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한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ea typeface="NanumGothic"/>
              </a:rPr>
              <a:t>• 1차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잔차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O(‖Δθ‖²)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이미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작음</a:t>
            </a:r>
            <a:endParaRPr b="0" i="0" dirty="0">
              <a:solidFill>
                <a:srgbClr val="222222"/>
              </a:solidFill>
              <a:ea typeface="NanumGothic"/>
            </a:endParaRP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ea typeface="NanumGothic"/>
              </a:rPr>
              <a:t>• 2차 항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역할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미미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63640" y="1774288"/>
            <a:ext cx="5394960" cy="246888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537960" y="2002888"/>
                <a:ext cx="4846320" cy="1576394"/>
              </a:xfrm>
              <a:prstGeom prst="rect">
                <a:avLst/>
              </a:prstGeom>
              <a:noFill/>
            </p:spPr>
            <p:txBody>
              <a:bodyPr wrap="square" lIns="25400" tIns="12700" rIns="25400" bIns="12700" anchor="t">
                <a:spAutoFit/>
              </a:bodyPr>
              <a:lstStyle/>
              <a:p>
                <a:pPr algn="l">
                  <a:lnSpc>
                    <a:spcPct val="135000"/>
                  </a:lnSpc>
                </a:pPr>
                <a:r>
                  <a:rPr sz="2000" b="1" i="0" dirty="0" err="1">
                    <a:solidFill>
                      <a:srgbClr val="B85042"/>
                    </a:solidFill>
                    <a:ea typeface="NanumGothic"/>
                  </a:rPr>
                  <a:t>F</a:t>
                </a:r>
                <a:r>
                  <a:rPr lang="en-US" sz="2000" b="1" i="0" dirty="0" err="1">
                    <a:solidFill>
                      <a:srgbClr val="B85042"/>
                    </a:solidFill>
                    <a:ea typeface="NanumGothic"/>
                  </a:rPr>
                  <a:t>lirds</a:t>
                </a:r>
                <a:r>
                  <a:rPr sz="2000" b="1" i="0" dirty="0">
                    <a:solidFill>
                      <a:srgbClr val="B85042"/>
                    </a:solidFill>
                    <a:ea typeface="NanumGothic"/>
                  </a:rPr>
                  <a:t> — </a:t>
                </a:r>
                <a:r>
                  <a:rPr lang="en-US" sz="2000" b="1" i="0" dirty="0">
                    <a:solidFill>
                      <a:srgbClr val="B85042"/>
                    </a:solidFill>
                    <a:ea typeface="NanumGothic"/>
                  </a:rPr>
                  <a:t>Federated per-round per-client</a:t>
                </a:r>
                <a:endParaRPr sz="2000" b="1" i="0" dirty="0">
                  <a:solidFill>
                    <a:srgbClr val="B85042"/>
                  </a:solidFill>
                  <a:ea typeface="NanumGothic"/>
                </a:endParaRPr>
              </a:p>
              <a:p>
                <a:pPr algn="l">
                  <a:lnSpc>
                    <a:spcPct val="135000"/>
                  </a:lnSpc>
                </a:pPr>
                <a:r>
                  <a:rPr b="0" i="0" dirty="0">
                    <a:solidFill>
                      <a:srgbClr val="222222"/>
                    </a:solidFill>
                    <a:ea typeface="NanumGothic"/>
                  </a:rPr>
                  <a:t>• ‖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0" dirty="0" smtClean="0">
                        <a:solidFill>
                          <a:srgbClr val="222222"/>
                        </a:solidFill>
                        <a:ea typeface="NanumGothic"/>
                      </a:rPr>
                      <m:t>Δ</m:t>
                    </m:r>
                    <m:sSub>
                      <m:sSubPr>
                        <m:ctrlPr>
                          <a:rPr lang="el-GR" b="0" i="1" dirty="0" err="1">
                            <a:solidFill>
                              <a:srgbClr val="222222"/>
                            </a:solidFill>
                            <a:ea typeface="NanumGothic"/>
                          </a:rPr>
                        </m:ctrlPr>
                      </m:sSubPr>
                      <m:e>
                        <m:r>
                          <a:rPr lang="el-GR" b="0" i="1" dirty="0" err="1">
                            <a:solidFill>
                              <a:srgbClr val="222222"/>
                            </a:solidFill>
                            <a:ea typeface="NanumGothic"/>
                          </a:rPr>
                          <m:t>𝑤</m:t>
                        </m:r>
                      </m:e>
                      <m:sub>
                        <m:r>
                          <a:rPr lang="el-GR" b="0" i="1" dirty="0" err="1">
                            <a:solidFill>
                              <a:srgbClr val="222222"/>
                            </a:solidFill>
                            <a:ea typeface="NanumGothic"/>
                          </a:rPr>
                          <m:t>𝑟𝑜𝑢𝑛𝑑</m:t>
                        </m:r>
                      </m:sub>
                    </m:sSub>
                  </m:oMath>
                </a14:m>
                <a:r>
                  <a:rPr b="0" i="0" dirty="0">
                    <a:solidFill>
                      <a:srgbClr val="222222"/>
                    </a:solidFill>
                    <a:ea typeface="NanumGothic"/>
                  </a:rPr>
                  <a:t>‖ ≫ per-step</a:t>
                </a:r>
              </a:p>
              <a:p>
                <a:pPr algn="l">
                  <a:lnSpc>
                    <a:spcPct val="135000"/>
                  </a:lnSpc>
                </a:pPr>
                <a:r>
                  <a:rPr b="0" i="0" dirty="0">
                    <a:solidFill>
                      <a:srgbClr val="222222"/>
                    </a:solidFill>
                    <a:ea typeface="NanumGothic"/>
                  </a:rPr>
                  <a:t>• 1차 </a:t>
                </a:r>
                <a:r>
                  <a:rPr b="0" i="0" dirty="0" err="1">
                    <a:solidFill>
                      <a:srgbClr val="222222"/>
                    </a:solidFill>
                    <a:ea typeface="NanumGothic"/>
                  </a:rPr>
                  <a:t>잔차</a:t>
                </a:r>
                <a:r>
                  <a:rPr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14:m>
                  <m:oMath xmlns:m="http://schemas.openxmlformats.org/officeDocument/2006/math">
                    <m:r>
                      <a:rPr lang="el-GR" b="0" i="1" dirty="0" smtClean="0">
                        <a:solidFill>
                          <a:srgbClr val="222222"/>
                        </a:solidFill>
                        <a:ea typeface="NanumGothic"/>
                      </a:rPr>
                      <m:t>𝑂</m:t>
                    </m:r>
                    <m:d>
                      <m:dPr>
                        <m:ctrlPr>
                          <a:rPr lang="el-GR" b="0" i="1" dirty="0" smtClean="0">
                            <a:solidFill>
                              <a:srgbClr val="222222"/>
                            </a:solidFill>
                            <a:ea typeface="NanumGothic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l-GR" b="0" i="1" dirty="0">
                                <a:solidFill>
                                  <a:srgbClr val="222222"/>
                                </a:solidFill>
                                <a:ea typeface="NanumGothic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l-GR" b="0" i="1" dirty="0" smtClean="0">
                                    <a:solidFill>
                                      <a:srgbClr val="222222"/>
                                    </a:solidFill>
                                    <a:ea typeface="NanumGothic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l-GR" b="0" i="0" dirty="0" err="1">
                                    <a:solidFill>
                                      <a:srgbClr val="222222"/>
                                    </a:solidFill>
                                    <a:ea typeface="NanumGothic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l-GR" b="0" i="1" dirty="0" smtClean="0">
                                        <a:solidFill>
                                          <a:srgbClr val="222222"/>
                                        </a:solidFill>
                                        <a:ea typeface="NanumGothic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b="0" i="1" dirty="0" err="1">
                                        <a:solidFill>
                                          <a:srgbClr val="222222"/>
                                        </a:solidFill>
                                        <a:ea typeface="NanumGothic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l-GR" b="0" i="1" dirty="0" smtClean="0">
                                        <a:solidFill>
                                          <a:srgbClr val="222222"/>
                                        </a:solidFill>
                                        <a:ea typeface="NanumGothic"/>
                                      </a:rPr>
                                      <m:t>𝑟𝑜𝑢𝑛𝑑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l-GR" b="0" i="1" dirty="0">
                                <a:solidFill>
                                  <a:srgbClr val="222222"/>
                                </a:solidFill>
                                <a:ea typeface="NanumGothic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b="0" i="0" dirty="0" err="1">
                    <a:solidFill>
                      <a:srgbClr val="222222"/>
                    </a:solidFill>
                    <a:ea typeface="NanumGothic"/>
                  </a:rPr>
                  <a:t>커짐</a:t>
                </a:r>
                <a:endParaRPr b="0" i="0" dirty="0">
                  <a:solidFill>
                    <a:srgbClr val="222222"/>
                  </a:solidFill>
                  <a:ea typeface="NanumGothic"/>
                </a:endParaRPr>
              </a:p>
              <a:p>
                <a:pPr algn="l">
                  <a:lnSpc>
                    <a:spcPct val="135000"/>
                  </a:lnSpc>
                </a:pPr>
                <a:r>
                  <a:rPr b="1" i="0" dirty="0">
                    <a:solidFill>
                      <a:srgbClr val="1F2A37"/>
                    </a:solidFill>
                    <a:ea typeface="NanumGothic"/>
                  </a:rPr>
                  <a:t>• 2차(Hessian) </a:t>
                </a:r>
                <a:r>
                  <a:rPr b="1" i="0" dirty="0" err="1">
                    <a:solidFill>
                      <a:srgbClr val="1F2A37"/>
                    </a:solidFill>
                    <a:ea typeface="NanumGothic"/>
                  </a:rPr>
                  <a:t>항으로</a:t>
                </a:r>
                <a:r>
                  <a:rPr b="1" i="0" dirty="0">
                    <a:solidFill>
                      <a:srgbClr val="1F2A37"/>
                    </a:solidFill>
                    <a:ea typeface="NanumGothic"/>
                  </a:rPr>
                  <a:t> </a:t>
                </a:r>
                <a:r>
                  <a:rPr b="1" i="0" dirty="0" err="1">
                    <a:solidFill>
                      <a:srgbClr val="1F2A37"/>
                    </a:solidFill>
                    <a:ea typeface="NanumGothic"/>
                  </a:rPr>
                  <a:t>잔차</a:t>
                </a:r>
                <a:r>
                  <a:rPr b="1" i="0" dirty="0">
                    <a:solidFill>
                      <a:srgbClr val="1F2A37"/>
                    </a:solidFill>
                    <a:ea typeface="NanumGothic"/>
                  </a:rPr>
                  <a:t> ↓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960" y="2002888"/>
                <a:ext cx="4846320" cy="1576394"/>
              </a:xfrm>
              <a:prstGeom prst="rect">
                <a:avLst/>
              </a:prstGeom>
              <a:blipFill>
                <a:blip r:embed="rId2"/>
                <a:stretch>
                  <a:fillRect l="-2767" b="-73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11753617" y="6510528"/>
            <a:ext cx="2551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9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Fidelity (LLM)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5955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dirty="0">
                <a:solidFill>
                  <a:srgbClr val="3C4654"/>
                </a:solidFill>
                <a:ea typeface="NanumGothic"/>
              </a:rPr>
              <a:t>Exact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in-run </a:t>
            </a:r>
            <a:r>
              <a:rPr lang="en-US" b="0" i="0" dirty="0" err="1">
                <a:solidFill>
                  <a:srgbClr val="3C4654"/>
                </a:solidFill>
                <a:ea typeface="NanumGothic"/>
              </a:rPr>
              <a:t>shapley</a:t>
            </a:r>
            <a:r>
              <a:rPr lang="en-US" b="0" i="0" dirty="0">
                <a:solidFill>
                  <a:srgbClr val="3C4654"/>
                </a:solidFill>
                <a:ea typeface="NanumGothic"/>
              </a:rPr>
              <a:t> value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대비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Spearman (↑).</a:t>
            </a:r>
            <a:endParaRPr lang="en-US" b="0" i="0" dirty="0">
              <a:solidFill>
                <a:srgbClr val="3C4654"/>
              </a:solidFill>
              <a:ea typeface="NanumGothic"/>
            </a:endParaRPr>
          </a:p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C4654"/>
                </a:solidFill>
                <a:ea typeface="NanumGothic"/>
              </a:rPr>
              <a:t>LoRA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· 3-seed.  std=N20·2/round, anchor=N5·full.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83084" y="6510528"/>
            <a:ext cx="3257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10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554862"/>
              </p:ext>
            </p:extLst>
          </p:nvPr>
        </p:nvGraphicFramePr>
        <p:xfrm>
          <a:off x="411480" y="1965960"/>
          <a:ext cx="11384278" cy="3581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6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67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67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67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67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467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1" i="0" dirty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1B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3B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7B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1B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3B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7B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</a:t>
                      </a:r>
                      <a:endParaRPr sz="1800" b="0" i="0" dirty="0">
                        <a:solidFill>
                          <a:srgbClr val="222222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0.975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0.988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0.977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0.968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0.194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0.227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74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0.157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0.211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0.480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0.200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Fidelity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58977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ko-KR" dirty="0">
                <a:solidFill>
                  <a:srgbClr val="3C4654"/>
                </a:solidFill>
                <a:ea typeface="NanumGothic"/>
              </a:rPr>
              <a:t>Exact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in-run </a:t>
            </a:r>
            <a:r>
              <a:rPr lang="en-US" altLang="ko-KR" dirty="0" err="1">
                <a:solidFill>
                  <a:srgbClr val="3C4654"/>
                </a:solidFill>
                <a:ea typeface="NanumGothic"/>
              </a:rPr>
              <a:t>shapley</a:t>
            </a:r>
            <a:r>
              <a:rPr lang="en-US" altLang="ko-KR" dirty="0">
                <a:solidFill>
                  <a:srgbClr val="3C4654"/>
                </a:solidFill>
                <a:ea typeface="NanumGothic"/>
              </a:rPr>
              <a:t> value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대비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lang="en-US" b="0" i="0" dirty="0">
                <a:solidFill>
                  <a:srgbClr val="3C4654"/>
                </a:solidFill>
                <a:ea typeface="NanumGothic"/>
              </a:rPr>
              <a:t>Spearman, Pearson </a:t>
            </a:r>
            <a:r>
              <a:rPr lang="en-US" altLang="ko-KR" dirty="0">
                <a:solidFill>
                  <a:srgbClr val="3C4654"/>
                </a:solidFill>
                <a:ea typeface="NanumGothic"/>
              </a:rPr>
              <a:t>(↑)</a:t>
            </a:r>
            <a:endParaRPr lang="en-US" b="0" i="0" dirty="0">
              <a:solidFill>
                <a:srgbClr val="3C4654"/>
              </a:solidFill>
              <a:ea typeface="NanumGothic"/>
            </a:endParaRPr>
          </a:p>
          <a:p>
            <a:pPr>
              <a:lnSpc>
                <a:spcPct val="105000"/>
              </a:lnSpc>
            </a:pPr>
            <a:r>
              <a:rPr lang="en-US" b="0" i="0" dirty="0">
                <a:solidFill>
                  <a:srgbClr val="3C4654"/>
                </a:solidFill>
                <a:ea typeface="NanumGothic"/>
              </a:rPr>
              <a:t>C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ross-silo N=10 × 3</a:t>
            </a:r>
            <a:r>
              <a:rPr lang="ko-KR" altLang="en-US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seed.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130568"/>
              </p:ext>
            </p:extLst>
          </p:nvPr>
        </p:nvGraphicFramePr>
        <p:xfrm>
          <a:off x="411480" y="1930790"/>
          <a:ext cx="9312812" cy="43029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9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1" i="0" dirty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vs (b) Spearman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vs (b) Pearson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</a:t>
                      </a:r>
                      <a:endParaRPr sz="1800" b="0" i="0" dirty="0">
                        <a:solidFill>
                          <a:srgbClr val="222222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u="sng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u="sng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0.853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0.860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0.569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0.612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0.348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0.328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0.391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0.392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0.491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0.506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0.373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683389" y="6510528"/>
            <a:ext cx="3257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11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2nd-order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13778"/>
            <a:ext cx="1115568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33475B"/>
                </a:solidFill>
                <a:ea typeface="NanumGothic"/>
              </a:rPr>
              <a:t>CNN fidelity — </a:t>
            </a:r>
            <a:r>
              <a:rPr sz="2000" b="1" i="0" dirty="0" err="1">
                <a:solidFill>
                  <a:srgbClr val="33475B"/>
                </a:solidFill>
                <a:ea typeface="NanumGothic"/>
              </a:rPr>
              <a:t>Flirds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(1차+2차) vs Flirds-1st, vs </a:t>
            </a:r>
            <a:r>
              <a:rPr lang="en-US" sz="2000" b="1" i="0" dirty="0">
                <a:solidFill>
                  <a:srgbClr val="33475B"/>
                </a:solidFill>
                <a:ea typeface="NanumGothic"/>
              </a:rPr>
              <a:t>exact in-run data </a:t>
            </a:r>
            <a:r>
              <a:rPr lang="en-US" sz="2000" b="1" i="0" dirty="0" err="1">
                <a:solidFill>
                  <a:srgbClr val="33475B"/>
                </a:solidFill>
                <a:ea typeface="NanumGothic"/>
              </a:rPr>
              <a:t>shapley</a:t>
            </a:r>
            <a:r>
              <a:rPr lang="en-US" sz="2000" b="1" i="0" dirty="0">
                <a:solidFill>
                  <a:srgbClr val="33475B"/>
                </a:solidFill>
                <a:ea typeface="NanumGothic"/>
              </a:rPr>
              <a:t> 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Spearman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636516"/>
              </p:ext>
            </p:extLst>
          </p:nvPr>
        </p:nvGraphicFramePr>
        <p:xfrm>
          <a:off x="411480" y="1758317"/>
          <a:ext cx="11384278" cy="23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98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1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2000">
                <a:tc>
                  <a:txBody>
                    <a:bodyPr/>
                    <a:lstStyle/>
                    <a:p>
                      <a:pPr algn="l"/>
                      <a:r>
                        <a:rPr sz="1800" b="1" i="0" dirty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CNN </a:t>
                      </a:r>
                      <a:r>
                        <a:rPr sz="1800" b="1" i="0" dirty="0" err="1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시나리오</a:t>
                      </a:r>
                      <a:endParaRPr sz="1800" b="1" i="0" dirty="0">
                        <a:solidFill>
                          <a:srgbClr val="FFFFFF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차이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000"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cifar10 / </a:t>
                      </a:r>
                      <a:r>
                        <a:rPr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iid</a:t>
                      </a:r>
                      <a:endParaRPr sz="1800" b="0" i="0" dirty="0">
                        <a:solidFill>
                          <a:srgbClr val="222222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+0.41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cifar10 / feature_noise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+0.11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mnist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+0.10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000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pool 평균 (10×3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+0.087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683084" y="6510528"/>
            <a:ext cx="3257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12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Cost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C4654"/>
                </a:solidFill>
                <a:ea typeface="NanumGothic"/>
              </a:rPr>
              <a:t>라운드당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HVP 1회 vs 2ᴺ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부분집합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평가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.  LLM 1B cross-silo N=5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런타임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00086"/>
              </p:ext>
            </p:extLst>
          </p:nvPr>
        </p:nvGraphicFramePr>
        <p:xfrm>
          <a:off x="411480" y="1738501"/>
          <a:ext cx="7672014" cy="320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22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796">
                <a:tc>
                  <a:txBody>
                    <a:bodyPr/>
                    <a:lstStyle/>
                    <a:p>
                      <a:pPr algn="l"/>
                      <a:r>
                        <a:rPr sz="1800" b="1" i="0" dirty="0" err="1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방법</a:t>
                      </a:r>
                      <a:endParaRPr sz="1800" b="1" i="0" dirty="0">
                        <a:solidFill>
                          <a:srgbClr val="FFFFFF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런타임 (N=5, 1B)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796"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~35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796">
                <a:tc>
                  <a:txBody>
                    <a:bodyPr/>
                    <a:lstStyle/>
                    <a:p>
                      <a:pPr algn="l"/>
                      <a:r>
                        <a:rPr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</a:t>
                      </a:r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(1차+2차)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~107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796"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GTG / </a:t>
                      </a:r>
                      <a:r>
                        <a:rPr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FedSV</a:t>
                      </a:r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/ 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796">
                <a:tc>
                  <a:txBody>
                    <a:bodyPr/>
                    <a:lstStyle/>
                    <a:p>
                      <a:pPr algn="l"/>
                      <a:r>
                        <a:rPr lang="en-US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Exact</a:t>
                      </a:r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in-run </a:t>
                      </a:r>
                      <a:r>
                        <a:rPr lang="en-US"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shapley</a:t>
                      </a:r>
                      <a:r>
                        <a:rPr lang="en-US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value</a:t>
                      </a:r>
                      <a:endParaRPr sz="1800" b="0" i="0" dirty="0">
                        <a:solidFill>
                          <a:srgbClr val="222222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796"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~4515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683084" y="6510528"/>
            <a:ext cx="3257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13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Robustness &amp;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>
                <a:solidFill>
                  <a:srgbClr val="3C4654"/>
                </a:solidFill>
                <a:ea typeface="NanumGothic"/>
              </a:rPr>
              <a:t>위협별 1명 오염 · AUROC = corrupt를 high-φ로 잡는 탐지력(↑) · 1B cross-silo N=5.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7520156"/>
              </p:ext>
            </p:extLst>
          </p:nvPr>
        </p:nvGraphicFramePr>
        <p:xfrm>
          <a:off x="411480" y="1811215"/>
          <a:ext cx="11384278" cy="35960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19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7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7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19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3722">
                <a:tc>
                  <a:txBody>
                    <a:bodyPr/>
                    <a:lstStyle/>
                    <a:p>
                      <a:pPr algn="l"/>
                      <a:r>
                        <a:rPr sz="1800" b="1" i="0" dirty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noisy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free-rider(rand)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free-rider(zero)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+mn-lt"/>
                          <a:ea typeface="NanumGothic"/>
                        </a:rPr>
                        <a:t>poison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722">
                <a:tc>
                  <a:txBody>
                    <a:bodyPr/>
                    <a:lstStyle/>
                    <a:p>
                      <a:pPr algn="l"/>
                      <a:r>
                        <a:rPr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</a:t>
                      </a:r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(1차+2차)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0.917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722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722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722">
                <a:tc>
                  <a:txBody>
                    <a:bodyPr/>
                    <a:lstStyle/>
                    <a:p>
                      <a:pPr algn="l"/>
                      <a:r>
                        <a:rPr lang="en-US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Exact</a:t>
                      </a:r>
                      <a:r>
                        <a:rPr lang="ko-KR" altLang="en-US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</a:t>
                      </a:r>
                      <a:r>
                        <a:rPr lang="en-US" altLang="ko-KR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in-run</a:t>
                      </a:r>
                      <a:r>
                        <a:rPr lang="ko-KR" altLang="en-US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</a:t>
                      </a:r>
                      <a:r>
                        <a:rPr lang="en-US" altLang="ko-KR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data</a:t>
                      </a:r>
                      <a:r>
                        <a:rPr lang="ko-KR" altLang="en-US"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 </a:t>
                      </a:r>
                      <a:r>
                        <a:rPr lang="en-US" altLang="ko-KR" sz="1800" b="0" i="0" dirty="0" err="1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shapley</a:t>
                      </a:r>
                      <a:endParaRPr sz="1800" b="0" i="0" dirty="0">
                        <a:solidFill>
                          <a:srgbClr val="222222"/>
                        </a:solidFill>
                        <a:latin typeface="+mn-lt"/>
                        <a:ea typeface="NanumGothic"/>
                      </a:endParaRP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722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3722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0.417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0.250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222222"/>
                          </a:solidFill>
                          <a:latin typeface="+mn-lt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683084" y="6510528"/>
            <a:ext cx="3257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14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NanumGothic"/>
                <a:ea typeface="Nanum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11880"/>
            <a:ext cx="10515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CADCFC"/>
                </a:solidFill>
                <a:latin typeface="NanumGothic"/>
                <a:ea typeface="Nanum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3084" y="6510528"/>
            <a:ext cx="3257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900" b="0" i="0" dirty="0">
                <a:solidFill>
                  <a:srgbClr val="7A7A7A"/>
                </a:solidFill>
                <a:latin typeface="NanumGothic"/>
                <a:ea typeface="NanumGothic"/>
              </a:rPr>
              <a:t>15</a:t>
            </a:r>
            <a:endParaRPr sz="900" b="0" i="0" dirty="0">
              <a:solidFill>
                <a:srgbClr val="7A7A7A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686</Words>
  <Application>Microsoft Office PowerPoint</Application>
  <PresentationFormat>와이드스크린</PresentationFormat>
  <Paragraphs>232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NanumGothic</vt:lpstr>
      <vt:lpstr>Arial</vt:lpstr>
      <vt:lpstr>Calibri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최용희</cp:lastModifiedBy>
  <cp:revision>13</cp:revision>
  <dcterms:created xsi:type="dcterms:W3CDTF">2013-01-27T09:14:16Z</dcterms:created>
  <dcterms:modified xsi:type="dcterms:W3CDTF">2026-07-01T06:23:14Z</dcterms:modified>
  <cp:category/>
</cp:coreProperties>
</file>