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NanumGothic"/>
                <a:ea typeface="NanumGothic"/>
              </a:rPr>
              <a:t>Flirds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CADCFC"/>
                </a:solidFill>
                <a:latin typeface="NanumGothic"/>
                <a:ea typeface="NanumGothic"/>
              </a:rPr>
              <a:t>연합학습에서 클라이언트별 데이터 기여도 측정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FFFFFF"/>
                </a:solidFill>
                <a:latin typeface="NanumGothic"/>
                <a:ea typeface="NanumGothic"/>
              </a:rPr>
              <a:t>In-Run Data Shapley(한 학습 궤적, 1차+2차 Taylor, true Hessian)를 연합학습(FL)에 접목한 client-level 데이터 가치평가 방법.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51560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ADCFC"/>
                </a:solidFill>
                <a:latin typeface="NanumGothic"/>
                <a:ea typeface="NanumGothic"/>
              </a:rPr>
              <a:t>발표 흐름:  FL 동기  →  Data Shapley(기초)  →  In-Run Data Shapley  →  FL 접목 + 오차 분석  →  대표 실험 결과  →  novelty  →  정직한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ADCFC"/>
                </a:solidFill>
                <a:latin typeface="NanumGothic"/>
                <a:ea typeface="NanumGothic"/>
              </a:rPr>
              <a:t>세미나 입문 발표 · 2026-06-30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ADCFC"/>
                </a:solidFill>
                <a:latin typeface="NanumGothic"/>
                <a:ea typeface="NanumGothic"/>
              </a:rPr>
              <a:t>연구 처음 듣는 청중 대상. 개념 설명 출처 = research-wiki (flirds.md / concepts / sources); 대표 수치 출처 = 결과 데크 flirds-results-2026-06-26.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목차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621792" cy="658368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621792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NanumGothic"/>
                <a:ea typeface="NanumGothic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7592" y="1325880"/>
            <a:ext cx="104241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2A37"/>
                </a:solidFill>
                <a:latin typeface="NanumGothic"/>
                <a:ea typeface="NanumGothic"/>
              </a:rPr>
              <a:t>왜 연합학습에서 '기여도 측정'인가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1664207"/>
            <a:ext cx="1042416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7A7A"/>
                </a:solidFill>
                <a:latin typeface="NanumGothic"/>
                <a:ea typeface="NanumGothic"/>
              </a:rPr>
              <a:t>보상 분배 · free-rider 탐지 · 불량 데이터 식별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621792" cy="658368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66543"/>
            <a:ext cx="621792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NanumGothic"/>
                <a:ea typeface="NanumGothic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2093975"/>
            <a:ext cx="104241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2A37"/>
                </a:solidFill>
                <a:latin typeface="NanumGothic"/>
                <a:ea typeface="NanumGothic"/>
              </a:rPr>
              <a:t>Data Shapley — 데이터 가치의 공정한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432303"/>
            <a:ext cx="1042416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7A7A"/>
                </a:solidFill>
                <a:latin typeface="NanumGothic"/>
                <a:ea typeface="NanumGothic"/>
              </a:rPr>
              <a:t>협력게임 Shapley value, 원조(Ghorbani &amp; Zou 2019)와 그 한계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834639"/>
            <a:ext cx="621792" cy="658368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34639"/>
            <a:ext cx="621792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NanumGothic"/>
                <a:ea typeface="NanumGothic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" y="2862071"/>
            <a:ext cx="104241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2A37"/>
                </a:solidFill>
                <a:latin typeface="NanumGothic"/>
                <a:ea typeface="NanumGothic"/>
              </a:rPr>
              <a:t>In-Run Data Shapley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3200399"/>
            <a:ext cx="1042416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7A7A"/>
                </a:solidFill>
                <a:latin typeface="NanumGothic"/>
                <a:ea typeface="NanumGothic"/>
              </a:rPr>
              <a:t>재학습 없이 한 학습 궤적에서 기여도를 추적 (Taylor 분해)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02735"/>
            <a:ext cx="621792" cy="658368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602735"/>
            <a:ext cx="621792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NanumGothic"/>
                <a:ea typeface="NanumGothic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3630167"/>
            <a:ext cx="104241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2A37"/>
                </a:solidFill>
                <a:latin typeface="NanumGothic"/>
                <a:ea typeface="NanumGothic"/>
              </a:rPr>
              <a:t>우리 연구 — In-Run Data Shapley의 FL 접목 (Flirds)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968496"/>
            <a:ext cx="1042416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7A7A"/>
                </a:solidFill>
                <a:latin typeface="NanumGothic"/>
                <a:ea typeface="NanumGothic"/>
              </a:rPr>
              <a:t>client·round 수준 설계 + 근사 오차 분석(왜 2차 항이 필요한가)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70831"/>
            <a:ext cx="621792" cy="658368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370831"/>
            <a:ext cx="621792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NanumGothic"/>
                <a:ea typeface="NanumGothic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398264"/>
            <a:ext cx="104241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2A37"/>
                </a:solidFill>
                <a:latin typeface="NanumGothic"/>
                <a:ea typeface="NanumGothic"/>
              </a:rPr>
              <a:t>대표 실험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4736592"/>
            <a:ext cx="1042416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7A7A"/>
                </a:solidFill>
                <a:latin typeface="NanumGothic"/>
                <a:ea typeface="NanumGothic"/>
              </a:rPr>
              <a:t>① Fidelity(오라클 대비 정확도; 2차 항 효과 포함) → ② 비용·확장 → ③ 강건성/탐지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38927"/>
            <a:ext cx="621792" cy="658368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138927"/>
            <a:ext cx="621792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NanumGothic"/>
                <a:ea typeface="NanumGothic"/>
              </a:rPr>
              <a:t>6.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" y="5166359"/>
            <a:ext cx="104241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2A37"/>
                </a:solidFill>
                <a:latin typeface="NanumGothic"/>
                <a:ea typeface="NanumGothic"/>
              </a:rPr>
              <a:t>우리 연구의 novelty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7592" y="5504688"/>
            <a:ext cx="1042416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7A7A"/>
                </a:solidFill>
                <a:latin typeface="NanumGothic"/>
                <a:ea typeface="NanumGothic"/>
              </a:rPr>
              <a:t>기존에 비어 있던 교집합 — 가장 가까운 경쟁자 대비 차별점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07023"/>
            <a:ext cx="621792" cy="658368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907023"/>
            <a:ext cx="621792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NanumGothic"/>
                <a:ea typeface="NanumGothic"/>
              </a:rPr>
              <a:t>7.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7592" y="5934455"/>
            <a:ext cx="104241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2A37"/>
                </a:solidFill>
                <a:latin typeface="NanumGothic"/>
                <a:ea typeface="NanumGothic"/>
              </a:rPr>
              <a:t>정직한 한계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6272783"/>
            <a:ext cx="1042416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7A7A"/>
                </a:solidFill>
                <a:latin typeface="NanumGothic"/>
                <a:ea typeface="NanumGothic"/>
              </a:rPr>
              <a:t>valuation의 경계 — clean-preserving backdoor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왜 연합학습(FL)에서 '클라이언트별 기여도'를 재는가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연합학습 = 데이터를 한곳에 모으지 않고, 각 참여자(클라이언트)가 로컬에서 학습한 업데이트만 서버가 모아 모델을 만드는 방식.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이때 자연스러운 질문: "이 공동 모델에 누가 얼마나 기여했나?" — 세 가지 실제 필요로 이어진다.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48840"/>
            <a:ext cx="3611880" cy="24688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34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NanumGothic"/>
                <a:ea typeface="Nanum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404872"/>
            <a:ext cx="260604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A37"/>
                </a:solidFill>
                <a:latin typeface="NanumGothic"/>
                <a:ea typeface="NanumGothic"/>
              </a:rPr>
              <a:t>보상 · 인센티브 분배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154680" cy="13716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참여자에게 정당한 몫을 나누려면 기여도를 수치로 매겨야 한다. 데이터 시장·연합 컨소시엄의 핵심 동기.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148840"/>
            <a:ext cx="3611880" cy="24688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99432" y="23774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34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NanumGothic"/>
                <a:ea typeface="Nanum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93792" y="2404872"/>
            <a:ext cx="260604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A37"/>
                </a:solidFill>
                <a:latin typeface="NanumGothic"/>
                <a:ea typeface="NanumGothic"/>
              </a:rPr>
              <a:t>free-rider 탐지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3108960"/>
            <a:ext cx="3154680" cy="13716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학습에 실질 기여 없이 모델만 받아가는 무임승차자를 식별. 기여도가 0에 가까운 클라이언트를 가려낸다.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38744" y="2148840"/>
            <a:ext cx="3611880" cy="24688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67344" y="23774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34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NanumGothic"/>
                <a:ea typeface="Nanum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2404872"/>
            <a:ext cx="260604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A37"/>
                </a:solidFill>
                <a:latin typeface="NanumGothic"/>
                <a:ea typeface="NanumGothic"/>
              </a:rPr>
              <a:t>불량 데이터 클라 식별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7344" y="3108960"/>
            <a:ext cx="3154680" cy="13716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라벨 오류·노이즈·오염 데이터를 가진 클라이언트는 기여도가 낮거나 음수 → 가중치 하향·배제의 근거.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7A7A7A"/>
                </a:solidFill>
                <a:latin typeface="NanumGothic"/>
                <a:ea typeface="NanumGothic"/>
              </a:rPr>
              <a:t>Flirds의 주 용도는 연구-측 in-run 기여도 측정(valuation)이며, 위 셋(인센티브·탐지)은 그 위에 얹히는 응용이다.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research-wiki/wiki/flirds.md (Q1 use-case lock) · CLAUDE.md 핵심 질문 위계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Data Shapley (1) — "누구의 데이터가 모델에 얼마나 기여했나?"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데이터 가치평가(data valuation)의 근본 질문. 2019년 이전엔 leave-one-out(LOO)·영향력 휴리스틱이 주로 쓰였으나 공정성 근거가 약했다.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5486400" cy="33832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4937760" cy="2926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33475B"/>
                </a:solidFill>
                <a:latin typeface="NanumGothic"/>
                <a:ea typeface="NanumGothic"/>
              </a:rPr>
              <a:t>핵심 질문</a:t>
            </a:r>
          </a:p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• 한 모델을 여러 데이터(또는 여러 사람의 데이터)로 학습했을 때,</a:t>
            </a:r>
          </a:p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   각 데이터가 최종 성능에 준 '몫'을 어떻게 공정하게 나눌까?</a:t>
            </a:r>
          </a:p>
          <a:p>
            <a:pPr algn="l">
              <a:lnSpc>
                <a:spcPct val="118000"/>
              </a:lnSpc>
            </a:pPr>
            <a:r>
              <a:rPr sz="600" b="0" i="0">
                <a:solidFill>
                  <a:srgbClr val="222222"/>
                </a:solidFill>
                <a:latin typeface="NanumGothic"/>
                <a:ea typeface="NanumGothic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• 좋은 가치 척도는 이상치·라벨 오류를 드러내고,</a:t>
            </a:r>
          </a:p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   어떤 데이터를 더 사들일지(data acquisition) 결정에 쓰인다.</a:t>
            </a:r>
          </a:p>
          <a:p>
            <a:pPr algn="l">
              <a:lnSpc>
                <a:spcPct val="118000"/>
              </a:lnSpc>
            </a:pPr>
            <a:r>
              <a:rPr sz="600" b="0" i="0">
                <a:solidFill>
                  <a:srgbClr val="222222"/>
                </a:solidFill>
                <a:latin typeface="NanumGothic"/>
                <a:ea typeface="NanumGothic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1F2A37"/>
                </a:solidFill>
                <a:latin typeface="NanumGothic"/>
                <a:ea typeface="NanumGothic"/>
              </a:rPr>
              <a:t>• 게임이론의 Shapley value가 "공정 분배"의 표준 답을 준다.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394960" cy="33832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057400"/>
            <a:ext cx="4846320" cy="2926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33475B"/>
                </a:solidFill>
                <a:latin typeface="NanumGothic"/>
                <a:ea typeface="NanumGothic"/>
              </a:rPr>
              <a:t>LOO(하나 빼보기)로는 왜 부족한가</a:t>
            </a:r>
          </a:p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• LOO = '이 데이터 하나를 빼면 성능이 얼마나 떨어지나'.</a:t>
            </a:r>
          </a:p>
          <a:p>
            <a:pPr algn="l">
              <a:lnSpc>
                <a:spcPct val="118000"/>
              </a:lnSpc>
            </a:pPr>
            <a:r>
              <a:rPr sz="500" b="0" i="0">
                <a:solidFill>
                  <a:srgbClr val="222222"/>
                </a:solidFill>
                <a:latin typeface="NanumGothic"/>
                <a:ea typeface="NanumGothic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• 비슷한 데이터가 둘 있으면, 하나를 빼도 다른 하나가 메워</a:t>
            </a:r>
          </a:p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   둘 다 가치 0으로 평가 — 중복에 취약.</a:t>
            </a:r>
          </a:p>
          <a:p>
            <a:pPr algn="l">
              <a:lnSpc>
                <a:spcPct val="118000"/>
              </a:lnSpc>
            </a:pPr>
            <a:r>
              <a:rPr sz="500" b="0" i="0">
                <a:solidFill>
                  <a:srgbClr val="222222"/>
                </a:solidFill>
                <a:latin typeface="NanumGothic"/>
                <a:ea typeface="NanumGothic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• 데이터 간 상호작용(누구와 함께 있을 때의 기여)을 무시.</a:t>
            </a:r>
          </a:p>
          <a:p>
            <a:pPr algn="l">
              <a:lnSpc>
                <a:spcPct val="118000"/>
              </a:lnSpc>
            </a:pPr>
            <a:r>
              <a:rPr sz="500" b="0" i="0">
                <a:solidFill>
                  <a:srgbClr val="222222"/>
                </a:solidFill>
                <a:latin typeface="NanumGothic"/>
                <a:ea typeface="NanumGothic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1F2A37"/>
                </a:solidFill>
                <a:latin typeface="NanumGothic"/>
                <a:ea typeface="NanumGothic"/>
              </a:rPr>
              <a:t>• Shapley는 '모든 조합에서의 한계기여 평균'으로 이를 해결.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research-wiki/wiki/sources/ghorbani-zou-data-shapley.md · concepts/data-shapley.md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Data Shapley (2) — 협력게임 Shapley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직관: 각 데이터를 '협력게임의 플레이어'로 보고, 가능한 모든 참여 순서(조합)에서 그 데이터를 추가했을 때 늘어난 효용(=한계기여)을 평균낸다.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1155680" cy="1234440"/>
          </a:xfrm>
          <a:prstGeom prst="roundRect">
            <a:avLst>
              <a:gd name="adj" fmla="val 6000"/>
            </a:avLst>
          </a:prstGeom>
          <a:solidFill>
            <a:srgbClr val="1F2A37"/>
          </a:solidFill>
          <a:ln w="9525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93392"/>
            <a:ext cx="1042416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FFFFF"/>
                </a:solidFill>
                <a:latin typeface="NanumGothic"/>
                <a:ea typeface="NanumGothic"/>
              </a:rPr>
              <a:t>φ_i  =  C · Σ_{S ⊆ D∖{i}}  C(n−1, |S|)⁻¹ · ( U(S ∪ {i}) − U(S) )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CADCFC"/>
                </a:solidFill>
                <a:latin typeface="NanumGothic"/>
                <a:ea typeface="NanumGothic"/>
              </a:rPr>
              <a:t>데이터 i의 가치 = 모든 부분집합 S에 i를 추가했을 때의 효용 증가분 U(S∪{i})−U(S) 의 가중 평균. U(S) = S로 학습한 모델의 검증 성능.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37560"/>
            <a:ext cx="1115568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A37"/>
                </a:solidFill>
                <a:latin typeface="NanumGothic"/>
                <a:ea typeface="NanumGothic"/>
              </a:rPr>
              <a:t>이 식은 다음 네 공리를 모두 만족하는 유일한 분배다 (Shapley 1953; 데이터로 가져온 게 Ghorbani &amp; Zou 2019):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9476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959352"/>
            <a:ext cx="233172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3475B"/>
                </a:solidFill>
                <a:latin typeface="NanumGothic"/>
                <a:ea typeface="NanumGothic"/>
              </a:rPr>
              <a:t>Null(영 기여)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53128"/>
            <a:ext cx="233172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NanumGothic"/>
                <a:ea typeface="NanumGothic"/>
              </a:rPr>
              <a:t>어디에 넣어도 한계기여가 0인 데이터는 가치 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9272" y="379476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3959352"/>
            <a:ext cx="233172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3475B"/>
                </a:solidFill>
                <a:latin typeface="NanumGothic"/>
                <a:ea typeface="NanumGothic"/>
              </a:rPr>
              <a:t>Symmetry(대칭)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4453128"/>
            <a:ext cx="233172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NanumGothic"/>
                <a:ea typeface="NanumGothic"/>
              </a:rPr>
              <a:t>교환 가능한(동일 역할) 데이터는 같은 가치.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379476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3959352"/>
            <a:ext cx="233172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3475B"/>
                </a:solidFill>
                <a:latin typeface="NanumGothic"/>
                <a:ea typeface="NanumGothic"/>
              </a:rPr>
              <a:t>Additivity(가법성)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4453128"/>
            <a:ext cx="233172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NanumGothic"/>
                <a:ea typeface="NanumGothic"/>
              </a:rPr>
              <a:t>효용에 대해 선형 — 두 과제 가치의 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379476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34856" y="3959352"/>
            <a:ext cx="233172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3475B"/>
                </a:solidFill>
                <a:latin typeface="NanumGothic"/>
                <a:ea typeface="NanumGothic"/>
              </a:rPr>
              <a:t>Efficiency(효율)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4856" y="4453128"/>
            <a:ext cx="233172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NanumGothic"/>
                <a:ea typeface="NanumGothic"/>
              </a:rPr>
              <a:t>모든 가치의 합 = 전체 효용 (남김없이 분배).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research-wiki/wiki/concepts/shapley-value.md · sources/ghorbani-zou-data-shapley.md (ICML 2019, arXiv:1904.02868)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Data Shapley (3) — 원조의 한계: 2ᴺ 재학습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정의대로 계산하려면 데이터의 모든 부분집합 S마다 모델을 다시 학습해 U(S)를 재야 한다 → 데이터 n개면 2ⁿ 번 재학습.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근사 추정기(TMC-Shapley 등)도 결국 '많은 재학습'을 요구 → foundation model 규모에선 비현실적. 이것이 다음 절(In-Run)의 다리.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011680"/>
          <a:ext cx="1138427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36011"/>
                <a:gridCol w="3177008"/>
                <a:gridCol w="39712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접근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비용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적용 범위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Exact Shapley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O(2ⁿ) 재학습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장난감 규모만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Monte-Carlo 순열 샘플링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다수 재학습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소규모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Truncated MC (Ghorbani &amp; Zou)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재학습 수 절감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소~중규모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KNN-Shapley 닫힌형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O(n log n), KNN 한정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제한적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In-Run Data Shapley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≈ 학습 1회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foundation model ← 다음 절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46320"/>
            <a:ext cx="113385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A37"/>
                </a:solidFill>
                <a:latin typeface="NanumGothic"/>
                <a:ea typeface="NanumGothic"/>
              </a:rPr>
              <a:t>두 가지 문제 (In-Run 논문이 지적):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① 계산 — 수많은 부분집합 재학습은 대형 모델에서 불가능.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② 개념 — 원조는 '학습 알고리즘'에 대한 Shapley라 초기화·배치 순서의 무작위성을 평균낸다. 그러나 실무자는 '내가 실제로 학습한 그 모델'에 대한 기여를 알고 싶다 → model-specific 정의가 필요.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research-wiki/wiki/concepts/data-shapley.md (computational ladder) · sources/in-run-data-shapley.md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In-Run Data Shapley (1) — 한 번의 학습 안에서 추적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핵심 전환: 부분집합마다 재학습하는 대신, '실제로 진행된 한 학습 과정' 안에서 각 데이터가 검증 손실 변화에 준 기여를 스텝마다 누적한다.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Wang·Mittal·Song·Jia, "Data Shapley in One Training Run", ICML 2024 (arXiv:2406.11011). 최적화 구현은 표준 학습과 거의 같은 비용.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4519"/>
            <a:ext cx="5440680" cy="24688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2057399"/>
            <a:ext cx="4928616" cy="2103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33475B"/>
                </a:solidFill>
                <a:latin typeface="NanumGothic"/>
                <a:ea typeface="NanumGothic"/>
              </a:rPr>
              <a:t>원조 (retraining-based)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학습 '알고리즘'에 대한 Shapley — 무작위성 평균.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부분집합마다 모델을 처음부터 재학습.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비용 O(2ⁿ) 재학습 → 대형 모델 불가.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74519"/>
            <a:ext cx="5394960" cy="246888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057399"/>
            <a:ext cx="4882896" cy="2103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C5F2D"/>
                </a:solidFill>
                <a:latin typeface="NanumGothic"/>
                <a:ea typeface="NanumGothic"/>
              </a:rPr>
              <a:t>In-Run (model-specific)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'내가 실제로 학습한 그 모델'에 대한 기여.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재학습 없음 — 학습하며 스텝별 기여를 누적.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비용 ≈ 학습 1회 → GPT-2 / Pythia-410M 규모 입증.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1999"/>
            <a:ext cx="11155680" cy="868680"/>
          </a:xfrm>
          <a:prstGeom prst="roundRect">
            <a:avLst>
              <a:gd name="adj" fmla="val 6000"/>
            </a:avLst>
          </a:prstGeom>
          <a:solidFill>
            <a:srgbClr val="1F2A37"/>
          </a:solidFill>
          <a:ln w="9525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90871"/>
            <a:ext cx="1042416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NanumGothic"/>
                <a:ea typeface="NanumGothic"/>
              </a:rPr>
              <a:t>φᵢ(in-run)  =  Σₜ φᵢ⁽ᵗ⁾        (스텝 t의 기여 φᵢ⁽ᵗ⁾ 를 학습 전 구간에 걸쳐 합산)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research-wiki/wiki/sources/in-run-data-shapley.md · concepts/in-run-data-shapley.md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In-Run Data Shapley (2) — 스텝 효용 변화의 Taylor 분해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한 SGD 스텝이 검증 효용을 U(θₜ₊₁)−U(θₜ) 만큼 바꾼다. 이 변화를 배치 안 데이터에 대해 Taylor 전개하면 스텝별 Shapley가 닫힌형으로 나온다.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4519"/>
            <a:ext cx="5486400" cy="233172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399"/>
            <a:ext cx="4937760" cy="20116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33475B"/>
                </a:solidFill>
                <a:latin typeface="NanumGothic"/>
                <a:ea typeface="NanumGothic"/>
              </a:rPr>
              <a:t>1차 항 (gradient · gradient)</a:t>
            </a:r>
          </a:p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A37"/>
                </a:solidFill>
                <a:latin typeface="NanumGothic"/>
                <a:ea typeface="NanumGothic"/>
              </a:rPr>
              <a:t>φᵢ⁽ᵗ⁾  ∝  ⟨ g_val , gᵢ ⟩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검증 gradient와 데이터 i의 gradient의 내적.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두 방향이 일치할수록(검증 손실을 낮추는 쪽) 기여가 크다.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74519"/>
            <a:ext cx="5394960" cy="233172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057399"/>
            <a:ext cx="4846320" cy="20116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33475B"/>
                </a:solidFill>
                <a:latin typeface="NanumGothic"/>
                <a:ea typeface="NanumGothic"/>
              </a:rPr>
              <a:t>2차 항 (gradient · Hessian · gradient)</a:t>
            </a:r>
          </a:p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A37"/>
                </a:solidFill>
                <a:latin typeface="NanumGothic"/>
                <a:ea typeface="NanumGothic"/>
              </a:rPr>
              <a:t>φᵢ⁽ᵗ⁾  에  gᵀ H g  꼴이 추가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곡률(Hessian)을 반영 — 데이터 간 상호작용/중복을 포착.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변위가 클수록 1차만으론 부정확 → 2차가 보정.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434839"/>
            <a:ext cx="11155680" cy="10972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원 논문(IRDS)의 관찰: 중앙집중 학습의 per-step 정밀(작은 η) 영역에선 2차 항이 정확도를 크게 높이지 않는다 (Appx E.2.2).</a:t>
            </a:r>
          </a:p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F2A37"/>
                </a:solidFill>
                <a:latin typeface="NanumGothic"/>
                <a:ea typeface="NanumGothic"/>
              </a:rPr>
              <a:t>→ 우리 연구의 출발점: FL은 라운드당 변위가 커서 무대가 다르다. (다음 절의 오차 분석에서 정확히 다룬다.)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7A7A7A"/>
                </a:solidFill>
                <a:latin typeface="NanumGothic"/>
                <a:ea typeface="NanumGothic"/>
              </a:rPr>
              <a:t>※ 본 발표는 ghost dot-product 등 per-sample-gradient 효율화 트릭은 다루지 않는다(본 연구와 직접 무관).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research-wiki/wiki/sources/in-run-data-shapley.md (Method: per-step Shapley via Taylor expansion)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우리 연구 (1) — 연합학습(FL) 세팅 한 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FedAvg: 매 라운드 r 마다 ① 서버가 현재 모델 wʳ 을 클라이언트에 보냄 → ② 각 클라이언트 k가 자기 데이터로 여러 로컬 스텝 학습해 업데이트 Δwₖ 산출 → ③ 서버가 이를 모아(가중 평균) 다음 모델 wʳ⁺¹ 을 만든다.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59152"/>
            <a:ext cx="27432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F2A37"/>
                </a:solidFill>
                <a:latin typeface="NanumGothic"/>
                <a:ea typeface="NanumGothic"/>
              </a:rPr>
              <a:t>서버 모델  wʳ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27432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전체에 배포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49040" y="2606040"/>
            <a:ext cx="365760" cy="365760"/>
          </a:xfrm>
          <a:prstGeom prst="rightArrow">
            <a:avLst/>
          </a:prstGeom>
          <a:solidFill>
            <a:srgbClr val="334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0" y="210312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2359152"/>
            <a:ext cx="27432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F2A37"/>
                </a:solidFill>
                <a:latin typeface="NanumGothic"/>
                <a:ea typeface="NanumGothic"/>
              </a:rPr>
              <a:t>클라이언트 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880360"/>
            <a:ext cx="27432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로컬 E스텝 학습 → Δwₖ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23760" y="2606040"/>
            <a:ext cx="365760" cy="365760"/>
          </a:xfrm>
          <a:prstGeom prst="rightArrow">
            <a:avLst/>
          </a:prstGeom>
          <a:solidFill>
            <a:srgbClr val="334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89520" y="210312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359152"/>
            <a:ext cx="27432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F2A37"/>
                </a:solidFill>
                <a:latin typeface="NanumGothic"/>
                <a:ea typeface="NanumGothic"/>
              </a:rPr>
              <a:t>서버 집계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880360"/>
            <a:ext cx="27432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wʳ⁺¹ = wʳ + Σ pₖ·Δwₖ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77639"/>
            <a:ext cx="11155680" cy="1554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2A37"/>
                </a:solidFill>
                <a:latin typeface="NanumGothic"/>
                <a:ea typeface="NanumGothic"/>
              </a:rPr>
              <a:t>서버가 이미 받는 것 = 각 클라이언트의 업데이트 Δwₖ 뿐.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Flirds는 바로 이 Δwₖ 만으로 client-level 기여도를 계산한다 → 추가 통신·추가 통계량 0 (vanilla FedAvg 위에 그대로 얹힘).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단위: 데이터포인트가 아니라 '클라이언트'. 분해: 스텝이 아니라 '라운드'. (다음 장에서 이유 설명)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7A7A"/>
                </a:solidFill>
                <a:latin typeface="NanumGothic"/>
                <a:ea typeface="NanumGothic"/>
              </a:rPr>
              <a:t>• pₖ = 집계 가중치(보통 데이터 크기 비례). E = 라운드당 로컬 스텝 수.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research-wiki/wiki/flirds.md (One-line method statement · Locked design decisions)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우리 연구 (2) — Flirds의 핵심 설계 선택 3가지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In-Run Data Shapley를 FL로 가져올 때의 세 가지 결정. 그 결과가 아래 라운드별 닫힌형 공식.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11155680" cy="950976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10698480" cy="38404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3475B"/>
                </a:solidFill>
                <a:latin typeface="NanumGothic"/>
                <a:ea typeface="NanumGothic"/>
              </a:rPr>
              <a:t>(a) 단위: 데이터포인트 → 클라이언트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10698480" cy="411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NanumGothic"/>
                <a:ea typeface="NanumGothic"/>
              </a:rPr>
              <a:t>FL에서 가장 자연스러운 귀속 단위. 서버는 클라이언트 업데이트만 보므로 client-level이 직접 대상.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88920"/>
            <a:ext cx="11155680" cy="950976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98648"/>
            <a:ext cx="10698480" cy="38404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3475B"/>
                </a:solidFill>
                <a:latin typeface="NanumGothic"/>
                <a:ea typeface="NanumGothic"/>
              </a:rPr>
              <a:t>(b) 분해: 스텝 → 라운드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10698480" cy="411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NanumGothic"/>
                <a:ea typeface="NanumGothic"/>
              </a:rPr>
              <a:t>라운드마다 각 클라이언트 업데이트가 검증 손실에 준 델타를 1차+2차 Taylor로 추정. 라운드당 HVP(Hessian-vector product) 단 1회.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40480"/>
            <a:ext cx="11155680" cy="950976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50208"/>
            <a:ext cx="10698480" cy="38404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3475B"/>
                </a:solidFill>
                <a:latin typeface="NanumGothic"/>
                <a:ea typeface="NanumGothic"/>
              </a:rPr>
              <a:t>(c) 효용=검증 손실, 곡률=true Hessian, SGD momentum=0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43400"/>
            <a:ext cx="10698480" cy="411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NanumGothic"/>
                <a:ea typeface="NanumGothic"/>
              </a:rPr>
              <a:t>게임의 효용은 검증 손실. 곡률은 진짜 Hessian(GGN/Fisher 아님 — 테스트해보니 더 나빴음). 2차 Taylor가 성립하도록 plain SGD 가정.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46904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1F2A37"/>
          </a:solidFill>
          <a:ln w="9525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056632"/>
            <a:ext cx="105156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NanumGothic"/>
                <a:ea typeface="NanumGothic"/>
              </a:rPr>
              <a:t>φₖ⁽ʳ⁾ ≈ −∇ℓ(wʳ, z_val)·Δwₖ  +  ½ Δwₖᵀ H_val(wʳ)·ΔW⁽ʳ⁾        (라운드 합:  φₖ = Σᵣ φₖ⁽ʳ⁾)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CADCFC"/>
                </a:solidFill>
                <a:latin typeface="NanumGothic"/>
                <a:ea typeface="NanumGothic"/>
              </a:rPr>
              <a:t>1차항(검증 gradient·업데이트 내적) + 2차항(클라이언트 상호작용; ΔW⁽ʳ⁾=참여 클라 업데이트 합). 비용 = HVP 1회 + N번 내적.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research-wiki/wiki/flirds.md (Core formula · Locked design decisions) · CLAUDE.md §code conventions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우리 연구 (3) — 왜 in-run이어야 하나 (FL에서의 비용)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FL에서 '정확한' 클라이언트 Shapley를 직접 재려면, 매 라운드마다 N개 클라이언트의 모든 부분집합(2ᴺ)에 대해 모델을 다시 만들어 검증 손실을 재야 한다.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86400" cy="228600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4937760" cy="1920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 i="0">
                <a:solidFill>
                  <a:srgbClr val="33475B"/>
                </a:solidFill>
                <a:latin typeface="NanumGothic"/>
                <a:ea typeface="NanumGothic"/>
              </a:rPr>
              <a:t>정확 오라클 (왜 비싼가)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라운드마다 2ᴺ 부분집합 평가 → R 라운드면 2ᴺ·R.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N=5 → 32×, N=10 → 1024× (라운드마다).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실험 검증용으론 쓰되(아래 (b) 오라클), 실제 운용엔 불가.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92024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103120"/>
            <a:ext cx="4846320" cy="1920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 i="0">
                <a:solidFill>
                  <a:srgbClr val="2C5F2D"/>
                </a:solidFill>
                <a:latin typeface="NanumGothic"/>
                <a:ea typeface="NanumGothic"/>
              </a:rPr>
              <a:t>Flirds (in-run 추정)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라운드당 HVP 1회 + N번 내적 (닫힌형).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서버가 이미 받은 Δwₖ 만 사용 → 추가 통신 0.</a:t>
            </a:r>
          </a:p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LoRA로 파라미터 차원이 작아 HVP가 저렴.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434840"/>
            <a:ext cx="11155680" cy="12801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F2A37"/>
                </a:solidFill>
                <a:latin typeface="NanumGothic"/>
                <a:ea typeface="NanumGothic"/>
              </a:rPr>
              <a:t>실험에서 쓰는 두 가지 '정답(oracle)' — 추정이 맞는지 검증하기 위해서만 (비싸므로 작은 N에서):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(b) in-run 정확 오라클: 한 학습 궤적에서 2ᴺ 분해로 정확 Shapley를 계산 — Flirds가 근사하려는 바로 그 대상.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(a) retrain 정확 오라클: 부분집합마다 처음부터 재학습 — 데이터-가치 커뮤니티의 고전적 정답(별개 게임).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research-wiki/wiki/flirds.md (Resolved Q5: dual oracle) · CLAUDE.md (LLM backend: (b) oracle cost = 2ᴺ·R·val·seq)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우리 연구 (4) — 근사 오차 분석: 왜 FL에선 2차 항이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Taylor 전개의 잔차(버리는 고차항)는 '변위 크기'에 좌우된다. 중앙집중 IRDS와 FL은 변위 규모가 달라, 같은 1차 근사라도 오차 규모가 다르다.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5486400" cy="26974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93392"/>
            <a:ext cx="4974336" cy="23774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33475B"/>
                </a:solidFill>
                <a:latin typeface="NanumGothic"/>
                <a:ea typeface="NanumGothic"/>
              </a:rPr>
              <a:t>원조 IRDS — 중앙집중 per-step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검증 사이 변위 = SGD '한 스텝' (작은 η) → ‖Δθ‖ 작음.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1차 Taylor 잔차 = O(‖Δθ‖²) → 이미 매우 작음.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따라서 2차 항의 역할이 미미 (논문 Appx E.2.2와 일치).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394960" cy="2697480"/>
          </a:xfrm>
          <a:prstGeom prst="roundRect">
            <a:avLst>
              <a:gd name="adj" fmla="val 6000"/>
            </a:avLst>
          </a:prstGeom>
          <a:solidFill>
            <a:srgbClr val="F7ECE8"/>
          </a:solidFill>
          <a:ln w="9525">
            <a:solidFill>
              <a:srgbClr val="E3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1993392"/>
            <a:ext cx="4882896" cy="23774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B85042"/>
                </a:solidFill>
                <a:latin typeface="NanumGothic"/>
                <a:ea typeface="NanumGothic"/>
              </a:rPr>
              <a:t>FL — 라운드당 multi-step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클라가 여러 로컬 스텝 후 집계 → 라운드 변위 ‖Δw_round‖ ≫ per-step.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1차 잔차 O(‖Δw_round‖²) 가 커진다 → 1차만으론 부정확.</a:t>
            </a:r>
          </a:p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A37"/>
                </a:solidFill>
                <a:latin typeface="NanumGothic"/>
                <a:ea typeface="NanumGothic"/>
              </a:rPr>
              <a:t>• 2차(Hessian) 항을 넣으면 잔차가 O(‖Δw‖³) 로 낮아져 fidelity 유지.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09160"/>
            <a:ext cx="1115568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스케일 논증(증명 아님):  변위가 ε배 커지면 1차 잔차는 ε² 배, 2차 잔차는 ε³ 배로 줄어든다. per-step에선 ε≈작아 둘 다 무시 가능하지만, 라운드 변위에선 ε²가 더 이상 작지 않다 → 2차 항이 비로소 load-bearing.</a:t>
            </a:r>
          </a:p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A37"/>
                </a:solidFill>
                <a:latin typeface="NanumGothic"/>
                <a:ea typeface="NanumGothic"/>
              </a:rPr>
              <a:t>Proposition 2 (informal): 라운드 변위 반경 Rᵣ에 대해 client drift residual은 Rᵣ의 3차(cubic) 함수로 bound된다. → 이것이 우리가 2차를 LLM 스케일에서 검증한 이유.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research-wiki/wiki/flirds.md (FL multi-step deviation: drift residual; Prop 1·2) · sources/in-run-data-shapley.md (Notes 2026-06-03)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우리 연구 (4-보강) — "2차 항이 1차를 이긴" 실측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오차 분석의 예측(FL에선 2차가 의미 있다)을 실제 데이터가 뒷받침한다. 두 개의 구체적 데이터포인트.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4519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399"/>
            <a:ext cx="4937760" cy="23774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33475B"/>
                </a:solidFill>
                <a:latin typeface="NanumGothic"/>
                <a:ea typeface="NanumGothic"/>
              </a:rPr>
              <a:t>CNN, plain SGD — 추정 vs (b)오라클 Spearman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F2A37"/>
                </a:solidFill>
                <a:latin typeface="NanumGothic"/>
                <a:ea typeface="NanumGothic"/>
              </a:rPr>
              <a:t>• 2차 포함:  0.96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22222"/>
                </a:solidFill>
                <a:latin typeface="NanumGothic"/>
                <a:ea typeface="NanumGothic"/>
              </a:rPr>
              <a:t>• 1차만:      0.92</a:t>
            </a:r>
          </a:p>
          <a:p>
            <a:pPr algn="l">
              <a:lnSpc>
                <a:spcPct val="130000"/>
              </a:lnSpc>
            </a:pPr>
            <a:r>
              <a:rPr sz="500" b="0" i="0">
                <a:solidFill>
                  <a:srgbClr val="222222"/>
                </a:solidFill>
                <a:latin typeface="NanumGothic"/>
                <a:ea typeface="NanumGothic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momentum=0.9 에선 역전 (2차 0.73 &lt; 1차 0.81):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A7A7A"/>
                </a:solidFill>
                <a:latin typeface="NanumGothic"/>
                <a:ea typeface="NanumGothic"/>
              </a:rPr>
              <a:t>   모멘텀의 속도 꼬리가 'Taylor가 전개하는 변위'와 어긋남 → plain SGD가 convention인 이유.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74519"/>
            <a:ext cx="5394960" cy="2743200"/>
          </a:xfrm>
          <a:prstGeom prst="roundRect">
            <a:avLst>
              <a:gd name="adj" fmla="val 6000"/>
            </a:avLst>
          </a:prstGeom>
          <a:solidFill>
            <a:srgbClr val="F7ECE8"/>
          </a:solidFill>
          <a:ln w="9525">
            <a:solidFill>
              <a:srgbClr val="E3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057399"/>
            <a:ext cx="4846320" cy="23774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85042"/>
                </a:solidFill>
                <a:latin typeface="NanumGothic"/>
                <a:ea typeface="NanumGothic"/>
              </a:rPr>
              <a:t>LLM 1B, cross-silo N=5 — poison 탐지 AUROC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F2A37"/>
                </a:solidFill>
                <a:latin typeface="NanumGothic"/>
                <a:ea typeface="NanumGothic"/>
              </a:rPr>
              <a:t>• Flirds (2차):    0.917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22222"/>
                </a:solidFill>
                <a:latin typeface="NanumGothic"/>
                <a:ea typeface="NanumGothic"/>
              </a:rPr>
              <a:t>• Flirds-1st:       0.000  (완전 회피)</a:t>
            </a:r>
          </a:p>
          <a:p>
            <a:pPr algn="l">
              <a:lnSpc>
                <a:spcPct val="130000"/>
              </a:lnSpc>
            </a:pPr>
            <a:r>
              <a:rPr sz="500" b="0" i="0">
                <a:solidFill>
                  <a:srgbClr val="222222"/>
                </a:solidFill>
                <a:latin typeface="NanumGothic"/>
                <a:ea typeface="NanumGothic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clean-보존 backdoor 공격자를 1차 항은 전혀 못 잡고,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A7A7A"/>
                </a:solidFill>
                <a:latin typeface="NanumGothic"/>
                <a:ea typeface="NanumGothic"/>
              </a:rPr>
              <a:t>   2차 Hessian 항이 부호를 일부 복원해 잡아낸다 (LLM 스케일 최초 데이터포인트).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18887"/>
            <a:ext cx="111556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7A7A7A"/>
                </a:solidFill>
                <a:latin typeface="NanumGothic"/>
                <a:ea typeface="NanumGothic"/>
              </a:rPr>
              <a:t>정리: 2차 항의 이득은 '변위가 큰' FL 무대에서만 드러난다 — IRDS가 보고한 '중앙 per-step에선 이득 미미'와 모순이 아니라 무대가 다른 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research-wiki/wiki/flirds.md (Phase 0.5 findings) · ../build_deck.py Slide14 (silo5 poison) · 개요 §3.4.1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대표 결과 (1·핵심) — Fidelity: 오라클 대비 기여도 정확도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핵심 질문 위계의 1차. LLM 표준 실험(LoRA; OpenFedLLM 표준 레시피) · 정답 = in-run 정확 오라클 (b) · 3-seed mean. 값 클수록 충실(↑), Spearman = 순위 상관.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발췌(전체 표·열은 결과 데크 참조). 표준 스테이지 = 참여자 20·라운드당 2; 정밀 스테이지 = 참여자 5·전원.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331720"/>
          <a:ext cx="11384279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3409"/>
                <a:gridCol w="1836174"/>
                <a:gridCol w="1836174"/>
                <a:gridCol w="1836174"/>
                <a:gridCol w="1836174"/>
                <a:gridCol w="1836174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표준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표준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표준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정밀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정밀 Sp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GTG-Shapley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0.227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0.157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074920"/>
            <a:ext cx="1133856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Flirds·Flirds-1st·loss-heur가 천장(≈1.000) — exact in-run Shapley의 순위를 그대로 재현. GTG/FedSV가 그 다음.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FedIF/ShapleyFL/ComFedSV는 설계상 낮음(영향도·surrogate·low-rank 가정). N=5(정밀)는 전수 2⁵라 다수 방법이 1.000 동률.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Sp=Spearman. ±std·Kendall·Pearson·CNN 표는 결과 데크 참조. 정밀 스테이지엔 (a) retrain 오라클 대비 0.933 일치도도 측정됨.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../build_deck.py Slide 3·4 (개요 §3.1.1, runs/track_d/fidelity.csv)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대표 결과 (1·보강) — Fidelity에서 2차 항의 효과 (CNN 실험)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LLM(IID·near-additive)에선 1차·2차 모두 ≈1.000으로 포화해 차이가 안 보인다 → 2차 항의 fidelity 기여는 변위가 큰 CNN 무대에서 드러난다.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CNN 실험 cross-silo N=10 전원 · 정답 = in-run 정확 오라클 (b) · 값 클수록 충실(↑). Flirds(1차+2차) vs Flirds-1st 비교.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331720"/>
          <a:ext cx="11384277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49050"/>
                <a:gridCol w="2814091"/>
                <a:gridCol w="2430351"/>
                <a:gridCol w="179078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데이터셋 / 시나리오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 (1차+2차)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Flirds-1st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차이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feature_noise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+0.11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iid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+0.41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label_skew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+0.06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 / feature_noise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+0.09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 / label_skew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pool 평균 (10 시나리오 × 3 seed)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+0.087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83480"/>
            <a:ext cx="1133856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F2A37"/>
                </a:solidFill>
                <a:latin typeface="NanumGothic"/>
                <a:ea typeface="NanumGothic"/>
              </a:rPr>
              <a:t>• CNN(전체 모델 학습 → 라운드 변위 큼)에선 2차 Hessian 항이 모든 시나리오에서 fidelity를 끌어올린다 (pool +0.087).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이것이 §오차 분석의 직접 증거 — '변위가 큰 FL 무대에서 2차가 load-bearing'. LLM에서 1·2차가 같아 보이는 건 near-additive 포화 때문.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pool은 신호 없는 iid 칸 포함이라 보수적. ±std·전체 10 시나리오·(a) retrain 오라클 대비는 결과 데크 참조.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../build_deck.py Slide 6·7 (개요 §3.1.2, runs/track_c/fidelity.csv · c1/*/metrics.json)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대표 결과 (2) — 비용: 정확 오라클 대비 5~15× 저렴 + 대규모 확장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같은 순위 정확도(Fidelity 1.000)를 훨씬 싸게. LLM 1B cross-silo N=5, 라운드당 1 HVP vs 2⁵ 부분집합 평가 · 런타임은 3-seed 대표값.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920240"/>
          <a:ext cx="11384279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96464"/>
                <a:gridCol w="2815467"/>
                <a:gridCol w="367234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방법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런타임(N=5, 1B)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성격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~35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1차만 — 가장 쌈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(1차+2차)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~107 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추정기 본체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~170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휴리스틱 floor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 / FedSV / ShapleyFL / Banzhaf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~530 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부분집합 스윕 baseline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 in-run 정확 오라클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~530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정답(검증용)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~4515 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최약·최고가 → 지배됨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709160"/>
            <a:ext cx="11155680" cy="114300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855464"/>
            <a:ext cx="1069848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C5F2D"/>
                </a:solidFill>
                <a:latin typeface="NanumGothic"/>
                <a:ea typeface="NanumGothic"/>
              </a:rPr>
              <a:t>대규모 단말 연합(cross-device, N=100)까지 확장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N=100, 라운드당 10명 참여(Dirichlet α-sweep)에서도 Flirds vs (b) per-round 오라클 Spearman +1.000 — near-additivity가 스케일에서도 유지.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22222"/>
                </a:solidFill>
                <a:latin typeface="NanumGothic"/>
                <a:ea typeface="NanumGothic"/>
              </a:rPr>
              <a:t>• 오라클은 forward 771ms/회 → R200이면 ~11h/4-GPU(α=0.5 anchor 1점만). Flirds는 이를 검증된 proxy로 대체해 전 α축을 저렴하게 커버.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../build_deck.py (개요 §3.1.1 runtime) · CLAUDE.md baseline (task1 runtime · task7c cross-device +1.000)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대표 결과 (3·선택) — 강건성: 오염 클라 탐지 (cross-silo N=5)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핵심 질문 위계의 2차③(마지막). 위협별 1명 오염 · AUROC = corrupt를 high-φ로 잡는 탐지력(↑) · Llama-3.2-1B, (b)=exact 2⁵ · 3-seed.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발췌. noisy=answer-swap(데이터 품질), free-rider=zero/random 업데이트, poison=clean-보존 backdoor(ASR≈1.00).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240280"/>
          <a:ext cx="11384277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2227"/>
                <a:gridCol w="1821484"/>
                <a:gridCol w="2618384"/>
                <a:gridCol w="2390698"/>
                <a:gridCol w="1821484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noisy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free-rider(random)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free-rider(zero)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poison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(1차+2차)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GTG-Shapley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 oracle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FLDetector(탐지기)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STD-DAGMM(탐지기)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029200"/>
            <a:ext cx="1133856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noisy·free-rider는 거의 모두 AUROC 1.0 (near-additive 영역) — 전용 탐지기(FLDetector/STD-DAGMM)보다 valuation이 오히려 강함.</a:t>
            </a:r>
          </a:p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F2A37"/>
                </a:solidFill>
                <a:latin typeface="NanumGothic"/>
                <a:ea typeface="NanumGothic"/>
              </a:rPr>
              <a:t>• poison(clean-보존 backdoor)이 분리점: Flirds-1st는 완전 회피(0.000), 2차 Flirds가 0.917로 버팀 → 다음 장(정직한 한계).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7A7A7A"/>
                </a:solidFill>
                <a:latin typeface="NanumGothic"/>
                <a:ea typeface="NanumGothic"/>
              </a:rPr>
              <a:t>탐지기 행은 Spearman 없음(φ 미산출). 전체 8지표·런타임·cross-device α-sweep은 결과 데크 참조.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../build_deck.py Slide 14 (개요 §3.4.1, runs/phase2_matrix/analysis · RESULTS.md)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우리 연구의 novelty — 기존에 비어 있던 교집합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Flirds의 새로움은 '최초의 연합 in-run'이 아니다(그건 Ripple Shapley가 이미). 아래 6가지 속성을 모두 동시에 만족하는 방법이 선행 연구에 없다는 '교집합'이 novelty다.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최신 문헌 스캔(내부 4 검색 + 외부 서베이 교차검증)으로 확인 — 단일 논문이 전체 교집합을 차지하지 않음.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3611880" cy="658368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965960"/>
            <a:ext cx="3282696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5F2D"/>
                </a:solidFill>
                <a:latin typeface="NanumGothic"/>
                <a:ea typeface="NanumGothic"/>
              </a:rPr>
              <a:t>client-level (데이터포인트 아닌 클라이언트)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33672" y="1965960"/>
            <a:ext cx="3611880" cy="658368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8264" y="1965960"/>
            <a:ext cx="3282696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5F2D"/>
                </a:solidFill>
                <a:latin typeface="NanumGothic"/>
                <a:ea typeface="NanumGothic"/>
              </a:rPr>
              <a:t>in-run (한 학습 궤적, 재학습 없음)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64424" y="1965960"/>
            <a:ext cx="3611880" cy="658368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9016" y="1965960"/>
            <a:ext cx="3282696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5F2D"/>
                </a:solidFill>
                <a:latin typeface="NanumGothic"/>
                <a:ea typeface="NanumGothic"/>
              </a:rPr>
              <a:t>닫힌형 1차+2차 Taylor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43200"/>
            <a:ext cx="3611880" cy="658368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43200"/>
            <a:ext cx="3282696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5F2D"/>
                </a:solidFill>
                <a:latin typeface="NanumGothic"/>
                <a:ea typeface="NanumGothic"/>
              </a:rPr>
              <a:t>2차 HVP 클라이언트 상호작용 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2743200"/>
            <a:ext cx="3611880" cy="658368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8264" y="2743200"/>
            <a:ext cx="3282696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5F2D"/>
                </a:solidFill>
                <a:latin typeface="NanumGothic"/>
                <a:ea typeface="NanumGothic"/>
              </a:rPr>
              <a:t>추가 통신 0 (vanilla FedAvg 위)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2743200"/>
            <a:ext cx="3611880" cy="658368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9016" y="2743200"/>
            <a:ext cx="3282696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5F2D"/>
                </a:solidFill>
                <a:latin typeface="NanumGothic"/>
                <a:ea typeface="NanumGothic"/>
              </a:rPr>
              <a:t>LoRA · LLM 스케일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685032"/>
            <a:ext cx="11155680" cy="329184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A37"/>
                </a:solidFill>
                <a:latin typeface="NanumGothic"/>
                <a:ea typeface="NanumGothic"/>
              </a:rPr>
              <a:t>가장 가까운 경쟁자 대비 차별점: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4069080"/>
          <a:ext cx="11384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9006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방법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한계 (Flirds가 채우는 지점)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Ripple Shapley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sample-level · 재귀 Jacobian 저랭크 근사 · 2차항 없음 → Flirds는 client-level·닫힌형 1차+2차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 (2025)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1차 TracIn만 · CNN 전용 · 집계 방식을 바꿈 → Flirds는 2차 곡률 + vanilla FedAvg 위 사후 valuation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 / GTG / ShapleyFL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라운드마다 부분집합·재학습 대리 효용 평가 → Flirds는 라운드당 HVP 1회 닫힌형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IRDS (중앙집중)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 아님 · per-step 영역이라 2차 이득 미미 → Flirds는 FL 라운드 변위에서 2차가 load-bearing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research-wiki/wiki/flirds.md (Differentiators · Recent prior-work scan 2026-06-03) · ../build_deck.py Slide 30 (기여)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2A37"/>
                </a:solidFill>
                <a:latin typeface="NanumGothic"/>
                <a:ea typeface="NanumGothic"/>
              </a:rPr>
              <a:t>정직한 한계 — valuation의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2412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C4654"/>
                </a:solidFill>
                <a:latin typeface="NanumGothic"/>
                <a:ea typeface="NanumGothic"/>
              </a:rPr>
              <a:t>방법을 '탐지기'가 아니라 '기여도 측정기'로 정직하게 보면, 다음은 실패가 아니라 정의상 옳은 답이다.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1155680" cy="228600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10607040" cy="1828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33475B"/>
                </a:solidFill>
                <a:latin typeface="NanumGothic"/>
                <a:ea typeface="NanumGothic"/>
              </a:rPr>
              <a:t>clean-preserving backdoor (clean 검증 손실을 낮추는 공격자)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• 이 공격자는 깨끗한 검증 손실을 실제로 낮춘다 → valuation은 정직하게 '기여 높음(φ 큼)'으로 평가한다.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• 즉 1차 Taylor가 부호를 놓치는 것은 '탐지 실패'라기보다, 검증 손실을 게임 효용으로 쓴 정직한 결과에 가깝다.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• 같은 검증-손실 게임을 쓰는 (b) 정확 오라클·loss-heur도 이를 high-φ로 평가 → 방법론의 일관된 경계이지 버그가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1115568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F2A37"/>
                </a:solidFill>
                <a:latin typeface="NanumGothic"/>
                <a:ea typeface="NanumGothic"/>
              </a:rPr>
              <a:t>핵심 질문 위계와 일치하는 메시지: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기여도(valuation)와 오염 탐지(detection)는 완전 직결이 아니다 — 그래서 탐지는 위계의 '마지막'에 둔다.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이 경계는 보편이 아니라 조건부(큰 scaled-update × 큰 모델; cross-device 희석 시 회피 안 됨) → 상보적 탐지기가 필요한 지점을 정직하게 표시.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• 2차 Hessian 항이 일부(1B 0.917) 복원한다는 점은 '2차가 FL에서 load-bearing'이라는 본 연구의 주장과도 맞물린다.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44768"/>
            <a:ext cx="1133856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출처: research-wiki/wiki/flirds.md (핵심 질문 위계 §poison) · ../build_deck.py Slide 20·25 (poison 회피 발견)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NanumGothic"/>
                <a:ea typeface="NanumGothic"/>
              </a:rPr>
              <a:t>정리 — 한 문장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1645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CADCFC"/>
                </a:solidFill>
                <a:latin typeface="NanumGothic"/>
                <a:ea typeface="NanumGothic"/>
              </a:rPr>
              <a:t>Flirds는 연합학습의 한 학습 궤적에서, 서버가 이미 받는 클라이언트 업데이트 Δwₖ 만으로 client-level 데이터 기여도를 1차+2차 Taylor(true Hessian)로 추정한다 — 추가 통신 0, 정확 오라클의 순위를 충실히(Spearman ≈ 1.000) 5~15× 저렴하게 재현하며, FL 특유의 큰 라운드 변위 때문에 2차 항이 비로소 의미를 갖는다.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NanumGothic"/>
                <a:ea typeface="NanumGothic"/>
              </a:rPr>
              <a:t>발표 흐름 요약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NanumGothic"/>
                <a:ea typeface="NanumGothic"/>
              </a:rPr>
              <a:t>FL 동기(보상·탐지·불량식별) → Data Shapley(공정 분배, 2ᴺ 한계) → In-Run(한 궤적·Taylor 분해) → Flirds(client·round 설계 + 왜 2차가 필요한가) → 결과(Fidelity 1.000 · 5~15× 저렴 · 강건성) → novelty(교집합) → 정직한 한계.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ADCFC"/>
                </a:solidFill>
                <a:latin typeface="NanumGothic"/>
                <a:ea typeface="NanumGothic"/>
              </a:rPr>
              <a:t>개념 출처 = research-wiki / 대표 수치 출처 = 결과 데크 flirds-results-2026-06-26. 슬라이드별 각주에 경로 표기.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