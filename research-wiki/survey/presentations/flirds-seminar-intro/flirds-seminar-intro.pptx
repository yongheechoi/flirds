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72" r:id="rId10"/>
    <p:sldId id="266" r:id="rId11"/>
    <p:sldId id="267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04131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 dirty="0" err="1">
                <a:solidFill>
                  <a:srgbClr val="FFFFFF"/>
                </a:solidFill>
                <a:latin typeface="+mj-lt"/>
                <a:ea typeface="NanumGothic"/>
              </a:rPr>
              <a:t>Flirds</a:t>
            </a:r>
            <a:endParaRPr sz="6600" b="1" i="0" dirty="0">
              <a:solidFill>
                <a:srgbClr val="FFFFFF"/>
              </a:solidFill>
              <a:latin typeface="+mj-lt"/>
              <a:ea typeface="Nanum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10515600" cy="5180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CADCFC"/>
                </a:solidFill>
                <a:ea typeface="NanumGothic"/>
              </a:rPr>
              <a:t>Federated</a:t>
            </a:r>
            <a:r>
              <a:rPr sz="3200" b="1" i="0" dirty="0">
                <a:solidFill>
                  <a:srgbClr val="CADCFC"/>
                </a:solidFill>
                <a:latin typeface="NanumGothic"/>
                <a:ea typeface="NanumGothic"/>
              </a:rPr>
              <a:t> Learning + In-Run Data Shapley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1051560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CADCFC"/>
                </a:solidFill>
                <a:ea typeface="NanumGothic"/>
              </a:rPr>
              <a:t>2026-06-30</a:t>
            </a:r>
            <a:endParaRPr lang="en-US" b="1" i="0" dirty="0">
              <a:solidFill>
                <a:srgbClr val="CADCFC"/>
              </a:solidFill>
              <a:ea typeface="NanumGothic"/>
            </a:endParaRPr>
          </a:p>
          <a:p>
            <a:pPr algn="l">
              <a:lnSpc>
                <a:spcPct val="100000"/>
              </a:lnSpc>
            </a:pPr>
            <a:r>
              <a:rPr lang="en-US" b="1" i="0" dirty="0">
                <a:solidFill>
                  <a:srgbClr val="CADCFC"/>
                </a:solidFill>
                <a:ea typeface="NanumGothic"/>
              </a:rPr>
              <a:t>Edge AI Lab </a:t>
            </a:r>
            <a:r>
              <a:rPr lang="ko-KR" altLang="en-US" b="1" i="0" dirty="0">
                <a:solidFill>
                  <a:srgbClr val="CADCFC"/>
                </a:solidFill>
                <a:ea typeface="NanumGothic"/>
              </a:rPr>
              <a:t>최용희</a:t>
            </a:r>
            <a:endParaRPr b="1" i="0" dirty="0">
              <a:solidFill>
                <a:srgbClr val="CADCFC"/>
              </a:solidFill>
              <a:ea typeface="Nanum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Motivation &amp;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4846320" cy="4565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 err="1">
                <a:solidFill>
                  <a:srgbClr val="33475B"/>
                </a:solidFill>
                <a:ea typeface="NanumGothic"/>
              </a:rPr>
              <a:t>필요성</a:t>
            </a:r>
            <a:endParaRPr sz="2800" b="1" i="0" dirty="0">
              <a:solidFill>
                <a:srgbClr val="33475B"/>
              </a:solidFill>
              <a:ea typeface="Nanum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4846320" cy="18024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1F2A37"/>
                </a:solidFill>
                <a:ea typeface="NanumGothic"/>
              </a:rPr>
              <a:t>•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기여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비례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보상·인센티브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분배</a:t>
            </a:r>
            <a:endParaRPr sz="2000" b="1" i="0" dirty="0">
              <a:solidFill>
                <a:srgbClr val="1F2A37"/>
              </a:solidFill>
              <a:ea typeface="NanumGothic"/>
            </a:endParaRPr>
          </a:p>
          <a:p>
            <a:pPr algn="l">
              <a:lnSpc>
                <a:spcPct val="125000"/>
              </a:lnSpc>
            </a:pPr>
            <a:r>
              <a:rPr b="0" i="0" dirty="0">
                <a:solidFill>
                  <a:srgbClr val="222222"/>
                </a:solidFill>
                <a:ea typeface="NanumGothic"/>
              </a:rPr>
              <a:t>  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데이터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시장·연합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컨소시엄의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핵심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동기</a:t>
            </a:r>
            <a:endParaRPr lang="en-US" b="0" i="0" dirty="0">
              <a:solidFill>
                <a:srgbClr val="222222"/>
              </a:solidFill>
              <a:ea typeface="NanumGothic"/>
            </a:endParaRPr>
          </a:p>
          <a:p>
            <a:pPr algn="l">
              <a:lnSpc>
                <a:spcPct val="125000"/>
              </a:lnSpc>
            </a:pPr>
            <a:endParaRPr lang="en-US" dirty="0">
              <a:solidFill>
                <a:srgbClr val="222222"/>
              </a:solidFill>
              <a:ea typeface="NanumGothic"/>
            </a:endParaRPr>
          </a:p>
          <a:p>
            <a:pPr>
              <a:lnSpc>
                <a:spcPct val="125000"/>
              </a:lnSpc>
            </a:pPr>
            <a:r>
              <a:rPr lang="en-US" altLang="ko-KR" sz="2000" b="1" dirty="0">
                <a:solidFill>
                  <a:srgbClr val="1F2A37"/>
                </a:solidFill>
                <a:ea typeface="NanumGothic"/>
              </a:rPr>
              <a:t>• </a:t>
            </a:r>
            <a:r>
              <a:rPr lang="ko-KR" altLang="en-US" sz="2000" b="1" dirty="0">
                <a:solidFill>
                  <a:srgbClr val="1F2A37"/>
                </a:solidFill>
                <a:ea typeface="NanumGothic"/>
              </a:rPr>
              <a:t>불량 클라이언트 식별</a:t>
            </a:r>
            <a:r>
              <a:rPr lang="en-US" altLang="ko-KR" sz="2000" b="1" dirty="0">
                <a:solidFill>
                  <a:srgbClr val="1F2A37"/>
                </a:solidFill>
                <a:ea typeface="NanumGothic"/>
              </a:rPr>
              <a:t>·</a:t>
            </a:r>
            <a:r>
              <a:rPr lang="ko-KR" altLang="en-US" sz="2000" b="1" dirty="0">
                <a:solidFill>
                  <a:srgbClr val="1F2A37"/>
                </a:solidFill>
                <a:ea typeface="NanumGothic"/>
              </a:rPr>
              <a:t>가중</a:t>
            </a:r>
            <a:r>
              <a:rPr lang="en-US" altLang="ko-KR" sz="2000" b="1" dirty="0">
                <a:solidFill>
                  <a:srgbClr val="1F2A37"/>
                </a:solidFill>
                <a:ea typeface="NanumGothic"/>
              </a:rPr>
              <a:t>·</a:t>
            </a:r>
            <a:r>
              <a:rPr lang="ko-KR" altLang="en-US" sz="2000" b="1" dirty="0">
                <a:solidFill>
                  <a:srgbClr val="1F2A37"/>
                </a:solidFill>
                <a:ea typeface="NanumGothic"/>
              </a:rPr>
              <a:t>배제</a:t>
            </a:r>
          </a:p>
          <a:p>
            <a:pPr>
              <a:lnSpc>
                <a:spcPct val="125000"/>
              </a:lnSpc>
            </a:pPr>
            <a:r>
              <a:rPr lang="ko-KR" altLang="en-US" dirty="0">
                <a:solidFill>
                  <a:srgbClr val="222222"/>
                </a:solidFill>
                <a:ea typeface="NanumGothic"/>
              </a:rPr>
              <a:t>   라벨 오류</a:t>
            </a:r>
            <a:r>
              <a:rPr lang="en-US" altLang="ko-KR" dirty="0">
                <a:solidFill>
                  <a:srgbClr val="222222"/>
                </a:solidFill>
                <a:ea typeface="NanumGothic"/>
              </a:rPr>
              <a:t>·</a:t>
            </a:r>
            <a:r>
              <a:rPr lang="ko-KR" altLang="en-US" dirty="0">
                <a:solidFill>
                  <a:srgbClr val="222222"/>
                </a:solidFill>
                <a:ea typeface="NanumGothic"/>
              </a:rPr>
              <a:t>노이즈</a:t>
            </a:r>
            <a:r>
              <a:rPr lang="en-US" altLang="ko-KR" dirty="0">
                <a:solidFill>
                  <a:srgbClr val="222222"/>
                </a:solidFill>
                <a:ea typeface="NanumGothic"/>
              </a:rPr>
              <a:t>·</a:t>
            </a:r>
            <a:r>
              <a:rPr lang="en-US" altLang="ko-KR" dirty="0" err="1">
                <a:solidFill>
                  <a:srgbClr val="222222"/>
                </a:solidFill>
                <a:ea typeface="NanumGothic"/>
              </a:rPr>
              <a:t>free-rider·backdoor</a:t>
            </a:r>
            <a:r>
              <a:rPr lang="ko-KR" altLang="en-US" dirty="0">
                <a:solidFill>
                  <a:srgbClr val="222222"/>
                </a:solidFill>
                <a:ea typeface="NanumGothic"/>
              </a:rPr>
              <a:t> 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E6EFE6"/>
          </a:solidFill>
          <a:ln w="9525">
            <a:solidFill>
              <a:srgbClr val="C4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4754880" cy="4565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 err="1">
                <a:solidFill>
                  <a:srgbClr val="2C5F2D"/>
                </a:solidFill>
                <a:ea typeface="NanumGothic"/>
              </a:rPr>
              <a:t>문제</a:t>
            </a:r>
            <a:r>
              <a:rPr sz="2800" b="1" i="0" dirty="0">
                <a:solidFill>
                  <a:srgbClr val="2C5F2D"/>
                </a:solidFill>
                <a:ea typeface="NanumGothic"/>
              </a:rPr>
              <a:t> </a:t>
            </a:r>
            <a:r>
              <a:rPr sz="2800" b="1" i="0" dirty="0" err="1">
                <a:solidFill>
                  <a:srgbClr val="2C5F2D"/>
                </a:solidFill>
                <a:ea typeface="NanumGothic"/>
              </a:rPr>
              <a:t>정의</a:t>
            </a:r>
            <a:endParaRPr sz="2800" b="1" i="0" dirty="0">
              <a:solidFill>
                <a:srgbClr val="2C5F2D"/>
              </a:solidFill>
              <a:ea typeface="Nanum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0" y="2788920"/>
            <a:ext cx="4754880" cy="13605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 i="0" dirty="0">
                <a:solidFill>
                  <a:srgbClr val="1F2A37"/>
                </a:solidFill>
                <a:ea typeface="NanumGothic"/>
              </a:rPr>
              <a:t>•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FL에서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데이터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기여도를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평가</a:t>
            </a:r>
            <a:endParaRPr sz="2000" b="1" i="0" dirty="0">
              <a:solidFill>
                <a:srgbClr val="1F2A37"/>
              </a:solidFill>
              <a:ea typeface="NanumGothic"/>
            </a:endParaRPr>
          </a:p>
          <a:p>
            <a:pPr algn="l">
              <a:lnSpc>
                <a:spcPct val="150000"/>
              </a:lnSpc>
            </a:pPr>
            <a:r>
              <a:rPr sz="2000" b="1" i="0" dirty="0">
                <a:solidFill>
                  <a:srgbClr val="1F2A37"/>
                </a:solidFill>
                <a:ea typeface="NanumGothic"/>
              </a:rPr>
              <a:t>•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클라이언트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단위로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평가</a:t>
            </a:r>
            <a:endParaRPr sz="2000" b="1" i="0" dirty="0">
              <a:solidFill>
                <a:srgbClr val="1F2A37"/>
              </a:solidFill>
              <a:ea typeface="NanumGothic"/>
            </a:endParaRPr>
          </a:p>
          <a:p>
            <a:pPr algn="l">
              <a:lnSpc>
                <a:spcPct val="150000"/>
              </a:lnSpc>
            </a:pPr>
            <a:r>
              <a:rPr sz="2000" b="1" i="0" dirty="0">
                <a:solidFill>
                  <a:srgbClr val="1F2A37"/>
                </a:solidFill>
                <a:ea typeface="NanumGothic"/>
              </a:rPr>
              <a:t>• Shapley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value를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정확하고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효율적으로</a:t>
            </a:r>
            <a:r>
              <a:rPr sz="20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000" b="1" i="0" dirty="0" err="1">
                <a:solidFill>
                  <a:srgbClr val="1F2A37"/>
                </a:solidFill>
                <a:ea typeface="NanumGothic"/>
              </a:rPr>
              <a:t>추정</a:t>
            </a:r>
            <a:endParaRPr sz="2000" b="1" i="0" dirty="0">
              <a:solidFill>
                <a:srgbClr val="1F2A37"/>
              </a:solidFill>
              <a:ea typeface="Nanum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Data Shapley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0" y="3383280"/>
                <a:ext cx="10332720" cy="641201"/>
              </a:xfrm>
              <a:prstGeom prst="rect">
                <a:avLst/>
              </a:prstGeom>
              <a:noFill/>
            </p:spPr>
            <p:txBody>
              <a:bodyPr wrap="square" lIns="25400" tIns="12700" rIns="25400" bIns="1270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22222"/>
                    </a:solidFill>
                    <a:ea typeface="NanumGothic"/>
                  </a:rPr>
                  <a:t>Shapley value(</a:t>
                </a:r>
                <a:r>
                  <a:rPr lang="el-GR" sz="2000" dirty="0">
                    <a:solidFill>
                      <a:srgbClr val="222222"/>
                    </a:solidFill>
                    <a:ea typeface="NanumGothic"/>
                  </a:rPr>
                  <a:t>Φ</a:t>
                </a:r>
                <a:r>
                  <a:rPr lang="en-US" sz="2000" dirty="0">
                    <a:solidFill>
                      <a:srgbClr val="222222"/>
                    </a:solidFill>
                    <a:ea typeface="NanumGothic"/>
                  </a:rPr>
                  <a:t>) 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=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모든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조합에서의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한계기여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∪{</m:t>
                    </m:r>
                    <m:r>
                      <a:rPr lang="ko-KR" alt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})−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의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평균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.</a:t>
                </a:r>
                <a:endParaRPr lang="en-US" sz="2000" b="0" i="0" dirty="0">
                  <a:solidFill>
                    <a:srgbClr val="222222"/>
                  </a:solidFill>
                  <a:ea typeface="NanumGothic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U</a:t>
                </a:r>
                <a:r>
                  <a:rPr lang="en-US" sz="2000" b="0" i="0" dirty="0">
                    <a:solidFill>
                      <a:srgbClr val="222222"/>
                    </a:solidFill>
                    <a:ea typeface="NanumGothic"/>
                  </a:rPr>
                  <a:t>tility(U)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 =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S로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학습한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모델의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검증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 </a:t>
                </a:r>
                <a:r>
                  <a:rPr sz="2000" b="0" i="0" dirty="0" err="1">
                    <a:solidFill>
                      <a:srgbClr val="222222"/>
                    </a:solidFill>
                    <a:ea typeface="NanumGothic"/>
                  </a:rPr>
                  <a:t>성능</a:t>
                </a:r>
                <a:r>
                  <a:rPr sz="2000" b="0" i="0" dirty="0">
                    <a:solidFill>
                      <a:srgbClr val="222222"/>
                    </a:solidFill>
                    <a:ea typeface="NanumGothic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383280"/>
                <a:ext cx="10332720" cy="641201"/>
              </a:xfrm>
              <a:prstGeom prst="rect">
                <a:avLst/>
              </a:prstGeom>
              <a:blipFill>
                <a:blip r:embed="rId2"/>
                <a:stretch>
                  <a:fillRect t="-14286" b="-2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2194560" y="4297680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2468880" y="4526280"/>
            <a:ext cx="7223760" cy="83099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 dirty="0" err="1">
                <a:solidFill>
                  <a:srgbClr val="B85042"/>
                </a:solidFill>
                <a:ea typeface="NanumGothic"/>
              </a:rPr>
              <a:t>한계</a:t>
            </a:r>
            <a:r>
              <a:rPr sz="2400" b="1" i="0" dirty="0">
                <a:solidFill>
                  <a:srgbClr val="B85042"/>
                </a:solidFill>
                <a:ea typeface="NanumGothic"/>
              </a:rPr>
              <a:t>: </a:t>
            </a:r>
            <a:r>
              <a:rPr sz="2400" b="1" i="0" dirty="0" err="1">
                <a:solidFill>
                  <a:srgbClr val="B85042"/>
                </a:solidFill>
                <a:ea typeface="NanumGothic"/>
              </a:rPr>
              <a:t>부분집합마다</a:t>
            </a:r>
            <a:r>
              <a:rPr sz="2400" b="1" i="0" dirty="0">
                <a:solidFill>
                  <a:srgbClr val="B85042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B85042"/>
                </a:solidFill>
                <a:ea typeface="NanumGothic"/>
              </a:rPr>
              <a:t>모델</a:t>
            </a:r>
            <a:r>
              <a:rPr sz="2400" b="1" i="0" dirty="0">
                <a:solidFill>
                  <a:srgbClr val="B85042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B85042"/>
                </a:solidFill>
                <a:ea typeface="NanumGothic"/>
              </a:rPr>
              <a:t>재학습</a:t>
            </a:r>
            <a:r>
              <a:rPr sz="2400" b="1" i="0" dirty="0">
                <a:solidFill>
                  <a:srgbClr val="B85042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B85042"/>
                </a:solidFill>
                <a:ea typeface="NanumGothic"/>
              </a:rPr>
              <a:t>필요</a:t>
            </a:r>
            <a:r>
              <a:rPr sz="2400" b="1" i="0" dirty="0">
                <a:solidFill>
                  <a:srgbClr val="B85042"/>
                </a:solidFill>
                <a:ea typeface="NanumGothic"/>
              </a:rPr>
              <a:t> → 2ⁿ </a:t>
            </a:r>
            <a:r>
              <a:rPr sz="2400" b="1" i="0" dirty="0" err="1">
                <a:solidFill>
                  <a:srgbClr val="B85042"/>
                </a:solidFill>
                <a:ea typeface="NanumGothic"/>
              </a:rPr>
              <a:t>비용</a:t>
            </a:r>
            <a:endParaRPr sz="2400" b="1" i="0" dirty="0">
              <a:solidFill>
                <a:srgbClr val="B85042"/>
              </a:solidFill>
              <a:ea typeface="NanumGothic"/>
            </a:endParaRPr>
          </a:p>
          <a:p>
            <a:pPr algn="ctr">
              <a:lnSpc>
                <a:spcPct val="130000"/>
              </a:lnSpc>
            </a:pPr>
            <a:r>
              <a:rPr b="0" i="0" dirty="0" err="1">
                <a:solidFill>
                  <a:srgbClr val="222222"/>
                </a:solidFill>
                <a:ea typeface="NanumGothic"/>
              </a:rPr>
              <a:t>대형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모델에선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비현실적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→ In-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Run으로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해결</a:t>
            </a:r>
            <a:endParaRPr b="0" i="0" dirty="0">
              <a:solidFill>
                <a:srgbClr val="222222"/>
              </a:solidFill>
              <a:ea typeface="Nanum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3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36EDC02-26FC-843A-81F9-80F94E032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26" y="1868353"/>
            <a:ext cx="10850489" cy="7430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24B4A5-AB78-ABE9-E350-B0A5C50AA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620" y="2644610"/>
            <a:ext cx="1669163" cy="376320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0252E635-1949-32CA-6FBE-D49337C0590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51793" y="2632743"/>
            <a:ext cx="188160" cy="1610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In-Run Data Shapley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949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 err="1">
                <a:solidFill>
                  <a:srgbClr val="1F2A37"/>
                </a:solidFill>
                <a:ea typeface="NanumGothic"/>
              </a:rPr>
              <a:t>재학습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없이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,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실제로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진행된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 한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학습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과정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안에서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스텝별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기여를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 </a:t>
            </a:r>
            <a:r>
              <a:rPr sz="2400" b="1" i="0" dirty="0" err="1">
                <a:solidFill>
                  <a:srgbClr val="1F2A37"/>
                </a:solidFill>
                <a:ea typeface="NanumGothic"/>
              </a:rPr>
              <a:t>누적한다</a:t>
            </a:r>
            <a:r>
              <a:rPr sz="2400" b="1" i="0" dirty="0">
                <a:solidFill>
                  <a:srgbClr val="1F2A37"/>
                </a:solidFill>
                <a:ea typeface="NanumGothic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4172416"/>
            <a:ext cx="10332720" cy="33342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 dirty="0" err="1">
                <a:solidFill>
                  <a:srgbClr val="222222"/>
                </a:solidFill>
                <a:ea typeface="NanumGothic"/>
              </a:rPr>
              <a:t>스텝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sz="2000" b="0" i="0" dirty="0" err="1">
                <a:solidFill>
                  <a:srgbClr val="222222"/>
                </a:solidFill>
                <a:ea typeface="NanumGothic"/>
              </a:rPr>
              <a:t>t의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lang="ko-KR" altLang="en-US" sz="2000" dirty="0">
                <a:solidFill>
                  <a:srgbClr val="222222"/>
                </a:solidFill>
                <a:ea typeface="NanumGothic"/>
              </a:rPr>
              <a:t>기여도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를 </a:t>
            </a:r>
            <a:r>
              <a:rPr sz="2000" b="0" i="0" dirty="0" err="1">
                <a:solidFill>
                  <a:srgbClr val="222222"/>
                </a:solidFill>
                <a:ea typeface="NanumGothic"/>
              </a:rPr>
              <a:t>학습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 전 </a:t>
            </a:r>
            <a:r>
              <a:rPr sz="2000" b="0" i="0" dirty="0" err="1">
                <a:solidFill>
                  <a:srgbClr val="222222"/>
                </a:solidFill>
                <a:ea typeface="NanumGothic"/>
              </a:rPr>
              <a:t>구간에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sz="2000" b="0" i="0" dirty="0" err="1">
                <a:solidFill>
                  <a:srgbClr val="222222"/>
                </a:solidFill>
                <a:ea typeface="NanumGothic"/>
              </a:rPr>
              <a:t>걸쳐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sz="2000" b="0" i="0" dirty="0" err="1">
                <a:solidFill>
                  <a:srgbClr val="222222"/>
                </a:solidFill>
                <a:ea typeface="NanumGothic"/>
              </a:rPr>
              <a:t>합산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.  </a:t>
            </a:r>
            <a:r>
              <a:rPr sz="2000" b="0" i="0" dirty="0" err="1">
                <a:solidFill>
                  <a:srgbClr val="222222"/>
                </a:solidFill>
                <a:ea typeface="NanumGothic"/>
              </a:rPr>
              <a:t>비용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 ≈ </a:t>
            </a:r>
            <a:r>
              <a:rPr sz="2000" b="0" i="0" dirty="0" err="1">
                <a:solidFill>
                  <a:srgbClr val="222222"/>
                </a:solidFill>
                <a:ea typeface="NanumGothic"/>
              </a:rPr>
              <a:t>학습</a:t>
            </a:r>
            <a:r>
              <a:rPr sz="2000" b="0" i="0" dirty="0">
                <a:solidFill>
                  <a:srgbClr val="222222"/>
                </a:solidFill>
                <a:ea typeface="NanumGothic"/>
              </a:rPr>
              <a:t> 1회.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4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27B7AD-BC6B-0C2B-F9D0-E629BAF1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678" y="2960158"/>
            <a:ext cx="4914644" cy="6425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Taylor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93481"/>
            <a:ext cx="11338560" cy="32932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 dirty="0" err="1">
                <a:solidFill>
                  <a:srgbClr val="3C4654"/>
                </a:solidFill>
                <a:ea typeface="NanumGothic"/>
              </a:rPr>
              <a:t>스텝</a:t>
            </a:r>
            <a:r>
              <a:rPr sz="2000" b="0" i="0" dirty="0">
                <a:solidFill>
                  <a:srgbClr val="3C4654"/>
                </a:solidFill>
                <a:ea typeface="NanumGothic"/>
              </a:rPr>
              <a:t> </a:t>
            </a:r>
            <a:r>
              <a:rPr sz="2000" b="0" i="0" dirty="0" err="1">
                <a:solidFill>
                  <a:srgbClr val="3C4654"/>
                </a:solidFill>
                <a:ea typeface="NanumGothic"/>
              </a:rPr>
              <a:t>효용</a:t>
            </a:r>
            <a:r>
              <a:rPr sz="2000" b="0" i="0" dirty="0">
                <a:solidFill>
                  <a:srgbClr val="3C4654"/>
                </a:solidFill>
                <a:ea typeface="NanumGothic"/>
              </a:rPr>
              <a:t> </a:t>
            </a:r>
            <a:r>
              <a:rPr sz="2000" b="0" i="0" dirty="0" err="1">
                <a:solidFill>
                  <a:srgbClr val="3C4654"/>
                </a:solidFill>
                <a:ea typeface="NanumGothic"/>
              </a:rPr>
              <a:t>변화</a:t>
            </a:r>
            <a:r>
              <a:rPr sz="2000" b="0" i="0" dirty="0">
                <a:solidFill>
                  <a:srgbClr val="3C4654"/>
                </a:solidFill>
                <a:ea typeface="NanumGothic"/>
              </a:rPr>
              <a:t> U(θₜ₊₁)−U(θₜ) 를 </a:t>
            </a:r>
            <a:r>
              <a:rPr sz="2000" b="0" i="0" dirty="0" err="1">
                <a:solidFill>
                  <a:srgbClr val="3C4654"/>
                </a:solidFill>
                <a:ea typeface="NanumGothic"/>
              </a:rPr>
              <a:t>데이터에</a:t>
            </a:r>
            <a:r>
              <a:rPr sz="2000" b="0" i="0" dirty="0">
                <a:solidFill>
                  <a:srgbClr val="3C4654"/>
                </a:solidFill>
                <a:ea typeface="NanumGothic"/>
              </a:rPr>
              <a:t> </a:t>
            </a:r>
            <a:r>
              <a:rPr sz="2000" b="0" i="0" dirty="0" err="1">
                <a:solidFill>
                  <a:srgbClr val="3C4654"/>
                </a:solidFill>
                <a:ea typeface="NanumGothic"/>
              </a:rPr>
              <a:t>대해</a:t>
            </a:r>
            <a:r>
              <a:rPr sz="2000" b="0" i="0" dirty="0">
                <a:solidFill>
                  <a:srgbClr val="3C4654"/>
                </a:solidFill>
                <a:ea typeface="NanumGothic"/>
              </a:rPr>
              <a:t> Taylor </a:t>
            </a:r>
            <a:r>
              <a:rPr sz="2000" b="0" i="0" dirty="0" err="1">
                <a:solidFill>
                  <a:srgbClr val="3C4654"/>
                </a:solidFill>
                <a:ea typeface="NanumGothic"/>
              </a:rPr>
              <a:t>전개</a:t>
            </a:r>
            <a:r>
              <a:rPr sz="2000" b="0" i="0" dirty="0">
                <a:solidFill>
                  <a:srgbClr val="3C4654"/>
                </a:solidFill>
                <a:ea typeface="NanumGothic"/>
              </a:rPr>
              <a:t> → </a:t>
            </a:r>
            <a:r>
              <a:rPr sz="2000" b="0" i="0" dirty="0" err="1">
                <a:solidFill>
                  <a:srgbClr val="3C4654"/>
                </a:solidFill>
                <a:ea typeface="NanumGothic"/>
              </a:rPr>
              <a:t>스텝별</a:t>
            </a:r>
            <a:r>
              <a:rPr sz="2000" b="0" i="0" dirty="0">
                <a:solidFill>
                  <a:srgbClr val="3C4654"/>
                </a:solidFill>
                <a:ea typeface="NanumGothic"/>
              </a:rPr>
              <a:t> </a:t>
            </a:r>
            <a:r>
              <a:rPr sz="2000" b="0" i="0" dirty="0" err="1">
                <a:solidFill>
                  <a:srgbClr val="3C4654"/>
                </a:solidFill>
                <a:ea typeface="NanumGothic"/>
              </a:rPr>
              <a:t>닫힌형</a:t>
            </a:r>
            <a:r>
              <a:rPr sz="2000" b="0" i="0" dirty="0">
                <a:solidFill>
                  <a:srgbClr val="3C4654"/>
                </a:solidFill>
                <a:ea typeface="NanumGothic"/>
              </a:rPr>
              <a:t> Shapley.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5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499CA5D-C53B-789A-CBF1-F8672BA94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" y="2332650"/>
            <a:ext cx="11029950" cy="169641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0AAA4AD-5D8A-C9B0-558B-C007FBAB6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122" y="2377793"/>
            <a:ext cx="2697569" cy="410596"/>
          </a:xfrm>
          <a:prstGeom prst="rect">
            <a:avLst/>
          </a:prstGeom>
        </p:spPr>
      </p:pic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37B7FB4E-10A6-3DDF-665D-09C4B223CC22}"/>
              </a:ext>
            </a:extLst>
          </p:cNvPr>
          <p:cNvCxnSpPr>
            <a:cxnSpLocks/>
          </p:cNvCxnSpPr>
          <p:nvPr/>
        </p:nvCxnSpPr>
        <p:spPr>
          <a:xfrm flipV="1">
            <a:off x="8414832" y="2609992"/>
            <a:ext cx="226159" cy="178397"/>
          </a:xfrm>
          <a:prstGeom prst="bentConnector3">
            <a:avLst>
              <a:gd name="adj1" fmla="val 334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12044" y="4931971"/>
            <a:ext cx="484632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222"/>
                </a:solidFill>
                <a:ea typeface="NanumGothic"/>
              </a:rPr>
              <a:t>검증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gradient와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데이터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gradient의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내적</a:t>
            </a:r>
            <a:endParaRPr b="0" i="0" dirty="0">
              <a:solidFill>
                <a:srgbClr val="222222"/>
              </a:solidFill>
              <a:ea typeface="Nanum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89547" y="4931971"/>
            <a:ext cx="4904349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 err="1">
                <a:solidFill>
                  <a:srgbClr val="222222"/>
                </a:solidFill>
                <a:ea typeface="NanumGothic"/>
              </a:rPr>
              <a:t>곡률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(Hessian)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반영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→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데이터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상호작용·중복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포착</a:t>
            </a:r>
            <a:endParaRPr b="0" i="0" dirty="0">
              <a:solidFill>
                <a:srgbClr val="222222"/>
              </a:solidFill>
              <a:ea typeface="Nanum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74752" y="4294983"/>
            <a:ext cx="920481" cy="3949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33475B"/>
                </a:solidFill>
                <a:ea typeface="NanumGothic"/>
              </a:rPr>
              <a:t>1차항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8364" y="4283152"/>
            <a:ext cx="1012874" cy="3949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33475B"/>
                </a:solidFill>
                <a:ea typeface="NanumGothic"/>
              </a:rPr>
              <a:t>2차항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1F2A37"/>
                </a:solidFill>
                <a:latin typeface="+mj-lt"/>
                <a:ea typeface="NanumGothic"/>
              </a:rPr>
              <a:t>Flirds</a:t>
            </a: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: FL Adaptation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160" y="1697299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792480" y="1902591"/>
            <a:ext cx="1828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33475B"/>
                </a:solidFill>
                <a:ea typeface="NanumGothic"/>
              </a:rPr>
              <a:t>(a) 단위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1902591"/>
            <a:ext cx="877824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222"/>
                </a:solidFill>
                <a:ea typeface="NanumGothic"/>
              </a:rPr>
              <a:t>데이터포인트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→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클라이언트</a:t>
            </a:r>
            <a:endParaRPr b="0" i="0" dirty="0">
              <a:solidFill>
                <a:srgbClr val="222222"/>
              </a:solidFill>
              <a:ea typeface="Nanum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8160" y="2618379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92480" y="2823671"/>
            <a:ext cx="1828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33475B"/>
                </a:solidFill>
                <a:ea typeface="NanumGothic"/>
              </a:rPr>
              <a:t>(b) 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2823671"/>
            <a:ext cx="877824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 err="1">
                <a:solidFill>
                  <a:srgbClr val="222222"/>
                </a:solidFill>
                <a:ea typeface="NanumGothic"/>
              </a:rPr>
              <a:t>스텝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→ 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라운드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 (</a:t>
            </a:r>
            <a:r>
              <a:rPr b="0" i="0" dirty="0" err="1">
                <a:solidFill>
                  <a:srgbClr val="222222"/>
                </a:solidFill>
                <a:ea typeface="NanumGothic"/>
              </a:rPr>
              <a:t>라운드당</a:t>
            </a:r>
            <a:r>
              <a:rPr b="0" i="0" dirty="0">
                <a:solidFill>
                  <a:srgbClr val="222222"/>
                </a:solidFill>
                <a:ea typeface="NanumGothic"/>
              </a:rPr>
              <a:t> HVP 1회)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60" y="3575719"/>
            <a:ext cx="11155680" cy="2083074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 w="9525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3" name="Picture 12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60" y="3821025"/>
            <a:ext cx="10097679" cy="713232"/>
          </a:xfrm>
          <a:prstGeom prst="rect">
            <a:avLst/>
          </a:prstGeom>
        </p:spPr>
      </p:pic>
      <p:pic>
        <p:nvPicPr>
          <p:cNvPr id="14" name="Picture 13" descr="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902" y="4858692"/>
            <a:ext cx="1336676" cy="5669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7027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F2A37"/>
                </a:solidFill>
                <a:latin typeface="+mj-lt"/>
                <a:ea typeface="NanumGothic"/>
              </a:rPr>
              <a:t>Approximation Error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74288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D3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777240" y="2002888"/>
            <a:ext cx="4937760" cy="150137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dirty="0">
                <a:solidFill>
                  <a:srgbClr val="33475B"/>
                </a:solidFill>
                <a:latin typeface="NanumGothic"/>
                <a:ea typeface="NanumGothic"/>
              </a:rPr>
              <a:t>IRDS — </a:t>
            </a:r>
            <a:r>
              <a:rPr sz="2000" b="1" i="0" dirty="0" err="1">
                <a:solidFill>
                  <a:srgbClr val="33475B"/>
                </a:solidFill>
                <a:latin typeface="NanumGothic"/>
                <a:ea typeface="NanumGothic"/>
              </a:rPr>
              <a:t>중앙집중</a:t>
            </a:r>
            <a:r>
              <a:rPr sz="2000" b="1" i="0" dirty="0">
                <a:solidFill>
                  <a:srgbClr val="33475B"/>
                </a:solidFill>
                <a:latin typeface="NanumGothic"/>
                <a:ea typeface="NanumGothic"/>
              </a:rPr>
              <a:t> per-step</a:t>
            </a:r>
          </a:p>
          <a:p>
            <a:pPr algn="l">
              <a:lnSpc>
                <a:spcPct val="135000"/>
              </a:lnSpc>
            </a:pP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• ‖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Δθ</a:t>
            </a: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‖ 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작음</a:t>
            </a: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 (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작은</a:t>
            </a: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 한 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스텝</a:t>
            </a: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• 1차 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잔차</a:t>
            </a: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 O(‖Δθ‖²) → 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이미</a:t>
            </a: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작음</a:t>
            </a:r>
            <a:endParaRPr b="0" i="0" dirty="0">
              <a:solidFill>
                <a:srgbClr val="222222"/>
              </a:solidFill>
              <a:latin typeface="NanumGothic"/>
              <a:ea typeface="NanumGothic"/>
            </a:endParaRPr>
          </a:p>
          <a:p>
            <a:pPr algn="l">
              <a:lnSpc>
                <a:spcPct val="135000"/>
              </a:lnSpc>
            </a:pP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• 2차 항 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역할</a:t>
            </a:r>
            <a:r>
              <a:rPr b="0" i="0" dirty="0">
                <a:solidFill>
                  <a:srgbClr val="222222"/>
                </a:solidFill>
                <a:latin typeface="NanumGothic"/>
                <a:ea typeface="NanumGothic"/>
              </a:rPr>
              <a:t> </a:t>
            </a:r>
            <a:r>
              <a:rPr b="0" i="0" dirty="0" err="1">
                <a:solidFill>
                  <a:srgbClr val="222222"/>
                </a:solidFill>
                <a:latin typeface="NanumGothic"/>
                <a:ea typeface="NanumGothic"/>
              </a:rPr>
              <a:t>미미</a:t>
            </a:r>
            <a:endParaRPr b="0" i="0" dirty="0">
              <a:solidFill>
                <a:srgbClr val="222222"/>
              </a:solidFill>
              <a:latin typeface="NanumGothic"/>
              <a:ea typeface="Nanum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63640" y="1774288"/>
            <a:ext cx="5394960" cy="2468880"/>
          </a:xfrm>
          <a:prstGeom prst="roundRect">
            <a:avLst>
              <a:gd name="adj" fmla="val 6000"/>
            </a:avLst>
          </a:prstGeom>
          <a:solidFill>
            <a:srgbClr val="F7ECE8"/>
          </a:solidFill>
          <a:ln w="9525">
            <a:solidFill>
              <a:srgbClr val="E3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537960" y="2002888"/>
                <a:ext cx="4846320" cy="1520160"/>
              </a:xfrm>
              <a:prstGeom prst="rect">
                <a:avLst/>
              </a:prstGeom>
              <a:noFill/>
            </p:spPr>
            <p:txBody>
              <a:bodyPr wrap="square" lIns="25400" tIns="12700" rIns="25400" bIns="12700" anchor="t">
                <a:sp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2000" b="1" i="0" dirty="0">
                    <a:solidFill>
                      <a:srgbClr val="B85042"/>
                    </a:solidFill>
                    <a:latin typeface="NanumGothic"/>
                    <a:ea typeface="NanumGothic"/>
                  </a:rPr>
                  <a:t>FL — </a:t>
                </a:r>
                <a:r>
                  <a:rPr sz="2000" b="1" i="0" dirty="0" err="1">
                    <a:solidFill>
                      <a:srgbClr val="B85042"/>
                    </a:solidFill>
                    <a:latin typeface="NanumGothic"/>
                    <a:ea typeface="NanumGothic"/>
                  </a:rPr>
                  <a:t>라운드당</a:t>
                </a:r>
                <a:r>
                  <a:rPr sz="2000" b="1" i="0" dirty="0">
                    <a:solidFill>
                      <a:srgbClr val="B85042"/>
                    </a:solidFill>
                    <a:latin typeface="NanumGothic"/>
                    <a:ea typeface="NanumGothic"/>
                  </a:rPr>
                  <a:t> multi-step</a:t>
                </a:r>
              </a:p>
              <a:p>
                <a:pPr algn="l">
                  <a:lnSpc>
                    <a:spcPct val="135000"/>
                  </a:lnSpc>
                </a:pPr>
                <a:r>
                  <a:rPr b="0" i="0" dirty="0">
                    <a:solidFill>
                      <a:srgbClr val="222222"/>
                    </a:solidFill>
                    <a:latin typeface="NanumGothic"/>
                    <a:ea typeface="NanumGothic"/>
                  </a:rPr>
                  <a:t>• 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0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  <a:ea typeface="NanumGothic"/>
                      </a:rPr>
                      <m:t>Δ</m:t>
                    </m:r>
                    <m:sSub>
                      <m:sSubPr>
                        <m:ctrlPr>
                          <a:rPr lang="el-GR" b="0" i="1" dirty="0" err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NanumGothic"/>
                          </a:rPr>
                        </m:ctrlPr>
                      </m:sSubPr>
                      <m:e>
                        <m:r>
                          <a:rPr lang="el-GR" b="0" i="1" dirty="0" err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NanumGothic"/>
                          </a:rPr>
                          <m:t>𝑤</m:t>
                        </m:r>
                      </m:e>
                      <m:sub>
                        <m:r>
                          <a:rPr lang="el-GR" b="0" i="1" dirty="0" err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NanumGothic"/>
                          </a:rPr>
                          <m:t>𝑟𝑜𝑢𝑛𝑑</m:t>
                        </m:r>
                      </m:sub>
                    </m:sSub>
                  </m:oMath>
                </a14:m>
                <a:r>
                  <a:rPr b="0" i="0" dirty="0">
                    <a:solidFill>
                      <a:srgbClr val="222222"/>
                    </a:solidFill>
                    <a:latin typeface="NanumGothic"/>
                    <a:ea typeface="NanumGothic"/>
                  </a:rPr>
                  <a:t>‖ ≫ per-step</a:t>
                </a:r>
              </a:p>
              <a:p>
                <a:pPr algn="l">
                  <a:lnSpc>
                    <a:spcPct val="135000"/>
                  </a:lnSpc>
                </a:pPr>
                <a:r>
                  <a:rPr b="0" i="0" dirty="0">
                    <a:solidFill>
                      <a:srgbClr val="222222"/>
                    </a:solidFill>
                    <a:latin typeface="NanumGothic"/>
                    <a:ea typeface="NanumGothic"/>
                  </a:rPr>
                  <a:t>• 1차 </a:t>
                </a:r>
                <a:r>
                  <a:rPr b="0" i="0" dirty="0" err="1">
                    <a:solidFill>
                      <a:srgbClr val="222222"/>
                    </a:solidFill>
                    <a:latin typeface="NanumGothic"/>
                    <a:ea typeface="NanumGothic"/>
                  </a:rPr>
                  <a:t>잔차</a:t>
                </a:r>
                <a:r>
                  <a:rPr b="0" i="0" dirty="0">
                    <a:solidFill>
                      <a:srgbClr val="222222"/>
                    </a:solidFill>
                    <a:latin typeface="NanumGothic"/>
                    <a:ea typeface="NanumGothic"/>
                  </a:rPr>
                  <a:t> </a:t>
                </a:r>
                <a14:m>
                  <m:oMath xmlns:m="http://schemas.openxmlformats.org/officeDocument/2006/math">
                    <m:r>
                      <a:rPr lang="el-GR" b="0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  <a:ea typeface="NanumGothic"/>
                      </a:rPr>
                      <m:t>𝑂</m:t>
                    </m:r>
                    <m:d>
                      <m:dPr>
                        <m:ctrlPr>
                          <a:rPr lang="el-GR" b="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NanumGothic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b="0" i="1" dirty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  <a:ea typeface="NanumGothic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l-GR" b="0" i="1" dirty="0" smtClean="0">
                                    <a:solidFill>
                                      <a:srgbClr val="222222"/>
                                    </a:solidFill>
                                    <a:latin typeface="Cambria Math" panose="02040503050406030204" pitchFamily="18" charset="0"/>
                                    <a:ea typeface="NanumGothic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b="0" i="0" dirty="0" err="1">
                                    <a:solidFill>
                                      <a:srgbClr val="222222"/>
                                    </a:solidFill>
                                    <a:latin typeface="Cambria Math" panose="02040503050406030204" pitchFamily="18" charset="0"/>
                                    <a:ea typeface="NanumGothic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l-GR" b="0" i="1" dirty="0" smtClean="0">
                                        <a:solidFill>
                                          <a:srgbClr val="222222"/>
                                        </a:solidFill>
                                        <a:latin typeface="Cambria Math" panose="02040503050406030204" pitchFamily="18" charset="0"/>
                                        <a:ea typeface="NanumGothic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b="0" i="1" dirty="0" err="1">
                                        <a:solidFill>
                                          <a:srgbClr val="222222"/>
                                        </a:solidFill>
                                        <a:latin typeface="Cambria Math" panose="02040503050406030204" pitchFamily="18" charset="0"/>
                                        <a:ea typeface="NanumGothic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l-GR" b="0" i="1" dirty="0" smtClean="0">
                                        <a:solidFill>
                                          <a:srgbClr val="222222"/>
                                        </a:solidFill>
                                        <a:latin typeface="Cambria Math" panose="02040503050406030204" pitchFamily="18" charset="0"/>
                                        <a:ea typeface="NanumGothic"/>
                                      </a:rPr>
                                      <m:t>𝑟𝑜𝑢𝑛𝑑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l-GR" b="0" i="1" dirty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  <a:ea typeface="NanumGothic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b="0" i="0" dirty="0">
                    <a:solidFill>
                      <a:srgbClr val="222222"/>
                    </a:solidFill>
                    <a:latin typeface="NanumGothic"/>
                    <a:ea typeface="NanumGothic"/>
                  </a:rPr>
                  <a:t> </a:t>
                </a:r>
                <a:r>
                  <a:rPr b="0" i="0" dirty="0" err="1">
                    <a:solidFill>
                      <a:srgbClr val="222222"/>
                    </a:solidFill>
                    <a:latin typeface="NanumGothic"/>
                    <a:ea typeface="NanumGothic"/>
                  </a:rPr>
                  <a:t>커짐</a:t>
                </a:r>
                <a:endParaRPr b="0" i="0" dirty="0">
                  <a:solidFill>
                    <a:srgbClr val="222222"/>
                  </a:solidFill>
                  <a:latin typeface="NanumGothic"/>
                  <a:ea typeface="NanumGothic"/>
                </a:endParaRPr>
              </a:p>
              <a:p>
                <a:pPr algn="l">
                  <a:lnSpc>
                    <a:spcPct val="135000"/>
                  </a:lnSpc>
                </a:pPr>
                <a:r>
                  <a:rPr b="1" i="0" dirty="0">
                    <a:solidFill>
                      <a:srgbClr val="1F2A37"/>
                    </a:solidFill>
                    <a:latin typeface="NanumGothic"/>
                    <a:ea typeface="NanumGothic"/>
                  </a:rPr>
                  <a:t>• 2차(Hessian) </a:t>
                </a:r>
                <a:r>
                  <a:rPr b="1" i="0" dirty="0" err="1">
                    <a:solidFill>
                      <a:srgbClr val="1F2A37"/>
                    </a:solidFill>
                    <a:latin typeface="NanumGothic"/>
                    <a:ea typeface="NanumGothic"/>
                  </a:rPr>
                  <a:t>항으로</a:t>
                </a:r>
                <a:r>
                  <a:rPr b="1" i="0" dirty="0">
                    <a:solidFill>
                      <a:srgbClr val="1F2A37"/>
                    </a:solidFill>
                    <a:latin typeface="NanumGothic"/>
                    <a:ea typeface="NanumGothic"/>
                  </a:rPr>
                  <a:t> </a:t>
                </a:r>
                <a:r>
                  <a:rPr b="1" i="0" dirty="0" err="1">
                    <a:solidFill>
                      <a:srgbClr val="1F2A37"/>
                    </a:solidFill>
                    <a:latin typeface="NanumGothic"/>
                    <a:ea typeface="NanumGothic"/>
                  </a:rPr>
                  <a:t>잔차</a:t>
                </a:r>
                <a:r>
                  <a:rPr b="1" i="0" dirty="0">
                    <a:solidFill>
                      <a:srgbClr val="1F2A37"/>
                    </a:solidFill>
                    <a:latin typeface="NanumGothic"/>
                    <a:ea typeface="NanumGothic"/>
                  </a:rPr>
                  <a:t> ↓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2002888"/>
                <a:ext cx="4846320" cy="1520160"/>
              </a:xfrm>
              <a:prstGeom prst="rect">
                <a:avLst/>
              </a:prstGeom>
              <a:blipFill>
                <a:blip r:embed="rId2"/>
                <a:stretch>
                  <a:fillRect l="-2767" t="-402" b="-80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720" y="4709512"/>
            <a:ext cx="5510254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Fidelity (LLM)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78992"/>
            <a:ext cx="11338560" cy="5955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dirty="0">
                <a:solidFill>
                  <a:srgbClr val="3C4654"/>
                </a:solidFill>
                <a:ea typeface="NanumGothic"/>
              </a:rPr>
              <a:t>Exact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 in-run </a:t>
            </a:r>
            <a:r>
              <a:rPr lang="en-US" b="0" i="0" dirty="0" err="1">
                <a:solidFill>
                  <a:srgbClr val="3C4654"/>
                </a:solidFill>
                <a:ea typeface="NanumGothic"/>
              </a:rPr>
              <a:t>shapley</a:t>
            </a:r>
            <a:r>
              <a:rPr lang="en-US" b="0" i="0" dirty="0">
                <a:solidFill>
                  <a:srgbClr val="3C4654"/>
                </a:solidFill>
                <a:ea typeface="NanumGothic"/>
              </a:rPr>
              <a:t> value </a:t>
            </a:r>
            <a:r>
              <a:rPr b="0" i="0" dirty="0" err="1">
                <a:solidFill>
                  <a:srgbClr val="3C4654"/>
                </a:solidFill>
                <a:ea typeface="NanumGothic"/>
              </a:rPr>
              <a:t>대비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 Spearman (↑).</a:t>
            </a:r>
            <a:endParaRPr lang="en-US" b="0" i="0" dirty="0">
              <a:solidFill>
                <a:srgbClr val="3C4654"/>
              </a:solidFill>
              <a:ea typeface="NanumGothic"/>
            </a:endParaRPr>
          </a:p>
          <a:p>
            <a:pPr algn="l">
              <a:lnSpc>
                <a:spcPct val="105000"/>
              </a:lnSpc>
            </a:pPr>
            <a:r>
              <a:rPr b="0" i="0" dirty="0" err="1">
                <a:solidFill>
                  <a:srgbClr val="3C4654"/>
                </a:solidFill>
                <a:ea typeface="NanumGothic"/>
              </a:rPr>
              <a:t>LoRA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 · 3-seed.  std=N20·2/round, anchor=N5·full.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554862"/>
              </p:ext>
            </p:extLst>
          </p:nvPr>
        </p:nvGraphicFramePr>
        <p:xfrm>
          <a:off x="411480" y="1965960"/>
          <a:ext cx="11384278" cy="3581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6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6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67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67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7748">
                <a:tc>
                  <a:txBody>
                    <a:bodyPr/>
                    <a:lstStyle/>
                    <a:p>
                      <a:pPr algn="l"/>
                      <a:r>
                        <a:rPr sz="1800" b="1" i="0" dirty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1B std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3B std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7B std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1B anchor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3B anchor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7B anchor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algn="l"/>
                      <a:r>
                        <a:rPr sz="1800" b="0" i="0" dirty="0" err="1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Flirds</a:t>
                      </a:r>
                      <a:endParaRPr sz="1800" b="0" i="0" dirty="0">
                        <a:solidFill>
                          <a:srgbClr val="222222"/>
                        </a:solidFill>
                        <a:latin typeface="+mn-lt"/>
                        <a:ea typeface="NanumGothic"/>
                      </a:endParaRP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0.999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0.967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0.999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0.998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0.999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0.999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0.975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0.988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0.977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0.952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0.968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0.700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0.700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0.933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0.194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0.227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0.406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0.700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0.100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0.833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0.157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0.211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0.480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0.067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0.067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0.200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Fidelity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78992"/>
            <a:ext cx="11338560" cy="58977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ko-KR" dirty="0">
                <a:solidFill>
                  <a:srgbClr val="3C4654"/>
                </a:solidFill>
                <a:ea typeface="NanumGothic"/>
              </a:rPr>
              <a:t>Exact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 in-run </a:t>
            </a:r>
            <a:r>
              <a:rPr lang="en-US" altLang="ko-KR" dirty="0" err="1">
                <a:solidFill>
                  <a:srgbClr val="3C4654"/>
                </a:solidFill>
                <a:ea typeface="NanumGothic"/>
              </a:rPr>
              <a:t>shapley</a:t>
            </a:r>
            <a:r>
              <a:rPr lang="en-US" altLang="ko-KR" dirty="0">
                <a:solidFill>
                  <a:srgbClr val="3C4654"/>
                </a:solidFill>
                <a:ea typeface="NanumGothic"/>
              </a:rPr>
              <a:t> value </a:t>
            </a:r>
            <a:r>
              <a:rPr b="0" i="0" dirty="0" err="1">
                <a:solidFill>
                  <a:srgbClr val="3C4654"/>
                </a:solidFill>
                <a:ea typeface="NanumGothic"/>
              </a:rPr>
              <a:t>대비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 </a:t>
            </a:r>
            <a:r>
              <a:rPr lang="en-US" b="0" i="0" dirty="0">
                <a:solidFill>
                  <a:srgbClr val="3C4654"/>
                </a:solidFill>
                <a:ea typeface="NanumGothic"/>
              </a:rPr>
              <a:t>Spearman, Pearson </a:t>
            </a:r>
            <a:r>
              <a:rPr lang="en-US" altLang="ko-KR" dirty="0">
                <a:solidFill>
                  <a:srgbClr val="3C4654"/>
                </a:solidFill>
                <a:ea typeface="NanumGothic"/>
              </a:rPr>
              <a:t>(↑)</a:t>
            </a:r>
            <a:endParaRPr lang="en-US" b="0" i="0" dirty="0">
              <a:solidFill>
                <a:srgbClr val="3C4654"/>
              </a:solidFill>
              <a:ea typeface="NanumGothic"/>
            </a:endParaRPr>
          </a:p>
          <a:p>
            <a:pPr>
              <a:lnSpc>
                <a:spcPct val="105000"/>
              </a:lnSpc>
            </a:pPr>
            <a:r>
              <a:rPr lang="en-US" b="0" i="0" dirty="0">
                <a:solidFill>
                  <a:srgbClr val="3C4654"/>
                </a:solidFill>
                <a:ea typeface="NanumGothic"/>
              </a:rPr>
              <a:t>C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ross-silo N=10 × 3</a:t>
            </a:r>
            <a:r>
              <a:rPr lang="ko-KR" altLang="en-US" b="0" i="0" dirty="0">
                <a:solidFill>
                  <a:srgbClr val="3C4654"/>
                </a:solidFill>
                <a:ea typeface="NanumGothic"/>
              </a:rPr>
              <a:t> 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seed.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130568"/>
              </p:ext>
            </p:extLst>
          </p:nvPr>
        </p:nvGraphicFramePr>
        <p:xfrm>
          <a:off x="411480" y="1930790"/>
          <a:ext cx="9312812" cy="4302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9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1" i="0" dirty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vs (b) Spearman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vs (b) Pearson ↑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 dirty="0" err="1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Flirds</a:t>
                      </a:r>
                      <a:endParaRPr sz="1800" b="0" i="0" dirty="0">
                        <a:solidFill>
                          <a:srgbClr val="222222"/>
                        </a:solidFill>
                        <a:latin typeface="+mn-lt"/>
                        <a:ea typeface="NanumGothic"/>
                      </a:endParaRP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sng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0.919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sng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0.934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0.832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0.853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0.860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0.885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Banzhaf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0.989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0.998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GTG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0.569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0.612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FedSV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0.401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0.410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ComFedSV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0.348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0.328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ShapleyFL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0.391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0.392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FedIF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0.491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0.506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Ripple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0.373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0.404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519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2nd-order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13778"/>
            <a:ext cx="11155680" cy="33342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33475B"/>
                </a:solidFill>
                <a:ea typeface="NanumGothic"/>
              </a:rPr>
              <a:t>CNN fidelity — </a:t>
            </a:r>
            <a:r>
              <a:rPr sz="2000" b="1" i="0" dirty="0" err="1">
                <a:solidFill>
                  <a:srgbClr val="33475B"/>
                </a:solidFill>
                <a:ea typeface="NanumGothic"/>
              </a:rPr>
              <a:t>Flirds</a:t>
            </a:r>
            <a:r>
              <a:rPr sz="2000" b="1" i="0" dirty="0">
                <a:solidFill>
                  <a:srgbClr val="33475B"/>
                </a:solidFill>
                <a:ea typeface="NanumGothic"/>
              </a:rPr>
              <a:t>(1차+2차) vs Flirds-1st, vs </a:t>
            </a:r>
            <a:r>
              <a:rPr lang="en-US" sz="2000" b="1" i="0" dirty="0">
                <a:solidFill>
                  <a:srgbClr val="33475B"/>
                </a:solidFill>
                <a:ea typeface="NanumGothic"/>
              </a:rPr>
              <a:t>exact in-run data </a:t>
            </a:r>
            <a:r>
              <a:rPr lang="en-US" sz="2000" b="1" i="0" dirty="0" err="1">
                <a:solidFill>
                  <a:srgbClr val="33475B"/>
                </a:solidFill>
                <a:ea typeface="NanumGothic"/>
              </a:rPr>
              <a:t>shapley</a:t>
            </a:r>
            <a:r>
              <a:rPr lang="en-US" sz="2000" b="1" i="0" dirty="0">
                <a:solidFill>
                  <a:srgbClr val="33475B"/>
                </a:solidFill>
                <a:ea typeface="NanumGothic"/>
              </a:rPr>
              <a:t> </a:t>
            </a:r>
            <a:r>
              <a:rPr sz="2000" b="1" i="0" dirty="0">
                <a:solidFill>
                  <a:srgbClr val="33475B"/>
                </a:solidFill>
                <a:ea typeface="NanumGothic"/>
              </a:rPr>
              <a:t>Spearman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636516"/>
              </p:ext>
            </p:extLst>
          </p:nvPr>
        </p:nvGraphicFramePr>
        <p:xfrm>
          <a:off x="411480" y="1758317"/>
          <a:ext cx="11384278" cy="23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98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000">
                <a:tc>
                  <a:txBody>
                    <a:bodyPr/>
                    <a:lstStyle/>
                    <a:p>
                      <a:pPr algn="l"/>
                      <a:r>
                        <a:rPr sz="1800" b="1" i="0" dirty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CNN </a:t>
                      </a:r>
                      <a:r>
                        <a:rPr sz="1800" b="1" i="0" dirty="0" err="1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시나리오</a:t>
                      </a:r>
                      <a:endParaRPr sz="1800" b="1" i="0" dirty="0">
                        <a:solidFill>
                          <a:srgbClr val="FFFFFF"/>
                        </a:solidFill>
                        <a:latin typeface="+mn-lt"/>
                        <a:ea typeface="NanumGothic"/>
                      </a:endParaRP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Flirds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차이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000"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cifar10 / </a:t>
                      </a:r>
                      <a:r>
                        <a:rPr sz="1800" b="0" i="0" dirty="0" err="1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iid</a:t>
                      </a:r>
                      <a:endParaRPr sz="1800" b="0" i="0" dirty="0">
                        <a:solidFill>
                          <a:srgbClr val="222222"/>
                        </a:solidFill>
                        <a:latin typeface="+mn-lt"/>
                        <a:ea typeface="NanumGothic"/>
                      </a:endParaRP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0.95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0.54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+0.41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cifar10 / feature_noise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0.89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+0.11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0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mnist / label_skew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0.71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0.61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+0.10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00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pool 평균 (10×3 seed)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0.919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0.832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+0.087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Cost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78992"/>
            <a:ext cx="11338560" cy="298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 err="1">
                <a:solidFill>
                  <a:srgbClr val="3C4654"/>
                </a:solidFill>
                <a:ea typeface="NanumGothic"/>
              </a:rPr>
              <a:t>라운드당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 HVP 1회 vs 2ᴺ </a:t>
            </a:r>
            <a:r>
              <a:rPr b="0" i="0" dirty="0" err="1">
                <a:solidFill>
                  <a:srgbClr val="3C4654"/>
                </a:solidFill>
                <a:ea typeface="NanumGothic"/>
              </a:rPr>
              <a:t>부분집합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 </a:t>
            </a:r>
            <a:r>
              <a:rPr b="0" i="0" dirty="0" err="1">
                <a:solidFill>
                  <a:srgbClr val="3C4654"/>
                </a:solidFill>
                <a:ea typeface="NanumGothic"/>
              </a:rPr>
              <a:t>평가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.  LLM 1B cross-silo N=5 </a:t>
            </a:r>
            <a:r>
              <a:rPr b="0" i="0" dirty="0" err="1">
                <a:solidFill>
                  <a:srgbClr val="3C4654"/>
                </a:solidFill>
                <a:ea typeface="NanumGothic"/>
              </a:rPr>
              <a:t>런타임</a:t>
            </a:r>
            <a:r>
              <a:rPr b="0" i="0" dirty="0">
                <a:solidFill>
                  <a:srgbClr val="3C4654"/>
                </a:solidFill>
                <a:ea typeface="NanumGothic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00086"/>
              </p:ext>
            </p:extLst>
          </p:nvPr>
        </p:nvGraphicFramePr>
        <p:xfrm>
          <a:off x="411480" y="1738501"/>
          <a:ext cx="7672014" cy="3202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02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796">
                <a:tc>
                  <a:txBody>
                    <a:bodyPr/>
                    <a:lstStyle/>
                    <a:p>
                      <a:pPr algn="l"/>
                      <a:r>
                        <a:rPr sz="1800" b="1" i="0" dirty="0" err="1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방법</a:t>
                      </a:r>
                      <a:endParaRPr sz="1800" b="1" i="0" dirty="0">
                        <a:solidFill>
                          <a:srgbClr val="FFFFFF"/>
                        </a:solidFill>
                        <a:latin typeface="+mn-lt"/>
                        <a:ea typeface="NanumGothic"/>
                      </a:endParaRP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런타임 (N=5, 1B)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~35 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pPr algn="l"/>
                      <a:r>
                        <a:rPr sz="1800" b="0" i="0" dirty="0" err="1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Flirds</a:t>
                      </a:r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 (1차+2차)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~107 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GTG / </a:t>
                      </a:r>
                      <a:r>
                        <a:rPr sz="1800" b="0" i="0" dirty="0" err="1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FedSV</a:t>
                      </a:r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 / ShapleyFL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~530 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Exact</a:t>
                      </a:r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 in-run </a:t>
                      </a:r>
                      <a:r>
                        <a:rPr lang="en-US" sz="1800" b="0" i="0" dirty="0" err="1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shapley</a:t>
                      </a:r>
                      <a:r>
                        <a:rPr lang="en-US"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 value</a:t>
                      </a:r>
                      <a:endParaRPr sz="1800" b="0" i="0" dirty="0">
                        <a:solidFill>
                          <a:srgbClr val="222222"/>
                        </a:solidFill>
                        <a:latin typeface="+mn-lt"/>
                        <a:ea typeface="NanumGothic"/>
                      </a:endParaRP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~530 s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Ripple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~4515 s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385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F2A37"/>
                </a:solidFill>
                <a:latin typeface="+mj-lt"/>
                <a:ea typeface="NanumGothic"/>
              </a:rPr>
              <a:t>Robustness &amp;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78992"/>
            <a:ext cx="11338560" cy="298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>
                <a:solidFill>
                  <a:srgbClr val="3C4654"/>
                </a:solidFill>
                <a:ea typeface="NanumGothic"/>
              </a:rPr>
              <a:t>위협별 1명 오염 · AUROC = corrupt를 high-φ로 잡는 탐지력(↑) · 1B cross-silo N=5.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20156"/>
              </p:ext>
            </p:extLst>
          </p:nvPr>
        </p:nvGraphicFramePr>
        <p:xfrm>
          <a:off x="411480" y="1811215"/>
          <a:ext cx="11384278" cy="35960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7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1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722">
                <a:tc>
                  <a:txBody>
                    <a:bodyPr/>
                    <a:lstStyle/>
                    <a:p>
                      <a:pPr algn="l"/>
                      <a:r>
                        <a:rPr sz="1800" b="1" i="0" dirty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noisy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free-rider(rand)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free-rider(zero)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  <a:ea typeface="NanumGothic"/>
                        </a:rPr>
                        <a:t>poison</a:t>
                      </a:r>
                    </a:p>
                  </a:txBody>
                  <a:tcPr marL="38100" marR="38100" marT="12700" marB="12700" anchor="ctr">
                    <a:solidFill>
                      <a:srgbClr val="334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722">
                <a:tc>
                  <a:txBody>
                    <a:bodyPr/>
                    <a:lstStyle/>
                    <a:p>
                      <a:pPr algn="l"/>
                      <a:r>
                        <a:rPr sz="1800" b="0" i="0" dirty="0" err="1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Flirds</a:t>
                      </a:r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 (1차+2차)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0.917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722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Flirds-1st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722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loss-heur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722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Exact</a:t>
                      </a:r>
                      <a:r>
                        <a:rPr lang="ko-KR" altLang="en-US"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 </a:t>
                      </a:r>
                      <a:r>
                        <a:rPr lang="en-US" altLang="ko-KR"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in-run</a:t>
                      </a:r>
                      <a:r>
                        <a:rPr lang="ko-KR" altLang="en-US"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 </a:t>
                      </a:r>
                      <a:r>
                        <a:rPr lang="en-US" altLang="ko-KR"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data</a:t>
                      </a:r>
                      <a:r>
                        <a:rPr lang="ko-KR" altLang="en-US"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 </a:t>
                      </a:r>
                      <a:r>
                        <a:rPr lang="en-US" altLang="ko-KR" sz="1800" b="0" i="0" dirty="0" err="1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shapley</a:t>
                      </a:r>
                      <a:endParaRPr sz="1800" b="0" i="0" dirty="0">
                        <a:solidFill>
                          <a:srgbClr val="222222"/>
                        </a:solidFill>
                        <a:latin typeface="+mn-lt"/>
                        <a:ea typeface="NanumGothic"/>
                      </a:endParaRP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722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FLDetector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722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STD-DAGMM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0.417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1.000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0.250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222222"/>
                          </a:solidFill>
                          <a:latin typeface="+mn-lt"/>
                          <a:ea typeface="NanumGothic"/>
                        </a:rPr>
                        <a:t>0.750</a:t>
                      </a:r>
                    </a:p>
                  </a:txBody>
                  <a:tcPr marL="38100" marR="38100" marT="0" marB="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NanumGothic"/>
                <a:ea typeface="Nanum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CADCFC"/>
                </a:solidFill>
                <a:latin typeface="NanumGothic"/>
                <a:ea typeface="NanumGothi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A7A7A"/>
                </a:solidFill>
                <a:latin typeface="NanumGothic"/>
                <a:ea typeface="NanumGothic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668</Words>
  <Application>Microsoft Office PowerPoint</Application>
  <PresentationFormat>와이드스크린</PresentationFormat>
  <Paragraphs>225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NanumGothic</vt:lpstr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최용희</cp:lastModifiedBy>
  <cp:revision>4</cp:revision>
  <dcterms:created xsi:type="dcterms:W3CDTF">2013-01-27T09:14:16Z</dcterms:created>
  <dcterms:modified xsi:type="dcterms:W3CDTF">2026-06-30T13:55:08Z</dcterms:modified>
  <cp:category/>
</cp:coreProperties>
</file>