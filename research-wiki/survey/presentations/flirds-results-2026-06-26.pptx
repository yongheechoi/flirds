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NanumGothic"/>
                <a:ea typeface="NanumGothic"/>
              </a:rPr>
              <a:t>Flirds — 연합학습 클라이언트 기여도 측정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5156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ADCFC"/>
                </a:solidFill>
                <a:latin typeface="NanumGothic"/>
                <a:ea typeface="NanumGothic"/>
              </a:rPr>
              <a:t>연합학습(FL) 한 학습 궤적에서 In-Run Data Shapley(1차+2차 Taylor, true Hessian)로 client-level 데이터 기여도를 추정한다.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12801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NanumGothic"/>
                <a:ea typeface="NanumGothic"/>
              </a:rPr>
              <a:t>스코프: 네 실험 트랙 — LLM 표준(Llama 1B/3B/7B, LoRA) · CNN · 강건성(오염·공격 주입) · 기초 검증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NanumGothic"/>
                <a:ea typeface="NanumGothic"/>
              </a:rPr>
              <a:t>핵심 질문 위계: 1차 Fidelity → 2차 ①성능 ②수렴 ③탐지 → 비용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1051560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CADCFC"/>
                </a:solidFill>
                <a:latin typeface="NanumGothic"/>
                <a:ea typeface="NanumGothic"/>
              </a:rPr>
              <a:t>2026-06-26 · 교수님 미팅 발표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ADCFC"/>
                </a:solidFill>
                <a:latin typeface="NanumGothic"/>
                <a:ea typeface="NanumGothic"/>
              </a:rPr>
              <a:t>모든 수치 출처: flirds-experiment-results-overview-2026-06-25 (git e89af94, RESULTS↔CSV 교차검증본)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A37"/>
                </a:solidFill>
                <a:latin typeface="NanumGothic"/>
                <a:ea typeface="NanumGothic"/>
              </a:rPr>
              <a:t>실험 지도 — 무엇을 돌렸나 (마스터 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2412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네 트랙에서 실제로 돌아 디스크에 남은 실험(실행 15개). 계획·미실행 6행(P1–P6)은 생략.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80160"/>
          <a:ext cx="11384279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94760"/>
                <a:gridCol w="2927386"/>
                <a:gridCol w="2602121"/>
                <a:gridCol w="975795"/>
                <a:gridCol w="1084217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# 실험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모델 · N · 참여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검증 목적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seeds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status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  LLM 표준 1B 표준스테이지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Llama-3.2-1B · N=20 · 2/20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Fidelity·성능·수렴·비용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● 실측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  LLM 표준 1B 정밀스테이지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Llama-3.2-1B · N=5 · full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Fidelity·성능·수렴·비용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● 실측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  LLM 표준 3B 표준스테이지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Llama-3.2-3B · N=20 · 2/20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Fidelity·성능·수렴·비용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● 실측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4  LLM 표준 3B 정밀스테이지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Llama-3.2-3B · N=5 · full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Fidelity·성능·수렴·비용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● 실측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5  LLM 표준 7B 표준스테이지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Llama-2-7B · N=20 · 2/20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Fidelity·성능·수렴·비용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● 실측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6  LLM 표준 7B 정밀스테이지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Llama-2-7B · N=5 · full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Fidelity·성능·수렴·비용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● 실측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7  CNN cross-silo N=10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소형 CNN · N=10 · full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Fidelity·안정성·비용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● 실측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8  CNN cross-device N=100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소형 CNN · N=100 · 10/100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성능·탐지·수렴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● 실측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9  강건성 1B cross-silo N=5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Llama-3.2-1B · N=5 · full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Fidelity·탐지·비용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● 실측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10 강건성 1B cross-device α-sweep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Llama-3.2-1B · N=100 · 10/100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탐지·Fidelity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● 실측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11 강건성 1B cross-device α=0.5 anchor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Llama-3.2-1B · N=100 · 10/100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Fidelity·탐지·비용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● 실측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12 강건성 1B cross-device poison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Llama-3.2-1B · N=100 · 10/100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탐지·Fidelity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● 실측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13 강건성 3B cross-silo N=5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Llama-3.2-3B · N=5 · full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Fidelity·탐지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◐ 부분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14 기초 1B 첫 clean run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Llama-3.2-1B · N=5 · full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탐지·성능(selection)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3×2lr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● 부록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15 기초 1B LR sweep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Llama-3.2-1B · N=5 · full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탐지·성능(selection)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1×4lr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● 부록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14476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A7A7A"/>
                </a:solidFill>
                <a:latin typeface="NanumGothic"/>
                <a:ea typeface="NanumGothic"/>
              </a:rPr>
              <a:t>마커: ● 실측 · ◐ 부분(1-seed 등) · ⬚ 미실행.  오라클: (a)=조합마다 재학습한 retrain 정확 오라클, (b)=한 궤적에서 2^N 분해한 in-run 정확 오라클.  참여 k/N=라운드당 k명, full=전원.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출처: flirds-experiment-results-overview-2026-06-25 §2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A37"/>
                </a:solidFill>
                <a:latin typeface="NanumGothic"/>
                <a:ea typeface="NanumGothic"/>
              </a:rPr>
              <a:t>Fidelity (1차) — LLM 표준, 표준 스테이지: 순위·값 상관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2412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LLM 표준 실험(LoRA; OpenFedLLM 표준 레시피) · 표준 스테이지(N=20, 라운드당 2). alpaca-gpt4 20k IID, R=200, lr=1e-3, SGD mom=0, fp32 · 3-seed mean±std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정답 = in-run 정확 오라클 (b). 값 클수록 충실(↑).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81328"/>
          <a:ext cx="11384278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6325"/>
                <a:gridCol w="1084217"/>
                <a:gridCol w="1084217"/>
                <a:gridCol w="1084217"/>
                <a:gridCol w="1084217"/>
                <a:gridCol w="1084217"/>
                <a:gridCol w="1084217"/>
                <a:gridCol w="1084217"/>
                <a:gridCol w="1084217"/>
                <a:gridCol w="1084217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method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1B Sp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1B Ke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1B Pe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3B Sp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3B Ke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3B Pe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7B Sp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7B Ke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7B Pe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0.999±.001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0.996±.005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Flirds-1st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0.999±.001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0.996±.005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0.998±.001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0.986±.010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loss-heur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0.999±.001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0.996±.005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0.999±.001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0.996±.005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GTG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0.975±.018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0.916±.043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0.995±.001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0.988±.005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0.944±.022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0.996±.000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0.977±.017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0.916±.045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0.989±.006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FedSV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0.910±.073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0.786±.117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0.959±.013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0.952±.018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0.853±.026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0.972±.004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0.968±.010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0.881±.030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0.976±.006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FedIF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0.157±.303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0.111±.199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0.229±.222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0.211±.184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0.139±.115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0.262±.137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0.480±.101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0.323±.061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0.508±.054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ShapleyFL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0.194±.351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0.133±.244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0.245±.283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0.227±.143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0.161±.092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0.246±.143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0.406±.081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0.274±.054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0.431±.026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ComFedSV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0.093±.146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0.060±.108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0.095±.193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-0.129±.066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-0.105±.034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-0.093±.038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0.039±.171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0.039±.110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0.048±.115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14476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A7A7A"/>
                </a:solidFill>
                <a:latin typeface="NanumGothic"/>
                <a:ea typeface="NanumGothic"/>
              </a:rPr>
              <a:t>Sp=Spearman, Ke=Kendall, Pe=Pearson. Flirds·Flirds-1st·loss-heur가 천장(≈1.000); FedIF/ShapleyFL/ComFedSV는 설계상 낮음(영향도·surrogate·low-rank 가정).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출처: 개요 §3.1.1 (runs/track_d/fidelity.csv)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A37"/>
                </a:solidFill>
                <a:latin typeface="NanumGothic"/>
                <a:ea typeface="NanumGothic"/>
              </a:rPr>
              <a:t>Fidelity (1차) — LLM 표준, 정밀 스테이지: 순위·값 상관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2412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LLM 표준 실험 · 정밀 스테이지(N=5, 전원 참여). R=30, 그 외 동일 · 3-seed mean±std · 정답 = in-run 정확 오라클 (b)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맨 아래 (a)oracle 행 = retrain 정확 오라클 (a)와 (b)의 일치도(1B만 실행); 비교 대상 아님.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81328"/>
          <a:ext cx="11384278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6325"/>
                <a:gridCol w="1084217"/>
                <a:gridCol w="1084217"/>
                <a:gridCol w="1084217"/>
                <a:gridCol w="1084217"/>
                <a:gridCol w="1084217"/>
                <a:gridCol w="1084217"/>
                <a:gridCol w="1084217"/>
                <a:gridCol w="1084217"/>
                <a:gridCol w="1084217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method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1B Sp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1B Ke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1B Pe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3B Sp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3B Ke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3B Pe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7B Sp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7B Ke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7B Pe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0.967±.047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0.933±.094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Flirds-1st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loss-heur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Banzhaf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0.967±.047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0.933±.094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GTG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0.999±.000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FedSV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0.700±.163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0.600±.163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0.824±.116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0.700±.000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0.600±.000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0.882±.056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0.933±.047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0.867±.094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0.961±.024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ShapleyFL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0.700±.283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0.600±.283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0.764±.258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0.100±.000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0.353±.415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0.833±.125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0.733±.189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0.903±.067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ComFedSV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0.500±.432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0.467±.340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0.563±.356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0.600±.294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0.533±.249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0.475±.272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0.600±.216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0.467±.189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0.588±.256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FedIF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0.067±.531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0.067±.411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-0.068±.626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0.067±.492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0.000±.432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0.335±.475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0.200±.616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0.200±.490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0.368±.509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(a)oracle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0.933±.047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0.867±.094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0.933±.054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⬚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⬚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⬚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⬚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⬚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⬚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14476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A7A7A"/>
                </a:solidFill>
                <a:latin typeface="NanumGothic"/>
                <a:ea typeface="NanumGothic"/>
              </a:rPr>
              <a:t>N=5 전수(2^5). 다수 방법이 1.000 동률(볼드 생략 열 있음). (a)oracle vs (b) = 0.933 → 두 정답 정의가 거의 일치(3B/7B (a)는 ⬚ 미실행).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출처: 개요 §3.1.1 (runs/track_d/fidelity.csv)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A37"/>
                </a:solidFill>
                <a:latin typeface="NanumGothic"/>
                <a:ea typeface="NanumGothic"/>
              </a:rPr>
              <a:t>Fidelity (1차) — LLM 정밀 스테이지: retrain 오라클(a) 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2412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LLM 표준 1B 정밀 스테이지(N=5) · 모든 방법을 retrain 정확 오라클 (a)와 직접 비교 · 3-seed mean±std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(a) = 조합마다 처음부터 재학습한 2^5 Shapley(문헌 공백). 맨 오른쪽 열은 참고용 vs (b).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81328"/>
          <a:ext cx="11384278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0734"/>
                <a:gridCol w="1803450"/>
                <a:gridCol w="1803450"/>
                <a:gridCol w="1803450"/>
                <a:gridCol w="2141597"/>
                <a:gridCol w="2141597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method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Sp vs (a)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Ke vs (a)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Pe vs (a)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max_diff vs (a) ↓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(참고) Sp vs (b)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0.933±.047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0.867±.094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0.933±.055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.001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Flirds-1st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0.933±.047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0.867±.094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0.929±.060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.001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loss-heur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0.933±.047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0.867±.094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0.931±.057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.001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Banzhaf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0.933±.047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0.867±.094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0.933±.054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.001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GTG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0.933±.047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0.867±.094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0.937±.052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.002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FedSV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0.733±.170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0.600±.163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0.685±.249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.003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ShapleyFL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0.767±.330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0.733±.377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0.916±.084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.983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ComFedSV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0.467±.450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0.467±.411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0.598±.280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.014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FedIF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0.167±.613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0.200±.490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0.048±.585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.984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0.067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14476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A7A7A"/>
                </a:solidFill>
                <a:latin typeface="NanumGothic"/>
                <a:ea typeface="NanumGothic"/>
              </a:rPr>
              <a:t>(b)와 거의 일치하는 방법들은 vs (a)도 0.933 동률(천장 효과 = (b)-vs-(a) 일치도 0.933이 상한).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출처: 개요 §3.1.1 (runs/track_d/rundirs/1B_anchor5_seed*/phi.parquet)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A37"/>
                </a:solidFill>
                <a:latin typeface="NanumGothic"/>
                <a:ea typeface="NanumGothic"/>
              </a:rPr>
              <a:t>Fidelity (1차) — CNN 실험: 듀얼 오라클 pool 평균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2412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CNN 실험 cross-silo N=10 전원 · mnist=LeNet5 / cifar10=FedSVCNN(전체 모델 학습) · 10 시나리오 × 3 seed pool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정답 둘 다 실측: (b) in-run 2^10 · (a) retrain 2^10. 값 클수록 충실(↑).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81328"/>
          <a:ext cx="11384278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6174"/>
                <a:gridCol w="2387026"/>
                <a:gridCol w="2387026"/>
                <a:gridCol w="2387026"/>
                <a:gridCol w="2387026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method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vs (b) Sp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vs (b) Pe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vs (a) Sp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vs (a) Pe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0.919±.134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0.934±.128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0.352±.462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0.354±.461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Flirds-1st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0.832±.194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0.853±.159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0.408±.435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0.412±.421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loss-heur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0.860±.154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0.885±.134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0.425±.429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0.423±.408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Banzhaf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0.989±.019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0.998±.004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0.355±.441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0.357±.459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GTG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0.569±.343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0.612±.317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0.374±.412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0.332±.456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FedSV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0.401±.410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0.410±.406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0.284±.479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0.215±.466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ComFedSV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0.348±.377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0.328±.396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0.338±.398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0.309±.431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ShapleyFL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0.391±.385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0.392±.425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0.453±.380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0.443±.410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FedIF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0.491±.391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0.506±.427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0.380±.393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0.368±.431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Ripple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0.373±.444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0.404±.437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0.213±.462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0.158±.470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14476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A7A7A"/>
                </a:solidFill>
                <a:latin typeface="NanumGothic"/>
                <a:ea typeface="NanumGothic"/>
              </a:rPr>
              <a:t>pool은 iid 셀 포함 → 깎임(iid 제외 시 Flirds vs (b) 0.928). LLM과 달리 CNN은 clean에서도 큰 spread. (a)와 (b)는 갈림(어떤 방법도 vs (a) 0.45 미만).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출처: 개요 §3.1.2 (runs/track_c/fidelity.csv)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A37"/>
                </a:solidFill>
                <a:latin typeface="NanumGothic"/>
                <a:ea typeface="NanumGothic"/>
              </a:rPr>
              <a:t>Fidelity (1차) — CNN 실험: 시나리오별 vs (b) Spearman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2412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CNN 실험 cross-silo N=10 · 10 시나리오(데이터셋 × skew/flip/noise) · 3-seed 평균 · 값 클수록 충실(↑)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행별 최고 Spearman을 볼드(셀 우열).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81328"/>
          <a:ext cx="11384277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94707"/>
                <a:gridCol w="928957"/>
                <a:gridCol w="928957"/>
                <a:gridCol w="928957"/>
                <a:gridCol w="928957"/>
                <a:gridCol w="928957"/>
                <a:gridCol w="928957"/>
                <a:gridCol w="928957"/>
                <a:gridCol w="928957"/>
                <a:gridCol w="928957"/>
                <a:gridCol w="928957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데이터셋 / 시나리오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Flirds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Flirds-1st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GTG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FedSV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ComFedSV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Banzhaf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ShapleyFL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FedIF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loss-heur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Ripple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cifar10 / feature_noise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0.19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-0.01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cifar10 / iid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0.12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0.18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cifar10 / label_flip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cifar10 / label_skew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cifar10 / quantity_skew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-0.20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mnist / feature_noise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0.13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mnist / iid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0.10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0.18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mnist / label_flip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mnist / label_skew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-0.01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0.14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-0.02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mnist / quantity_skew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-0.07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14476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A7A7A"/>
                </a:solidFill>
                <a:latin typeface="NanumGothic"/>
                <a:ea typeface="NanumGothic"/>
              </a:rPr>
              <a:t>Banzhaf(exact semivalue)·Flirds가 대부분 시나리오 최강. 신호 없는 iid 칸은 fidelity가 의미상 낮음.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출처: 개요 §3.1.2 (runs/track_c/c1/*/metrics.json)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A37"/>
                </a:solidFill>
                <a:latin typeface="NanumGothic"/>
                <a:ea typeface="NanumGothic"/>
              </a:rPr>
              <a:t>Fidelity (1차) — CNN 실험: 데이터셋별 평균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2412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CNN 실험 cross-silo N=10 · 시나리오 표를 데이터셋으로 묶음(각 5 시나리오 × 3 seed) · 값 클수록 충실(↑)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행별 최고를 볼드. vs (b)=in-run 오라클, vs (a)=retrain 오라클.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81328"/>
          <a:ext cx="11384277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3513"/>
                <a:gridCol w="1101704"/>
                <a:gridCol w="908906"/>
                <a:gridCol w="908906"/>
                <a:gridCol w="908906"/>
                <a:gridCol w="908906"/>
                <a:gridCol w="908906"/>
                <a:gridCol w="908906"/>
                <a:gridCol w="908906"/>
                <a:gridCol w="908906"/>
                <a:gridCol w="908906"/>
                <a:gridCol w="908906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데이터셋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기준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Flirds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Flirds-1st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GTG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FedSV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ComFedSV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Banzhaf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ShapleyFL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FedIF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loss-heur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Ripple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cifar10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vs (b) Sp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mnist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vs (b) Sp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cifar10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vs (a) Sp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-0.01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mnist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vs (a) Sp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14476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A7A7A"/>
                </a:solidFill>
                <a:latin typeface="NanumGothic"/>
                <a:ea typeface="NanumGothic"/>
              </a:rPr>
              <a:t>vs (b)는 Banzhaf/Flirds 우위. vs (a)는 전 방법이 낮고(≤0.60) 순위가 뒤바뀜 — retrain 오라클이 in-run과 다른 게임임을 시사.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출처: 개요 §3.1.2 (runs/track_c/fidelity.csv)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A37"/>
                </a:solidFill>
                <a:latin typeface="NanumGothic"/>
                <a:ea typeface="NanumGothic"/>
              </a:rPr>
              <a:t>개입 arm 정의 — 측정한 기여도로 어떻게 개입하나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2412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온라인 점수기가 라운드별 기여도를 EMA 누적(s ← β·s + (1−β)·raw) → 다음 라운드 FedAvg 가중을 바꿈.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각 baseline은 자기 논문 방식(가중식 + 점수원 + β)을 그대로 사용 → 공정 비교.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81328"/>
          <a:ext cx="1138428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5669280"/>
                <a:gridCol w="434340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arm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개입 메커니즘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관행 / 점수원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base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학습 전 베이스 모델 (개입 없음)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기준점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vanilla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표준 FedAvg (데이터 크기 n 가중)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기준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flirds_w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곱셈 가중  w ∝ n · s   (EMA β=0.5)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 기본 (Yonghee 규칙)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flirds_sel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softmax(s/T)로 k명 선택 (cohort 진부분집합=표준 스테이지만)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S-FedAvg 관행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shapleyfl_w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교체 가중  w ∝ s   (β=0.3)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ShapleyFL 관행, 점수=per-round exact Shapley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fedif_w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교체 가중  w ∝ s   (β=0.7=1−γ)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FedIF 관행, 점수=per-round 1차 influence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950208"/>
            <a:ext cx="1133856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1F2A37"/>
                </a:solidFill>
                <a:latin typeface="NanumGothic"/>
                <a:ea typeface="NanumGothic"/>
              </a:rPr>
              <a:t>가중 규칙 4종(점수원과 무관한 결합식):</a:t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222222"/>
                </a:solidFill>
                <a:latin typeface="NanumGothic"/>
                <a:ea typeface="NanumGothic"/>
              </a:rPr>
              <a:t>• multiplicative  w ∝ n·s — FedAvg 크기 가중에 기여도를 곱함 (Flirds 기본)</a:t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222222"/>
                </a:solidFill>
                <a:latin typeface="NanumGothic"/>
                <a:ea typeface="NanumGothic"/>
              </a:rPr>
              <a:t>• replacement  w ∝ s — n 가중을 기여도로 대체 (FedIF·ShapleyFL 관행)</a:t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222222"/>
                </a:solidFill>
                <a:latin typeface="NanumGothic"/>
                <a:ea typeface="NanumGothic"/>
              </a:rPr>
              <a:t>• additive  w = λ·s/Σs + (1−λ)·n/Σn, λ=0.5 — 혼합 (Ripple 관행, CNN flirds_add)</a:t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222222"/>
                </a:solidFill>
                <a:latin typeface="NanumGothic"/>
                <a:ea typeface="NanumGothic"/>
              </a:rPr>
              <a:t>• selection  softmax(s/T)로 k명 비복원 샘플 (S-FedAvg 관행)</a:t>
            </a:r>
          </a:p>
          <a:p>
            <a:pPr algn="l">
              <a:lnSpc>
                <a:spcPct val="118000"/>
              </a:lnSpc>
            </a:pPr>
            <a:r>
              <a:rPr sz="1050" b="0" i="1">
                <a:solidFill>
                  <a:srgbClr val="7A7A7A"/>
                </a:solidFill>
                <a:latin typeface="NanumGothic"/>
                <a:ea typeface="NanumGothic"/>
              </a:rPr>
              <a:t>주의: 모든 n_i가 같으면 multiplicative==replacement → IID 무대에선 flirds_w·shapleyfl_w 가중식이 같고 점수원·β만 다름.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4476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출처: 개요 §3.2.1 (codes/flirds/fl/intervene.py)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A37"/>
                </a:solidFill>
                <a:latin typeface="NanumGothic"/>
                <a:ea typeface="NanumGothic"/>
              </a:rPr>
              <a:t>성능 / 집계 (2차①) — LLM 개입 arm: MMLU · ROUGE-L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2412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LLM 표준 실험, §Fidelity 동일 궤적 · MMLU full-test(14,042) 0-shot + Alpaca-test(1k) ROUGE-L · 3-seed mean±std · 좌=표준/우=정밀 스테이지 · arm 중 최고 블록별 볼드(base 제외).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80160"/>
          <a:ext cx="11384276" cy="36484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7154"/>
                <a:gridCol w="1254200"/>
                <a:gridCol w="1495392"/>
                <a:gridCol w="1495392"/>
                <a:gridCol w="1447154"/>
                <a:gridCol w="1254200"/>
                <a:gridCol w="1495392"/>
                <a:gridCol w="1495392"/>
              </a:tblGrid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스케일·스테이지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arm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MMLU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ROUGE-L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스케일·스테이지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arm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MMLU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ROUGE-L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1B 표준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base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0.4822±.0000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0.2168±.0019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1B 정밀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base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0.4822±.0000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0.2168±.0019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vanilla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0.4742±.0001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0.2841±.0051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vanilla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0.4801±.0003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0.2725±.0032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flirds_w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0.4745±.0003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0.2848±.0050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flirds_w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0.4802±.0007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0.2741±.0025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flirds_sel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0.4739±.0005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0.2838±.0041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shapleyfl_w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0.4802±.0007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0.2741±.0026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shapleyfl_w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0.4742±.0005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0.2845±.0050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fedif_w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0.4797±.0008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0.2713±.0037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fedif_w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0.4741±.0003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0.2847±.0046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3B 표준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base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0.6230±.0000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0.2219±.0015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3B 정밀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base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0.6230±.0000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0.2219±.0015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vanilla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0.6147±.0006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0.3017±.0024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vanilla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0.6215±.0001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0.2749±.0035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flirds_w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0.6137±.0006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0.3015±.0018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flirds_w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0.6214±.0002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0.2755±.0042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flirds_sel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0.6139±.0014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0.3029±.0039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shapleyfl_w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0.6214±.0002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0.2755±.0042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shapleyfl_w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0.6136±.0005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0.3016±.0018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fedif_w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0.6213±.0002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0.2730±.0035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fedif_w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0.6139±.0007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0.3022±.0024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7B 표준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base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0.4175±.0000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0.1496±.0024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7B 정밀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base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0.4175±.0000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0.1496±.0024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vanilla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0.4038±.0024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0.2778±.0026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vanilla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0.4206±.0012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0.1651±.0016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flirds_w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0.4026±.0028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0.2780±.0027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flirds_w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0.4210±.0014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0.1680±.0023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flirds_sel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0.4025±.0022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0.2790±.0044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shapleyfl_w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0.4210±.0014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0.1680±.0023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shapleyfl_w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0.4027±.0027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0.2787±.0028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fedif_w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0.4204±.0008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0.1656±.0011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fedif_w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0.4030±.0023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0.2763±.0033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14476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A7A7A"/>
                </a:solidFill>
                <a:latin typeface="NanumGothic"/>
                <a:ea typeface="NanumGothic"/>
              </a:rPr>
              <a:t>모든 개입 arm이 vanilla와 ±0.001~0.003 이내 = clean-IID parity(향상 아님). 학습 자체는 base 대비 ROUGE 크게↑, MMLU는 SFT로 분포-밖 소폭↓. 정밀 스테이지는 전원 참여라 flirds_sel 없음.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출처: 개요 §3.2.1 (runs/track_d/rundirs/*/metrics.json)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A37"/>
                </a:solidFill>
                <a:latin typeface="NanumGothic"/>
                <a:ea typeface="NanumGothic"/>
              </a:rPr>
              <a:t>성능 / 집계 (2차①) — CNN cross-device: 최종 정확도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2412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CNN 실험 cross-device N=100, 라운드당 10% 참여, R=120 · cifar10/fmnist × iid/dir1/shard × 위협(clean/label_flip/free_rider/grad_noise) · 30 셀 · 3 seed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값=최종 test 정확도(↑). 열=위협 그룹(partition·강도·dataset pool, 셀 수 표기). 열별 최고 arm 볼드.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81328"/>
          <a:ext cx="1138428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2331720"/>
                <a:gridCol w="2331720"/>
                <a:gridCol w="2377440"/>
                <a:gridCol w="233172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arm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clean (6셀)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free_rider (6셀)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grad_noise (8셀)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label_flip (10셀)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vanilla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0.686±.127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0.646±.146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0.499±.241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0.583±.184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flirds_mult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0.698±.122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0.662±.144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0.609±.187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0.626±.170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flirds_repl (dir1)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0.734±.096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0.704±.111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0.621±.185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0.652±.149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flirds_add (dir1)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0.733±.094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0.702±.110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0.604±.195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0.635±.161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flirds_select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0.679±.150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0.656±.148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0.548±.231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0.618±.172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shapleyfl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0.702±.126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0.645±.136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0.645±.183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0.622±.168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fedif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0.685±.127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0.654±.154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0.624±.178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0.623±.169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sfedavg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0.695±.128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0.655±.139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0.510±.252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0.598±.186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14476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A7A7A"/>
                </a:solidFill>
                <a:latin typeface="NanumGothic"/>
                <a:ea typeface="NanumGothic"/>
              </a:rPr>
              <a:t>그룹 평균이라 std 큼(셀별 30칸은 RESULTS.txt). 오염(grad_noise/label_flip)에서 기여도-가중이 정확도 회복; clean은 parity~소폭↑. flirds_repl/add는 size-skew(dir1) 전용.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출처: 개요 §3.2.2 (runs/track_c/c2/*/metrics.json)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A37"/>
                </a:solidFill>
                <a:latin typeface="NanumGothic"/>
                <a:ea typeface="NanumGothic"/>
              </a:rPr>
              <a:t>수렴 (2차②) — LLM 표준: final val-loss · rounds-to-target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2412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LLM 표준 실험, §성능과 동일 로그 · rounds-to-target = vanilla 최종 val-loss에 도달한 첫 라운드 · 3-seed mean±std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좌=표준 스테이지(R=200), 우=정밀 스테이지(R=30). 둘 다 작을수록 좋음(↓). arm 중 최저를 블록별 볼드.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81328"/>
          <a:ext cx="11384276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7154"/>
                <a:gridCol w="1254200"/>
                <a:gridCol w="1495392"/>
                <a:gridCol w="1495392"/>
                <a:gridCol w="1447154"/>
                <a:gridCol w="1254200"/>
                <a:gridCol w="1495392"/>
                <a:gridCol w="1495392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스케일·스테이지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arm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val-loss ↓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rounds ↓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스케일·스테이지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arm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val-loss ↓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rounds ↓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1B 표준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vanilla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1.2653±.0216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200.0±0.0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1B 정밀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vanilla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1.2977±.0209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30.0±0.0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flirds_w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1.2653±.0215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199.0±1.0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flirds_w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1.2964±.0209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29.7±0.5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flirds_sel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1.2654±.0217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199.0±0.0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shapleyfl_w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1.2964±.0209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29.7±0.5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shapleyfl_w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1.2653±.0215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199.0±1.0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fedif_w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1.2976±.0204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30.0±0.0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fedif_w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1.2652±.0215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198.0±0.0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3B 표준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vanilla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1.1483±.0270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198.3±2.4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3B 정밀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vanilla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1.1970±.0272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30.0±0.0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flirds_w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1.1479±.0271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192.3±3.3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flirds_w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1.1961±.0272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30.0±0.0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flirds_sel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1.1481±.0273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193.5±0.5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shapleyfl_w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1.1960±.0272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30.0±0.0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shapleyfl_w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1.1479±.0271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192.3±3.3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fedif_w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1.1970±.0269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30.0±0.0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fedif_w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1.1478±.0271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191.0±3.6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7B 표준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vanilla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1.0357±.0244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184.7±18.3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7B 정밀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vanilla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1.0941±.0221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30.0±0.0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flirds_w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1.0348±.0245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153.0±18.8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flirds_w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1.0904±.0224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28.3±0.5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flirds_sel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1.0351±.0243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153.0±23.6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shapleyfl_w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1.0904±.0224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28.3±0.5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shapleyfl_w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1.0347±.0245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151.3±19.9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fedif_w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1.0932±.0207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29.5±0.5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fedif_w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1.0348±.0246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158.0±12.7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/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14476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A7A7A"/>
                </a:solidFill>
                <a:latin typeface="NanumGothic"/>
                <a:ea typeface="NanumGothic"/>
              </a:rPr>
              <a:t>clean-IID라 arm 간 거의 동률. 두드러진 칸은 7B 표준: 개입 arm이 vanilla 184.7→~151~158 라운드(~14~18% 빠름, 단 std 겹침). 정밀 3B는 전부 30.0 동률.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출처: 개요 §3.3.1 (runs/track_d/rundirs/*/metrics.json)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A37"/>
                </a:solidFill>
                <a:latin typeface="NanumGothic"/>
                <a:ea typeface="NanumGothic"/>
              </a:rPr>
              <a:t>수렴 (2차②) — CNN cross-device: rounds-to-target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2412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CNN 실험 cross-device N=100 · 값=목표 정확도 도달 라운드(↓) · 열=위협 그룹(셀 pool) · 열별 최저 arm 볼드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80160"/>
          <a:ext cx="1138428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2331720"/>
                <a:gridCol w="2331720"/>
                <a:gridCol w="2377440"/>
                <a:gridCol w="233172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arm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clean ↓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free_rider ↓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grad_noise ↓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label_flip ↓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vanilla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35.7±27.3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41.2±39.1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27.2±35.0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19.3±12.1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flirds_mult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34.1±27.7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38.8±34.8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13.7±13.6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31.3±30.9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flirds_repl (dir1)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41.5±34.9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7.7±0.5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6.3±0.5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10.9±4.0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flirds_add (dir1)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39.5±32.8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34.2±44.9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6.8±0.7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11.8±4.0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flirds_select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35.3±26.9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50.4±43.2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21.7±24.4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16.1±7.7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shapleyfl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35.6±28.1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17.4±11.7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18.7±26.1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33.1±35.0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fedif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36.0±28.7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44.7±35.8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23.9±24.5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30.6±30.4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sfedavg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35.3±28.3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42.4±38.0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21.9±24.5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19.3±10.6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14476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A7A7A"/>
                </a:solidFill>
                <a:latin typeface="NanumGothic"/>
                <a:ea typeface="NanumGothic"/>
              </a:rPr>
              <a:t>그룹 평균(target 미달 셀에서 분산 큼). grad_noise에서 기여도-가중이 도달을 크게 앞당김(vanilla 27.2 → flirds_repl 6.3).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출처: 개요 §3.3.2 (runs/track_c/c2/*/metrics.json)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A37"/>
                </a:solidFill>
                <a:latin typeface="NanumGothic"/>
                <a:ea typeface="NanumGothic"/>
              </a:rPr>
              <a:t>탐지 (2차③) — 강건성 cross-silo N=5 (1B)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2412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소수기관 연합 cross-silo, N=5 전원 · Llama-3.2-1B, R=10 · 위협별 1명 오염(noisy/free-rider random·zero/poison) · (b)=exact 2^5 · 3-seed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AUROC = corrupt를 high-φ로 잡는 탐지력(↑). Sp = Spearman vs (b)(↑). runtime ↓. poison = clean-보존 backdoor(ASR≈1.00).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81328"/>
          <a:ext cx="11384274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4705"/>
                <a:gridCol w="1232815"/>
                <a:gridCol w="1011293"/>
                <a:gridCol w="1232815"/>
                <a:gridCol w="1011293"/>
                <a:gridCol w="1232815"/>
                <a:gridCol w="1011293"/>
                <a:gridCol w="1232815"/>
                <a:gridCol w="1011293"/>
                <a:gridCol w="963137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method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noisy AUROC↑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noisy Sp↑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frrand AUROC↑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frrand Sp↑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frzero AUROC↑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frzero Sp↑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poison AUROC↑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poison Sp↑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runtime↓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0.917±.118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0.967±.047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~107s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Flirds-1st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~35s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loss-heur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~170s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FedIF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0.933±.05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0.900±.08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0.933±.05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0.967±.05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~37s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GTG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0.867±.12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~540s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FedSV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0.933±.05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0.367±.26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~535s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ShapleyFL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~530s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Banzhaf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~535s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(b)oracle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(truth)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(truth)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(truth)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(truth)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~530s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FLDetector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0.750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0.750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~30s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STD-DAGMM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0.417±.31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0.250±.20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0.750±.20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~120s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FLTrust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~37s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FedDQC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0.917±.12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0.750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0.750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~22s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14476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A7A7A"/>
                </a:solidFill>
                <a:latin typeface="NanumGothic"/>
                <a:ea typeface="NanumGothic"/>
              </a:rPr>
              <a:t>noisy·free-rider는 거의 전부 AUROC 1.0(near-additive). poison(clean-보존 backdoor)이 분리점: Flirds-1st AUROC/Sp=0.000 완전 회피, 2차 Flirds 0.917로 일부 버팀. FedSV Sp가 poison서 0.367로 추락.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출처: 개요 §3.4.1 (runs/phase2_matrix/analysis · RESULTS.md)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A37"/>
                </a:solidFill>
                <a:latin typeface="NanumGothic"/>
                <a:ea typeface="NanumGothic"/>
              </a:rPr>
              <a:t>탐지 (2차③) — 강건성 cross-device N=100: noisy 탐지 AUROC (α-sweep)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2412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대규모 단말 연합 cross-device, N=100, 라운드당 10명 · Llama-3.2-1B, R=30 · Dirichlet α∈{0,0.01,0.1,0.5=anchor,5.0} · 오염 5명 · 3-seed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값=noisy 탐지 AUROC(↑). α=0.5 anchor에서만 (b) per-round 오라클 + coalition baseline(GTG/FedSV/ShapleyFL) 켬. 열별 최고 볼드.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81328"/>
          <a:ext cx="11384276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1874519"/>
                <a:gridCol w="1874519"/>
                <a:gridCol w="1874519"/>
                <a:gridCol w="2057400"/>
                <a:gridCol w="1874519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method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α=0.0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α=0.01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α=0.1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α=0.5 (anchor)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α=5.0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(b)oracle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0.604±.041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0.774±.058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0.575±.055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0.605±.056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0.604±.041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0.596±.039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Flirds-1st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0.772±.058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0.575±.057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0.606±.055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0.605±.042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0.597±.038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loss-heur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0.772±.058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0.574±.056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0.607±.056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0.605±.042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0.597±.038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FedIF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0.973±.017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0.568±.106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0.693±.126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0.830±.085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0.973±.022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GTG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0.734±.112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FedSV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0.708±.142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ShapleyFL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0.762±.095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ComFedSV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0.442±.115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0.419±.054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0.432±.032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0.371±.028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0.396±.002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FLDetector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0.535±.048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0.482±.085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0.525±.070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0.539±.055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0.532±.058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STD-DAGMM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0.856±.037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0.652±.190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0.659±.147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0.671±.142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0.760±.040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FLTrust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0.602±.096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0.720±.136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0.854±.090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0.994±.008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FedDQC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0.960±.057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14476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A7A7A"/>
                </a:solidFill>
                <a:latin typeface="NanumGothic"/>
                <a:ea typeface="NanumGothic"/>
              </a:rPr>
              <a:t>데이터-품질 전용 FedDQC가 1.0으로 최강. valuation φ는 0.57~0.77로 침식(비-IID서 정상 소수 클라가 상위). 결정적: exact (b) 오라클 자체도 0.604 — 침식은 근사 결함이 아닌 valuation 본질.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출처: 개요 §3.4.2 (b1) (runs/phase2_matrix · master_metrics.csv)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A37"/>
                </a:solidFill>
                <a:latin typeface="NanumGothic"/>
                <a:ea typeface="NanumGothic"/>
              </a:rPr>
              <a:t>탐지 (2차③) — 강건성 cross-device N=100: free-rider 탐지 AUROC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2412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cross-device N=100, Llama-3.2-1B · free-rider 두 모드(random=benign-std / zero) · 대표 α(0.0/0.5) · 3-seed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값=AUROC(↑). 열별 최고 볼드.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81328"/>
          <a:ext cx="1138428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2057400"/>
                <a:gridCol w="2057400"/>
                <a:gridCol w="2057400"/>
                <a:gridCol w="201168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method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frrand α=0.0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frrand α=0.5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frzero α=0.0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frzero α=0.5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 / Flirds-1st / loss-heur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FedIF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0.983±.009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0.981±.003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0.989±.004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0.987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ComFedSV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0.449±.130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0.383±.045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0.441±.122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0.367±.028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FLDetector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0.606±.030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0.617±.039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0.529±.024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0.540±.061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STD-DAGMM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0.960±.029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0.588±.205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0.870±.094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0.963±.036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FLTrust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FedDQC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0.140±.014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0.573±.113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0.140±.014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0.573±.113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14476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A7A7A"/>
                </a:solidFill>
                <a:latin typeface="NanumGothic"/>
                <a:ea typeface="NanumGothic"/>
              </a:rPr>
              <a:t>gradient 쓰는 방법(Flirds/Flirds-1st/loss-heur/FLTrust)이 1.0으로 깔끔. model-free STD-DAGMM은 가변, FedDQC는 off-threat(free-rider는 데이터-품질 아님)이라 낮음.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출처: 개요 §3.4.2 (b2) (runs/phase2_matrix · master_metrics.csv)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A37"/>
                </a:solidFill>
                <a:latin typeface="NanumGothic"/>
                <a:ea typeface="NanumGothic"/>
              </a:rPr>
              <a:t>Fidelity — 강건성 cross-device N=100: Spearman vs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2412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cross-device N=100, Llama-3.2-1B · 3-seed. truth가 셀마다 다름: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좌 3열(α=0.5 anchor) truth=(b) per-round 정확 오라클(genuine). 우측 열 truth=Flirds 기준 대용(proxy) → '1.000'은 'Flirds와 동일 순위'의 뜻(vs 오라클 아님).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81328"/>
          <a:ext cx="1138428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377440"/>
                <a:gridCol w="2377440"/>
                <a:gridCol w="2377440"/>
                <a:gridCol w="260604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method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noisy α=0.5
(truth=(b))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frrand α=0.5
(truth=(b))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frzero α=0.5
(truth=(b))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off-anchor α
(truth=Flirds proxy)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(proxy 기준)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Flirds-1st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모든 α 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loss-heur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모든 α 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FedIF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0.721±.027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0.827±.022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0.824±.017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α별 0.62~0.83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GTG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0.784±.021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0.817±.022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0.843±.026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(anchor만)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FedSV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0.752±.020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0.795±.020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0.814±.018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(anchor만)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ShapleyFL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0.582±.075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0.685±.054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0.681±.049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(anchor만)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ComFedSV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-0.023±.127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-0.051±.153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-0.051±.142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모든 α ≈0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14476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A7A7A"/>
                </a:solidFill>
                <a:latin typeface="NanumGothic"/>
                <a:ea typeface="NanumGothic"/>
              </a:rPr>
              <a:t>진짜 오라클 검증은 α=0.5 anchor 한 칸뿐(거기서 Flirds vs (b) per-round = 1.000, genuine). off-anchor 1.0은 Flirds 자기참조이므로 fidelity 증거로 쓰면 순환 — 주의.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출처: 개요 §3.4.2 (b3) (runs/phase2_matrix · RESULTS.md)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A37"/>
                </a:solidFill>
                <a:latin typeface="NanumGothic"/>
                <a:ea typeface="NanumGothic"/>
              </a:rPr>
              <a:t>탐지 (2차③) — 강건성 cross-device N=100: poison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2412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cross-device N=100, Llama-3.2-1B · poison(model-replacement backdoor, R=60, frac=0.8) · α=0.0(ASR≈1.00) / α=0.5(ASR≈0.50) · truth=Flirds proxy · 3-seed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AUROC=탐지력(↑), Sp=Spearman vs Flirds proxy(↑). 열별 최고 볼드(Flirds는 proxy 기준이라 Sp 제외).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81328"/>
          <a:ext cx="1138428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2423160"/>
                <a:gridCol w="2377440"/>
                <a:gridCol w="2423160"/>
                <a:gridCol w="233172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method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α=0.0 AUROC↑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α=0.0 Sp↑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α=0.5 AUROC↑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α=0.5 Sp↑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(proxy truth)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(proxy truth)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Flirds-1st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0.997±.002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0.670±.467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0.980±.028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loss-heur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0.997±.002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0.999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FedIF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0.542±.258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0.620±.204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0.458±.284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0.439±.071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ComFedSV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0.778±.314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0.104±.054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0.727±.386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0.025±.098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FLDetector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0.987±.019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0.983±.024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STD-DAGMM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0.983±.024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FLTrust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0.650±.180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0.498±.281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FedDQC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14476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A7A7A"/>
                </a:solidFill>
                <a:latin typeface="NanumGothic"/>
                <a:ea typeface="NanumGothic"/>
              </a:rPr>
              <a:t>device100 poison은 cross-device 희석으로 설치가 약함(α0.5 ASR 0.50). 여기선 Flirds(2차) AUROC 1.0으로 회피 안 됨 = 설정 의존(cross-silo와 대비). caveat: tiny val=10.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출처: 개요 §3.4.3 (master_metrics.csv 03_device100_poison)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A37"/>
                </a:solidFill>
                <a:latin typeface="NanumGothic"/>
                <a:ea typeface="NanumGothic"/>
              </a:rPr>
              <a:t>탐지 (2차③) — 강건성 cross-silo N=5 (3B, 1 seed 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2412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소수기관 연합 cross-silo, N=5 전원 · Llama-3.2-3B, R=10 · seeds=[0]만(3-seed 미완 ◐) · (b)=exact 2^5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값=AUROC(↑)/Sp(↑)/runtime(↓), 1 seed라 ± 없음. 열별 최고 볼드((b)oracle 제외).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81328"/>
          <a:ext cx="11384277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37117"/>
                <a:gridCol w="1489083"/>
                <a:gridCol w="1152838"/>
                <a:gridCol w="1489083"/>
                <a:gridCol w="1489083"/>
                <a:gridCol w="1489083"/>
                <a:gridCol w="1152838"/>
                <a:gridCol w="1585152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method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noisy AUROC↑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noisy Sp↑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frrand AUROC↑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frzero AUROC↑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poison AUROC↑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poison Sp↑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runtime(noisy)↓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~251s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Flirds-1st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~82s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loss-heur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~384s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FedIF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~82s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(b)oracle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(truth)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(truth)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~1244s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FLDetector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~146–382s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STD-DAGMM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0.250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0.750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~206–745s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FLTrust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~83–91s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FedDQC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0.750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0.750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~46–50s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14476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A7A7A"/>
                </a:solidFill>
                <a:latin typeface="NanumGothic"/>
                <a:ea typeface="NanumGothic"/>
              </a:rPr>
              <a:t>3B poison: Flirds·Flirds-1st 둘 다 AUROC/Sp 0.000 = clean-보존 backdoor에 완전 회피(1B는 2차가 0.917로 일부 버텼으나 3B는 둘 다 0). loss-heur·(b)·FedIF·탐지기는 1.0. 1 seed 한계.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출처: 개요 §3.4.4 (master_metrics.csv 05_scale_3b)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A37"/>
                </a:solidFill>
                <a:latin typeface="NanumGothic"/>
                <a:ea typeface="NanumGothic"/>
              </a:rPr>
              <a:t>탐지 — poison 회피 발견: clean-보존 backdoor가 Flirds-1st를 회피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2412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cross-silo poison(clean-보존 backdoor) 칸만 모음 · 1B(3-seed) / 3B(1 seed ◐) · 값=poison AUROC(↑)·Spearman(↑)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공격자가 clean val-loss를 낮춰 φ가 '기여 높음'으로 나옴 → 1차 Taylor가 부호를 놓침.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81328"/>
          <a:ext cx="1138428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2103120"/>
                <a:gridCol w="2103120"/>
                <a:gridCol w="2103120"/>
                <a:gridCol w="214884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method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1B AUROC↑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1B Sp↑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3B AUROC↑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3B Sp↑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 (1차+2차)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0.917±.118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0.967±.047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Flirds-1st (1차만)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loss-heur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FedIF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0.967±.05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(b) in-run 오라클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(truth)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(truth)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FLDetector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FLTrust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813048"/>
            <a:ext cx="11338560" cy="10972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222"/>
                </a:solidFill>
                <a:latin typeface="NanumGothic"/>
                <a:ea typeface="NanumGothic"/>
              </a:rPr>
              <a:t>• Flirds-1st AUROC 0.000 = 완전 회피. 1B는 2차 Hessian 항이 0.917로 부호 일부 복원, 3B는 둘 다 0.000(1-seed).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222"/>
                </a:solidFill>
                <a:latin typeface="NanumGothic"/>
                <a:ea typeface="NanumGothic"/>
              </a:rPr>
              <a:t>• 같은 val-loss 게임을 쓰는 (b) 정확 오라클·loss-heur는 AUROC 1.0으로 잡음 → '정직한 valuation 답'보다 1차 Taylor 부호 실패에 가까움.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222"/>
                </a:solidFill>
                <a:latin typeface="NanumGothic"/>
                <a:ea typeface="NanumGothic"/>
              </a:rPr>
              <a:t>• cross-device에선 회피 안 됨(설치 약함) → 경계는 보편이 아니라 '큰 scaled-update × 큰 모델' 조건부. 상보적 탐지기 필요.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4476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출처: 개요 §3.4.1 · §3.4.4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A37"/>
                </a:solidFill>
                <a:latin typeface="NanumGothic"/>
                <a:ea typeface="NanumGothic"/>
              </a:rPr>
              <a:t>비용 (2차 이후) — LLM 표준 runtime (방법 × 스케일·스테이지)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2412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LLM 표준 실험 · wall-clock 초(↓) · 3-seed mean±std · 표준=N=20 라운드당 2 / 정밀=N=5 전원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(b)/(a) 오라클은 기준점(볼드 제외). 방법 중 최저를 열별 볼드.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81328"/>
          <a:ext cx="1138428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1636776"/>
                <a:gridCol w="1636776"/>
                <a:gridCol w="1636776"/>
                <a:gridCol w="1636776"/>
                <a:gridCol w="1636776"/>
                <a:gridCol w="164592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method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1B 표준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1B 정밀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3B 표준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3B 정밀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7B 표준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7B 정밀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Flirds-1st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1531±37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231±5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3630±76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547±10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6485±87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975±13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4697±112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707±16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11147±228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1674±30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20180±250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3027±36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FedIF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1534±37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232±5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3638±75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549±10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6495±88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978±13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loss-heur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2913±72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1093±26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6909±150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2585±48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12299±167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4613±62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ComFedSV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2330±22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2557±215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5526±34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6043±525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9839±110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10792±1044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GTG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3647±90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3552±82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8647±189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8393±153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15393±206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14972±193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FedSV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3646±90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3536±86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8647±189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8356±161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15393±208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14907±270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ShapleyFL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2917±72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3513±83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6916±150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8303±155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12312±167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14812±199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Banzhaf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 (N=20)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3527±83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8329±155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14844±198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(b)oracle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2917±72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3528±83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6916±151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8329±156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12310±165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14839±196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(a)oracle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30817±244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⬚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⬚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14476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A7A7A"/>
                </a:solidFill>
                <a:latin typeface="NanumGothic"/>
                <a:ea typeface="NanumGothic"/>
              </a:rPr>
              <a:t>Flirds-1st 항상 최저. 2차 Flirds 비용은 라운드당 cohort에 무관(1 HVP); (b) 오라클은 cohort에 지수적(2^k). (a) retrain = (b)의 ~9배. 다음 슬라이드에 비용 모델 정리.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출처: 개요 §3.5.1 (runs/track_d/rundirs/*/metrics.json)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A37"/>
                </a:solidFill>
                <a:latin typeface="NanumGothic"/>
                <a:ea typeface="NanumGothic"/>
              </a:rPr>
              <a:t>비용 — 비용 모델 요점: cohort 크기(2^k)가 우열을 가른다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69848"/>
            <a:ext cx="11338560" cy="2926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222222"/>
                </a:solidFill>
                <a:latin typeface="NanumGothic"/>
                <a:ea typeface="NanumGothic"/>
              </a:rPr>
              <a:t>• Flirds-1st = 항상 최저가 (1 val-gradient/round, Hessian 없음).</a:t>
            </a:r>
          </a:p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1F2A37"/>
                </a:solidFill>
                <a:latin typeface="NanumGothic"/>
                <a:ea typeface="NanumGothic"/>
              </a:rPr>
              <a:t>• 2차 Flirds 비용 = 라운드당 cohort 크기와 무관 (1 HVP/round 고정).</a:t>
            </a:r>
          </a:p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1F2A37"/>
                </a:solidFill>
                <a:latin typeface="NanumGothic"/>
                <a:ea typeface="NanumGothic"/>
              </a:rPr>
              <a:t>• (b) in-run 오라클 비용 = 라운드당 cohort에 지수적 (2^k coalition-eval/round).</a:t>
            </a:r>
          </a:p>
          <a:p>
            <a:pPr algn="l">
              <a:lnSpc>
                <a:spcPct val="128000"/>
              </a:lnSpc>
            </a:pPr>
            <a:r>
              <a:rPr sz="600" b="0" i="0">
                <a:solidFill>
                  <a:srgbClr val="222222"/>
                </a:solidFill>
                <a:latin typeface="NanumGothic"/>
                <a:ea typeface="NanumGothic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350" b="1" i="0">
                <a:solidFill>
                  <a:srgbClr val="1F2A37"/>
                </a:solidFill>
                <a:latin typeface="NanumGothic"/>
                <a:ea typeface="NanumGothic"/>
              </a:rPr>
              <a:t>함의 — 우열이 무대마다 갈린다: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222"/>
                </a:solidFill>
                <a:latin typeface="NanumGothic"/>
                <a:ea typeface="NanumGothic"/>
              </a:rPr>
              <a:t>   cohort 크면 Flirds 압승:  device100 anchor(K=10) 157s vs (b) 25,000s ≈ 160× · 정밀 스테이지(N=5 full) 707s vs 3528s ≈ 5×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222"/>
                </a:solidFill>
                <a:latin typeface="NanumGothic"/>
                <a:ea typeface="NanumGothic"/>
              </a:rPr>
              <a:t>   cohort 작으면 (b)가 더 쌈:  표준 스테이지는 라운드당 2명(2²=4 eval) → 1B 표준 (b) 2917s &lt; Flirds(2차) 4697s. 이 레짐은 Flirds-1st만 우위.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222"/>
                </a:solidFill>
                <a:latin typeface="NanumGothic"/>
                <a:ea typeface="NanumGothic"/>
              </a:rPr>
              <a:t>   (a) retrain 오라클 = (b)의 ~9배 (1B 정밀 30,817s vs 3528s) — fidelity 비교군이 아닌 별도 정답.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222"/>
                </a:solidFill>
                <a:latin typeface="NanumGothic"/>
                <a:ea typeface="NanumGothic"/>
              </a:rPr>
              <a:t>   CNN: Flirds·Flirds-1st가 FL 학습 자체(traj_time ~80~94s)보다 2~3 자릿수 싸다. Ripple은 압도적 dominated(학습보다 10~130×).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4270248"/>
          <a:ext cx="11384280" cy="822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371600"/>
                <a:gridCol w="1371600"/>
                <a:gridCol w="4572000"/>
                <a:gridCol w="132588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무대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Flirds-1st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Flirds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(b)·coalition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탐지기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cross-silo N=5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~35s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~107s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(b)·coalition ~530s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22~136s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cross-device N=100 anchor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~53s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~157s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(b)perround ~25,000s / GTG ~16–18k / ShapleyFL ~24.9k / FedSV ~4970s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–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14476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출처: 개요 §3.5.1 · §3.5.2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A37"/>
                </a:solidFill>
                <a:latin typeface="NanumGothic"/>
                <a:ea typeface="NanumGothic"/>
              </a:rPr>
              <a:t>비용 — CNN cross-silo runtime: MNIST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2412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CNN 실험 cross-silo N=10 · wall-clock 초(↓) · 3-seed mean±std · 시나리오별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(b)oracle·traj_time(FL 학습 자체)은 기준점(볼드 제외). 방법 중 최저를 열별 볼드.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81328"/>
          <a:ext cx="11384279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1828800"/>
                <a:gridCol w="1874519"/>
                <a:gridCol w="182880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method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iid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feature-noise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label-flip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label-skew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quantity-skew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Flirds-1st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0.08±0.00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0.08±0.00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0.08±0.00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0.08±0.00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0.08±0.00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0.73±0.03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0.58±0.05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0.59±0.03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0.61±0.06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0.55±0.03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FedIF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0.18±0.00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0.16±0.01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0.17±0.01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0.17±0.01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0.16±0.01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loss-heur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0.24±0.00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0.24±0.00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0.24±0.00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0.24±0.00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0.24±0.00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ComFedSV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5.13±0.18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5.17±0.04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5.13±0.18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5.12±0.14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5.10±0.15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GTG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18.11±0.11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19.77±0.48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16.29±1.51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25.01±0.90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17.26±0.95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FedSV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6.23±0.07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6.29±0.11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6.29±0.14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6.22±0.11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6.21±0.04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ShapleyFL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30.65±0.26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30.80±0.43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30.58±0.64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30.47±0.56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30.31±0.31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Banzhaf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31.16±0.29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31.34±0.49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31.21±0.71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30.85±0.53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31.04±0.45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(b)oracle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31.09±0.36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31.33±0.47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31.04±0.62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30.89±0.55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30.91±0.48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Ripple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2254.83±758.57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1147.51±70.79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1160.83±36.82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1121.67±22.25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1075.64±52.27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traj_time (FL 학습)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93.88±1.32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92.85±1.02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91.81±1.16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84.57±1.56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85.36±1.38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14476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A7A7A"/>
                </a:solidFill>
                <a:latin typeface="NanumGothic"/>
                <a:ea typeface="NanumGothic"/>
              </a:rPr>
              <a:t>Flirds-1st 최저(0.08s). Ripple은 학습 자체보다 10~130× 느려 압도적 dominated.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출처: 개요 §3.5.2 (runs/track_c/c1/*/metrics.json)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A37"/>
                </a:solidFill>
                <a:latin typeface="NanumGothic"/>
                <a:ea typeface="NanumGothic"/>
              </a:rPr>
              <a:t>비용 — CNN cross-silo runtime: CIFAR-10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2412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CNN 실험 cross-silo N=10 · wall-clock 초(↓) · 3-seed mean±std · 시나리오별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(b)oracle·traj_time은 기준점(볼드 제외). 방법 중 최저를 열별 볼드.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81328"/>
          <a:ext cx="11384276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77073"/>
                <a:gridCol w="1814227"/>
                <a:gridCol w="1859583"/>
                <a:gridCol w="1859583"/>
                <a:gridCol w="1814227"/>
                <a:gridCol w="1859583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method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iid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feature-noise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label-flip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label-skew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quantity-skew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Flirds-1st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0.34±0.01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0.37±0.04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0.38±0.05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0.34±0.01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0.34±0.01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Flirds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1.20±0.08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1.62±0.49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1.44±0.34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1.27±0.17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5.78±6.24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FedIF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0.44±0.01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0.48±0.02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0.50±0.07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0.54±0.15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0.49±0.06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loss-heur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1.27±0.01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1.30±0.03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1.27±0.00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1.28±0.01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1.30±0.02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ComFedSV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18.45±0.36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19.18±1.10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19.07±0.82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18.83±0.19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19.04±0.51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GTG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88.98±2.02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87.84±5.34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88.25±3.10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102.46±0.58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75.50±0.96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FedSV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22.29±0.27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23.10±0.73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23.19±0.91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23.87±1.76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22.81±0.25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ShapleyFL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110.83±1.28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115.58±4.74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112.25±1.82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113.03±1.14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115.42±3.39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Banzhaf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110.93±1.26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115.84±5.30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115.94±6.90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112.69±1.10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112.70±0.45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(b)oracle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110.48±0.93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119.41±4.78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114.54±3.85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112.87±1.16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168.69±71.77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Ripple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7453.15±710.09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9592.28±2713.45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11105.31±2385.57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10702.14±898.62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10072.95±2706.30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traj_time (FL 학습)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80.21±0.45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87.28±5.38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86.70±7.24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83.12±2.05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91.23±3.36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14476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A7A7A"/>
                </a:solidFill>
                <a:latin typeface="NanumGothic"/>
                <a:ea typeface="NanumGothic"/>
              </a:rPr>
              <a:t>순서는 MNIST와 동일(Flirds-1st 최저 &lt; Flirds ≪ exact 2^10급). Ripple ~7.5~11k s = 압도적 dominated.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출처: 개요 §3.5.2 (runs/track_c/c1/*/metrics.json)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A37"/>
                </a:solidFill>
                <a:latin typeface="NanumGothic"/>
                <a:ea typeface="NanumGothic"/>
              </a:rPr>
              <a:t>한계 · 주의 (caveats)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69848"/>
            <a:ext cx="11338560" cy="45720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222222"/>
                </a:solidFill>
                <a:latin typeface="NanumGothic"/>
                <a:ea typeface="NanumGothic"/>
              </a:rPr>
              <a:t>• 3B 강건성 = 1 seed (◐).  3B 강건성 전 수치가 단일 seed → 통계 없음(특히 poison 둘 다 0.000).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222222"/>
                </a:solidFill>
                <a:latin typeface="NanumGothic"/>
                <a:ea typeface="NanumGothic"/>
              </a:rPr>
              <a:t>• retrain 오라클 (a) = 1B 정밀 스테이지만.  3B/7B는 fidelity·runtime만 있고 (a) 미실행(⬚).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222222"/>
                </a:solidFill>
                <a:latin typeface="NanumGothic"/>
                <a:ea typeface="NanumGothic"/>
              </a:rPr>
              <a:t>• cross-device 비-anchor truth = Flirds 기준 대용(proxy).  정확 (b)가 칸당 ~25,000s라 α=0.5만 실측 → 그 칸의 Spearman은 vs Flirds(자기참조).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222222"/>
                </a:solidFill>
                <a:latin typeface="NanumGothic"/>
                <a:ea typeface="NanumGothic"/>
              </a:rPr>
              <a:t>• CNN fidelity pool 평균은 iid 포함 → 깎임.  iid 셀은 오염·skew 신호가 없어 fidelity가 의미상 낮다(별도 iid-제외 값 병기).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222222"/>
                </a:solidFill>
                <a:latin typeface="NanumGothic"/>
                <a:ea typeface="NanumGothic"/>
              </a:rPr>
              <a:t>• CNN cross-device 그룹 표는 partition·강도·dataset을 위협 내에서 pool → std 큼.  셀별 30칸은 RESULTS.txt.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222222"/>
                </a:solidFill>
                <a:latin typeface="NanumGothic"/>
                <a:ea typeface="NanumGothic"/>
              </a:rPr>
              <a:t>• tiny val.  cross-silo val=20 / cross-device val=10 → AUROC가 coarse(특히 noisy φ-as-detector).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222222"/>
                </a:solidFill>
                <a:latin typeface="NanumGothic"/>
                <a:ea typeface="NanumGothic"/>
              </a:rPr>
              <a:t>• poison ASR은 deployed-model 기준(cross-silo≈1.00, cross-device α0≈1.00/α0.5≈0.50, 3B≈1.00).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222222"/>
                </a:solidFill>
                <a:latin typeface="NanumGothic"/>
                <a:ea typeface="NanumGothic"/>
              </a:rPr>
              <a:t>• 7B 정밀 스테이지 arm(MMLU/ROUGE/val-loss)은 2026-06-26 추가 완료 → LLM 표준 6 셀 전부 arm 포함.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14476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출처: 개요 §4.2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A37"/>
                </a:solidFill>
                <a:latin typeface="NanumGothic"/>
                <a:ea typeface="NanumGothic"/>
              </a:rPr>
              <a:t>부록 — 기초 검증: 첫 clean run (AUROC + selection)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2412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기초 검증(첫 clean run + 학습률 sweep) · Llama-3.2-1B, N=5 전원, K=3 · noisy=client0 answer-swap / free-rider=client1 zero-update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full: R=50, lr∈{1e-3,3e-3}×3 seed · sweep: R=20, lr 4종×1 seed. flirds_keep/random_keep은 설정·산출값(볼드 없음).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81328"/>
          <a:ext cx="11384278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199"/>
                <a:gridCol w="2011680"/>
                <a:gridCol w="2377440"/>
                <a:gridCol w="2606040"/>
                <a:gridCol w="1645919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group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noisy AUROC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free-rider AUROC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flirds_keep (seed별)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random_keep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full lr1e-3 (3 seed)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0.750±.000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[3,2,4] 매 seed (=clean)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seed별 가변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full lr3e-3 (3 seed)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1.000±.000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0.750±.000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[2,3,4] 매 seed (=clean)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seed별 가변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sweep lr1e-4 (1 seed)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0.750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[3,2,4]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[2,3,4]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sweep lr3e-4 (1 seed)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0.750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[3,2,4]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[2,3,4]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sweep lr1e-3 (1 seed)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0.750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[3,2,4]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[2,3,4]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sweep lr3e-3 (1 seed)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0.750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[3,2,4]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[2,3,4]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14476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A7A7A"/>
                </a:solidFill>
                <a:latin typeface="NanumGothic"/>
                <a:ea typeface="NanumGothic"/>
              </a:rPr>
              <a:t>lr 의존 반전: full lr1e-3은 noisy 0.75/FR 1.0, lr3e-3은 noisy 1.0/FR 0.75. selection: flirds_keep이 매 seed 정확히 clean 클라 3개(noisy·free-rider 항상 드롭).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출처: 개요 §4.1 (runs/phase1/rundirs/*/metrics.json)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A37"/>
                </a:solidFill>
                <a:latin typeface="NanumGothic"/>
                <a:ea typeface="NanumGothic"/>
              </a:rPr>
              <a:t>부록 — 기초 검증: selection arms (final val-loss)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2412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3C4654"/>
                </a:solidFill>
                <a:latin typeface="NanumGothic"/>
                <a:ea typeface="NanumGothic"/>
              </a:rPr>
              <a:t>기초 검증 full · final val-loss(↓) · 3-seed mean±std · 행별 최저 arm 볼드(full=전원, flirds_topk=Flirds 상위 선택, random_k=무작위 k)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80160"/>
          <a:ext cx="11384276" cy="822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199"/>
                <a:gridCol w="2880359"/>
                <a:gridCol w="2880359"/>
                <a:gridCol w="2880359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group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full (전원) ↓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flirds_topk ↓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random_k ↓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full lr1e-3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2.4064±.0234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2.3978±.0226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2.4111±.0133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full lr3e-3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2.3931±.0223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2.3926±.0219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NanumGothic"/>
                          <a:ea typeface="NanumGothic"/>
                        </a:rPr>
                        <a:t>2.4055±.0100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14476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A7A7A"/>
                </a:solidFill>
                <a:latin typeface="NanumGothic"/>
                <a:ea typeface="NanumGothic"/>
              </a:rPr>
              <a:t>flirds_topk val-loss ≤ random_k (양 lr) 그리고 ≤ full(오염 드롭이 도움) → 'random은 hard bar'를 넘김.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출처: 개요 §4.1 (runs/phase1/rundirs/*/metrics.json)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NanumGothic"/>
                <a:ea typeface="NanumGothic"/>
              </a:rPr>
              <a:t>결론 — 결과 한 문단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CADCFC"/>
                </a:solidFill>
                <a:latin typeface="NanumGothic"/>
                <a:ea typeface="NanumGothic"/>
              </a:rPr>
              <a:t>Flirds는 연합학습 한 학습 궤적에서 client-level 데이터 기여도를 1차+2차 Taylor(true Hessian)로 추정한다. 네 트랙에서, clean·near-additive 레짐의 fidelity는 사실상 포화된다 — LLM에서 Flirds·Flirds-1st·loss-heur·GTG·Banzhaf가 거의 모두 exact in-run 오라클 대비 Spearman 1.000으로 동률이라, 이 레짐에서 Flirds의 차별점은 정확도가 아니라 비용이다.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CADCFC"/>
                </a:solidFill>
                <a:latin typeface="NanumGothic"/>
                <a:ea typeface="NanumGothic"/>
              </a:rPr>
              <a:t>2차 Flirds의 비용은 라운드당 cohort 크기와 무관(1 HVP/round)인 반면 exact 오라클은 cohort에 지수적(2^k/round)이라, 참여가 많은 무대에서 Flirds가 오라클을 160×까지(cross-device anchor 157s vs 25,000s) 앞선다. 정확도 차별은 near-additivity가 깨지는 곳에서만 드러난다: (i) poison(clean-보존 backdoor)에서 FedSV(0.367)·Flirds-1st(0.000)가 무너질 때 2차 Flirds가 0.967로 버티고, (ii) cross-device non-IID에서 Flirds 1.000 vs GTG 0.78/FedSV 0.75.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CADCFC"/>
                </a:solidFill>
                <a:latin typeface="NanumGothic"/>
                <a:ea typeface="NanumGothic"/>
              </a:rPr>
              <a:t>단 CNN은 거동이 다르다 — clean에서도 fidelity가 큰 spread를 보이고(Flirds 0.919 vs GTG 0.57), 2차항이 benign에서도 돕고, retrain 오라클 (a)와 in-run 오라클 (b)가 갈린다(Flirds vs (b)=0.919 / vs (a)=0.35) — LLM(1B)에서 둘이 0.933으로 거의 일치하는 것과 대조된다. 2차 검증은 위계대로다: clean-IID 성능·수렴은 do-no-harm parity, 오염이 있어야 회복하며, 탐지는 마지막 — valuation φ는 전용 탐지기가 아니다(non-IID φ 0.57~0.77 vs FedDQC 1.0; exact (b)도 0.660).</a:t>
            </a:r>
          </a:p>
          <a:p>
            <a:pPr algn="l">
              <a:lnSpc>
                <a:spcPct val="122000"/>
              </a:lnSpc>
            </a:pPr>
            <a:r>
              <a:rPr sz="1500" b="1" i="0">
                <a:solidFill>
                  <a:srgbClr val="FFFFFF"/>
                </a:solidFill>
                <a:latin typeface="NanumGothic"/>
                <a:ea typeface="NanumGothic"/>
              </a:rPr>
              <a:t>종합하면 가장 단단한 주장은 'Flirds는 exact in-run Shapley를 충실·저렴하게 근사하며 그 비용 우위는 cohort에 무관하다'이고, 정확도 우위·retrain 충실도·poison 강건성은 무대 의존적 조건부 주장이다.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14476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출처: flirds-results-analysis-2026-06-26 §0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A37"/>
                </a:solidFill>
                <a:latin typeface="NanumGothic"/>
                <a:ea typeface="NanumGothic"/>
              </a:rPr>
              <a:t>결론 — 위계별 핵심 발견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24128"/>
            <a:ext cx="11430000" cy="4937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1F2A37"/>
                </a:solidFill>
                <a:latin typeface="NanumGothic"/>
                <a:ea typeface="NanumGothic"/>
              </a:rPr>
              <a:t>1차 Fidelity: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22222"/>
                </a:solidFill>
                <a:latin typeface="NanumGothic"/>
                <a:ea typeface="NanumGothic"/>
              </a:rPr>
              <a:t>   clean·near-additive에서 fidelity 포화 — LLM 다수 방법 Spearman 1.000, CNN은 spread(Flirds 0.919 / GTG 0.57). 차별점은 비용. 정확도 차별은 비가법(poison/non-IID)에서만.</a:t>
            </a:r>
          </a:p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1F2A37"/>
                </a:solidFill>
                <a:latin typeface="NanumGothic"/>
                <a:ea typeface="NanumGothic"/>
              </a:rPr>
              <a:t>2차① 성능 / 집계: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22222"/>
                </a:solidFill>
                <a:latin typeface="NanumGothic"/>
                <a:ea typeface="NanumGothic"/>
              </a:rPr>
              <a:t>   clean-IID는 do-no-harm parity(±0.001~0.003). 오염이 있으면 기여도-가중이 정확도 회복(CNN grad_noise 0.499→0.609). 단 Flirds가 arm 중 최강은 아님(shapleyfl 0.645).</a:t>
            </a:r>
          </a:p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1F2A37"/>
                </a:solidFill>
                <a:latin typeface="NanumGothic"/>
                <a:ea typeface="NanumGothic"/>
              </a:rPr>
              <a:t>2차② 수렴: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22222"/>
                </a:solidFill>
                <a:latin typeface="NanumGothic"/>
                <a:ea typeface="NanumGothic"/>
              </a:rPr>
              <a:t>   clean-IID 거의 동률. 7B 표준만 ~14~18% 빠름(분산 큼, under-powered). CNN은 오염서 크게 앞당김(27.2→6.3 라운드).</a:t>
            </a:r>
          </a:p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1F2A37"/>
                </a:solidFill>
                <a:latin typeface="NanumGothic"/>
                <a:ea typeface="NanumGothic"/>
              </a:rPr>
              <a:t>2차③ 탐지 (위계상 마지막):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22222"/>
                </a:solidFill>
                <a:latin typeface="NanumGothic"/>
                <a:ea typeface="NanumGothic"/>
              </a:rPr>
              <a:t>   noisy·free-rider는 거의 AUROC 1.0. valuation ≠ 탐지기 — non-IID φ 0.57~0.77 &lt; FedDQC 1.0, exact (b)도 0.660(설계상 예측). poison clean-보존 backdoor가 Flirds-1st 회피(0.000), 2차가 일부 복원.</a:t>
            </a:r>
          </a:p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1F2A37"/>
                </a:solidFill>
                <a:latin typeface="NanumGothic"/>
                <a:ea typeface="NanumGothic"/>
              </a:rPr>
              <a:t>비용: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22222"/>
                </a:solidFill>
                <a:latin typeface="NanumGothic"/>
                <a:ea typeface="NanumGothic"/>
              </a:rPr>
              <a:t>   Flirds-1st 항상 최저. 2차 Flirds 비용 cohort-독립 → 참여 많으면 오라클 160× 압승, 작으면 (b)가 쌈(Flirds-1st만 우위).</a:t>
            </a:r>
          </a:p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1F2A37"/>
                </a:solidFill>
                <a:latin typeface="NanumGothic"/>
                <a:ea typeface="NanumGothic"/>
              </a:rPr>
              <a:t>CNN ↔ LLM: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22222"/>
                </a:solidFill>
                <a:latin typeface="NanumGothic"/>
                <a:ea typeface="NanumGothic"/>
              </a:rPr>
              <a:t>   near-additivity 강도 차이가 천장/spread·2차항 역할·(a)/(b) 오라클 괴리를 한 번에 설명(가설, 단정 X).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14476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출처: flirds-results-analysis-2026-06-26 §1 · §2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A37"/>
                </a:solidFill>
                <a:latin typeface="NanumGothic"/>
                <a:ea typeface="NanumGothic"/>
              </a:rPr>
              <a:t>결론 — novelty · 기여 + 남은 열린 질문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24128"/>
            <a:ext cx="11430000" cy="2468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F2A37"/>
                </a:solidFill>
                <a:latin typeface="NanumGothic"/>
                <a:ea typeface="NanumGothic"/>
              </a:rPr>
              <a:t>기여 (verification·taxonomy와 엮은 새로운 것):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22222"/>
                </a:solidFill>
                <a:latin typeface="NanumGothic"/>
                <a:ea typeface="NanumGothic"/>
              </a:rPr>
              <a:t>1. LLM-scale client-level in-run Shapley의 fidelity 검증 — 선행 공백(관찰된 빈칸). 인접 칸 점유자는 valuation이 아닌 다른 문제(품질·selection·market). 1B→7B 3 스케일로 채움.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22222"/>
                </a:solidFill>
                <a:latin typeface="NanumGothic"/>
                <a:ea typeface="NanumGothic"/>
              </a:rPr>
              <a:t>2. cohort-독립 비용 모델 — Shapley-충실하면서 라운드당 참여 수와 무관한 저비용(cross-device 160× 정량화).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22222"/>
                </a:solidFill>
                <a:latin typeface="NanumGothic"/>
                <a:ea typeface="NanumGothic"/>
              </a:rPr>
              <a:t>3. poison-회피 경계 + 2차항의 FL-특이적 효용 — IRDS '중앙 per-step 2차 이득 미미'와 무대가 달라 모순 아님(직접 증거).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22222"/>
                </a:solidFill>
                <a:latin typeface="NanumGothic"/>
                <a:ea typeface="NanumGothic"/>
              </a:rPr>
              <a:t>4. (부수) dual-oracle 괴리 발견 — in-run (b)과 retrain (a) Shapley가 CNN full-model에서 다른 게임(vs (a)≤0.45).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767328"/>
            <a:ext cx="11430000" cy="23774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F2A37"/>
                </a:solidFill>
                <a:latin typeface="NanumGothic"/>
                <a:ea typeface="NanumGothic"/>
              </a:rPr>
              <a:t>남은 열린 질문 (단정하지 않음):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22222"/>
                </a:solidFill>
                <a:latin typeface="NanumGothic"/>
                <a:ea typeface="NanumGothic"/>
              </a:rPr>
              <a:t>• poison-회피는 1차 Taylor 한계인가 매트릭스 경계인가 — 실제-config + (b) 오라클 재확인, 3B 3-seed 필요.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22222"/>
                </a:solidFill>
                <a:latin typeface="NanumGothic"/>
                <a:ea typeface="NanumGothic"/>
              </a:rPr>
              <a:t>• (a)≠(b) 괴리가 CNN-고유인가 LLM서도 스케일로 나타나나 — 3B/7B (a) 미실행이라 확인 불가.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22222"/>
                </a:solidFill>
                <a:latin typeface="NanumGothic"/>
                <a:ea typeface="NanumGothic"/>
              </a:rPr>
              <a:t>• near-additivity가 clean fidelity 1.000을 trivial하게 만드나 — 헤드라인은 clean-1.0이 아니라 비가법 차별 + 비용에.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22222"/>
                </a:solidFill>
                <a:latin typeface="NanumGothic"/>
                <a:ea typeface="NanumGothic"/>
              </a:rPr>
              <a:t>• proxy-truth 순환성 — off-anchor 1.0은 Flirds 자기참조; 진짜 오라클 검증은 anchor 한 칸뿐.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144768"/>
            <a:ext cx="113385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출처: flirds-results-analysis-2026-06-26 §4 · §5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